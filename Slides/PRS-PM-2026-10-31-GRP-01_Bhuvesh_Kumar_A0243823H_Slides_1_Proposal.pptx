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 id="289" r:id="rId27"/>
    <p:sldId id="284" r:id="rId28"/>
    <p:sldId id="285" r:id="rId29"/>
    <p:sldId id="287" r:id="rId30"/>
    <p:sldId id="28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07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57"/>
    <p:restoredTop sz="94606"/>
  </p:normalViewPr>
  <p:slideViewPr>
    <p:cSldViewPr snapToGrid="0" snapToObjects="1">
      <p:cViewPr varScale="1">
        <p:scale>
          <a:sx n="119" d="100"/>
          <a:sy n="119" d="100"/>
        </p:scale>
        <p:origin x="1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answers three questions about a recording, and then shows the evidence behind each answer.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here, not on the architecture. Everything on this picture stops if the motor in the middle stops, and that is the whole reason the project exists.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cost is never just the bearing. It is the stopped line, the late delivery and the empty shelf, and it is many times the cost of the part.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dashed path at the bottom is the failure that never happens. Preventive maintenance is what turns an emergency into a scheduled job.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weakness of the calendar is on the left: healthy parts thrown away, and faults that still arrive early. The right-hand side acts on what the machine is actually doing.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Introducting machine sense, which takes the route of ML use for this Use case. It uses the Mafaulda dataset , as I dnt have my own dataset from any real machine.</a:t>
            </a:r>
          </a:p>
          <a:p>
            <a:r>
              <a:t>This  will be a web app, that will alos host an agnet, so the agent can help the mechanic to answer the different questions aboyt the machine condition.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Machine sense will be able to give answers to these 3 questions absed on the data /recoridngs of the machine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we have to see the project from problem and solution POV, we can talk about this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careful with comparisons. Where the protocol does not match, say the comparison is unavailable rather than making it anyway.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Ribeiro et al. (SBrT 2017), https://www.sbrt.org.br/sbrt2017/anais/1570359719.pdf; Ignjatovska et al. (Sensors 2026), https://www.mdpi.com/1424-8220/26/6/1876. Split methods and classes differ. The original slide’s blanket claim that no prior work used recording-level splits was unsupported.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line matters most. Further inspection needed is an uncertainty verdict, not a claim that a new fault has been found.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techniques column is where the module rubric is satisfied: supervised and unsupervised, classical and deep, a hybrid decision, multi-sensor fusion.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right-hand column is the one to dwell on. Severity is never predicted; it exists so that whole severity bands can be held out, which is how the system is tested against a familiar fault at an unfamiliar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Spend time on the legend before the charts. Once the audience understands that the right-hand axis counts turns of the shaft, the next three slides read themselves.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third card is the important one. This chart is not how a bearing fault is actually confirmed; the envelope spectrum is. Say so, because it motivates the second representation.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pair the classifier still confuses. Horizontal and vertical misalignment differ mainly in direction, and the confusion runs mostly one 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of the six conditions are nearly invisible to these three numbers. That failure is the argument for everything that follows.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of the six conditions are nearly invisible to these three numbers. That failure is the argument for everything that follows.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of the six conditions are nearly invisible to these three numbers. That failure is the argument for everything that follows.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of the six conditions are nearly invisible to these three numbers. That failure is the argument for everything that follows.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SystemCode/results/audit_report.md, sections 4 and 8. Raw audit found 164 extreme microphone bursts. Fixed threshold flagged 168 files. Shortcut RandomForest macro-F1: 0.628 raw, 0.638 after cleaning. Cleaning may leave its own trace.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out that the arrows only go one way and that the ML core is the only place a number is produced. The dashed line on the right is the trace endpoint reading the core without re-running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dashed provenance lines are the point of the whole slide. Every value a person sees can be followed back to the stage that made it, which is what lets a mechanic disagree with the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clear this is a planned deliverable with a fallback, not a promise. The agents reason and delegate; the box on the right is where every number comes from.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SystemCode/results/final/q1.json, q2.json, q3.json and provenance.json. Q1 and Q2 closed-test results are per recording. Q3 values are pooled LOCO instances; known recordings can recur across runs.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stage. The highlighted row is the result to land; everything else is reported because it was declared in advance, not because it worked.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63169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investigation assistant is proposed, not connected. Current frontend/src/components/AgentChat.jsx displays a draft-only preview.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SystemCode/results/audit_report.md, section 8. The microphone-only shortcut test did not drop to chance after burst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is the Machinery Fault Database from the Signal, Multimedia and Telecommunications Laboratory at the Universidade Federal do Rio de Janeiro.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B070-75E7-005A-344E-74FC7BCE5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CDD1B-A537-7937-6E8E-A58BA6113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77451-75D5-DA04-FC81-8B27A41BC26E}"/>
              </a:ext>
            </a:extLst>
          </p:cNvPr>
          <p:cNvSpPr>
            <a:spLocks noGrp="1"/>
          </p:cNvSpPr>
          <p:nvPr>
            <p:ph type="body" idx="1"/>
          </p:nvPr>
        </p:nvSpPr>
        <p:spPr/>
        <p:txBody>
          <a:bodyPr/>
          <a:lstStyle/>
          <a:p>
            <a:r>
              <a:t>The dataset is the Machinery Fault Database from the Signal, Multimedia and Telecommunications Laboratory at the Universidade Federal do Rio de Janeiro.</a:t>
            </a:r>
          </a:p>
        </p:txBody>
      </p:sp>
      <p:sp>
        <p:nvSpPr>
          <p:cNvPr id="4" name="Slide Number Placeholder 3">
            <a:extLst>
              <a:ext uri="{FF2B5EF4-FFF2-40B4-BE49-F238E27FC236}">
                <a16:creationId xmlns:a16="http://schemas.microsoft.com/office/drawing/2014/main" id="{31323490-411E-0682-81DF-A49DFB5CF28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9235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5F3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812763"/>
            <a:ext cx="6705699" cy="405061"/>
          </a:xfrm>
          <a:prstGeom prst="rect">
            <a:avLst/>
          </a:prstGeom>
          <a:noFill/>
          <a:ln/>
        </p:spPr>
        <p:txBody>
          <a:bodyPr wrap="square" lIns="0" tIns="0" rIns="0" bIns="0" rtlCol="0" anchor="t"/>
          <a:lstStyle>
            <a:lvl1pPr marL="0" indent="0" algn="l">
              <a:lnSpc>
                <a:spcPct val="115000"/>
              </a:lnSpc>
              <a:buNone/>
              <a:defRPr lang="en-US" sz="2700" dirty="0">
                <a:solidFill>
                  <a:srgbClr val="1007DC"/>
                </a:solidFill>
                <a:latin typeface="Poppins" pitchFamily="34" charset="0"/>
                <a:ea typeface="Poppins" pitchFamily="34" charset="-122"/>
                <a:cs typeface="Poppins"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767" y="1522623"/>
            <a:ext cx="10566433" cy="4522577"/>
          </a:xfrm>
          <a:prstGeom prst="rect">
            <a:avLst/>
          </a:prstGeom>
          <a:noFill/>
          <a:ln/>
        </p:spPr>
        <p:txBody>
          <a:bodyPr wrap="square" lIns="0" tIns="0" rIns="0" bIns="0" rtlCol="0" anchor="t"/>
          <a:lstStyle>
            <a:lvl1pPr marL="0" indent="0" algn="l">
              <a:lnSpc>
                <a:spcPct val="140000"/>
              </a:lnSpc>
              <a:buNone/>
              <a:defRPr lang="en-US" sz="1600" dirty="0">
                <a:solidFill>
                  <a:srgbClr val="1007D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4622043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872B637-22BE-4EC7-8604-41795341B56F}"/>
              </a:ext>
            </a:extLst>
          </p:cNvPr>
          <p:cNvSpPr>
            <a:spLocks noGrp="1"/>
          </p:cNvSpPr>
          <p:nvPr/>
        </p:nvSpPr>
        <p:spPr>
          <a:xfrm>
            <a:off x="799515" y="1535262"/>
            <a:ext cx="1088346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NUS-ISS · PATTERN RECOGNITION SYSTEMS</a:t>
            </a:r>
            <a:endParaRPr sz="1200"/>
          </a:p>
        </p:txBody>
      </p:sp>
      <p:sp>
        <p:nvSpPr>
          <p:cNvPr id="3" name="Text 1">
            <a:extLst>
              <a:ext uri="{FF2B5EF4-FFF2-40B4-BE49-F238E27FC236}">
                <a16:creationId xmlns:a16="http://schemas.microsoft.com/office/drawing/2014/main" id="{C7AEE5E3-9D80-4635-8975-BBA0BB59D305}"/>
              </a:ext>
            </a:extLst>
          </p:cNvPr>
          <p:cNvSpPr>
            <a:spLocks noGrp="1"/>
          </p:cNvSpPr>
          <p:nvPr/>
        </p:nvSpPr>
        <p:spPr>
          <a:xfrm>
            <a:off x="799515" y="2002582"/>
            <a:ext cx="10883460" cy="889016"/>
          </a:xfrm>
          <a:prstGeom prst="rect">
            <a:avLst/>
          </a:prstGeom>
          <a:noFill/>
        </p:spPr>
        <p:txBody>
          <a:bodyPr wrap="square" lIns="0" tIns="0" rIns="0" bIns="0" anchor="t">
            <a:normAutofit fontScale="92500"/>
          </a:bodyPr>
          <a:lstStyle/>
          <a:p>
            <a:pPr marL="0" indent="0" algn="l">
              <a:lnSpc>
                <a:spcPts val="6800"/>
              </a:lnSpc>
              <a:buNone/>
            </a:pPr>
            <a:r>
              <a:rPr sz="6800" b="1" spc="-200">
                <a:solidFill>
                  <a:srgbClr val="1007DC"/>
                </a:solidFill>
                <a:latin typeface="Poppins"/>
                <a:ea typeface="Poppins"/>
                <a:cs typeface="Poppins"/>
              </a:rPr>
              <a:t>MACHINESENSE</a:t>
            </a:r>
            <a:endParaRPr sz="6800"/>
          </a:p>
        </p:txBody>
      </p:sp>
      <p:sp>
        <p:nvSpPr>
          <p:cNvPr id="4" name="Text 2">
            <a:extLst>
              <a:ext uri="{FF2B5EF4-FFF2-40B4-BE49-F238E27FC236}">
                <a16:creationId xmlns:a16="http://schemas.microsoft.com/office/drawing/2014/main" id="{A8FEF408-2101-4E5B-B409-7B3627D9E234}"/>
              </a:ext>
            </a:extLst>
          </p:cNvPr>
          <p:cNvSpPr>
            <a:spLocks noGrp="1"/>
          </p:cNvSpPr>
          <p:nvPr/>
        </p:nvSpPr>
        <p:spPr>
          <a:xfrm>
            <a:off x="799515" y="3120199"/>
            <a:ext cx="9156700" cy="779628"/>
          </a:xfrm>
          <a:prstGeom prst="rect">
            <a:avLst/>
          </a:prstGeom>
          <a:noFill/>
        </p:spPr>
        <p:txBody>
          <a:bodyPr wrap="square" lIns="0" tIns="0" rIns="0" bIns="0" anchor="t">
            <a:normAutofit/>
          </a:bodyPr>
          <a:lstStyle/>
          <a:p>
            <a:pPr marL="0" indent="0" algn="l">
              <a:lnSpc>
                <a:spcPts val="2970"/>
              </a:lnSpc>
              <a:buNone/>
            </a:pPr>
            <a:r>
              <a:rPr sz="2200">
                <a:solidFill>
                  <a:srgbClr val="1E293B"/>
                </a:solidFill>
                <a:latin typeface="DM Sans"/>
                <a:ea typeface="DM Sans"/>
                <a:cs typeface="DM Sans"/>
              </a:rPr>
              <a:t>Multi-sensor fault diagnosis for </a:t>
            </a:r>
            <a:r>
              <a:rPr sz="2200" b="1">
                <a:solidFill>
                  <a:schemeClr val="bg1"/>
                </a:solidFill>
                <a:highlight>
                  <a:srgbClr val="0000FF"/>
                </a:highlight>
                <a:latin typeface="DM Sans"/>
                <a:ea typeface="DM Sans"/>
                <a:cs typeface="DM Sans"/>
              </a:rPr>
              <a:t>rotating machinery</a:t>
            </a:r>
            <a:r>
              <a:rPr sz="2200">
                <a:solidFill>
                  <a:srgbClr val="1E293B"/>
                </a:solidFill>
                <a:latin typeface="DM Sans"/>
                <a:ea typeface="DM Sans"/>
                <a:cs typeface="DM Sans"/>
              </a:rPr>
              <a:t>, from a five-second reading to an evidence-supported inspection decision.</a:t>
            </a:r>
            <a:endParaRPr sz="2200"/>
          </a:p>
        </p:txBody>
      </p:sp>
      <p:sp>
        <p:nvSpPr>
          <p:cNvPr id="5" name="Text 3">
            <a:extLst>
              <a:ext uri="{FF2B5EF4-FFF2-40B4-BE49-F238E27FC236}">
                <a16:creationId xmlns:a16="http://schemas.microsoft.com/office/drawing/2014/main" id="{DD35B799-F4BC-40FE-BEAE-AA59869F555F}"/>
              </a:ext>
            </a:extLst>
          </p:cNvPr>
          <p:cNvSpPr>
            <a:spLocks noGrp="1"/>
          </p:cNvSpPr>
          <p:nvPr/>
        </p:nvSpPr>
        <p:spPr>
          <a:xfrm>
            <a:off x="799515" y="4128426"/>
            <a:ext cx="2441787" cy="274274"/>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Bhuvesh Kumar · A0243823H</a:t>
            </a:r>
            <a:endParaRPr sz="1400"/>
          </a:p>
        </p:txBody>
      </p:sp>
      <p:sp>
        <p:nvSpPr>
          <p:cNvPr id="6" name="Text 4">
            <a:extLst>
              <a:ext uri="{FF2B5EF4-FFF2-40B4-BE49-F238E27FC236}">
                <a16:creationId xmlns:a16="http://schemas.microsoft.com/office/drawing/2014/main" id="{4E5C2296-AFA0-41D7-A205-0881E8F523D2}"/>
              </a:ext>
            </a:extLst>
          </p:cNvPr>
          <p:cNvSpPr>
            <a:spLocks noGrp="1"/>
          </p:cNvSpPr>
          <p:nvPr/>
        </p:nvSpPr>
        <p:spPr>
          <a:xfrm>
            <a:off x="799515" y="4364025"/>
            <a:ext cx="3045165" cy="274274"/>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MTech AI Systems · Practice Module</a:t>
            </a:r>
            <a:endParaRPr sz="1400"/>
          </a:p>
        </p:txBody>
      </p:sp>
      <p:pic>
        <p:nvPicPr>
          <p:cNvPr id="10" name="Picture 9">
            <a:extLst>
              <a:ext uri="{FF2B5EF4-FFF2-40B4-BE49-F238E27FC236}">
                <a16:creationId xmlns:a16="http://schemas.microsoft.com/office/drawing/2014/main" id="{2DA6B410-F85B-9EDE-8DA2-9BDDA56AEE6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2000"/>
                    </a14:imgEffect>
                    <a14:imgEffect>
                      <a14:brightnessContrast bright="17000"/>
                    </a14:imgEffect>
                  </a14:imgLayer>
                </a14:imgProps>
              </a:ext>
            </a:extLst>
          </a:blip>
          <a:srcRect/>
          <a:stretch>
            <a:fillRect/>
          </a:stretch>
        </p:blipFill>
        <p:spPr>
          <a:xfrm>
            <a:off x="9650969" y="3848676"/>
            <a:ext cx="2491409" cy="3009324"/>
          </a:xfrm>
          <a:prstGeom prst="rect">
            <a:avLst/>
          </a:prstGeom>
        </p:spPr>
      </p:pic>
    </p:spTree>
    <p:extLst>
      <p:ext uri="{BB962C8B-B14F-4D97-AF65-F5344CB8AC3E}">
        <p14:creationId xmlns:p14="http://schemas.microsoft.com/office/powerpoint/2010/main" val="434044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9811744-8039-4390-8401-DD947EEECD4B}"/>
              </a:ext>
            </a:extLst>
          </p:cNvPr>
          <p:cNvSpPr>
            <a:spLocks noGrp="1"/>
          </p:cNvSpPr>
          <p:nvPr/>
        </p:nvSpPr>
        <p:spPr>
          <a:xfrm>
            <a:off x="812767" y="406383"/>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BA2AD87-CF0F-459C-AAF4-DF78708C30E0}"/>
              </a:ext>
            </a:extLst>
          </p:cNvPr>
          <p:cNvSpPr>
            <a:spLocks noGrp="1"/>
          </p:cNvSpPr>
          <p:nvPr/>
        </p:nvSpPr>
        <p:spPr>
          <a:xfrm>
            <a:off x="5594614" y="812767"/>
            <a:ext cx="1053571" cy="215569"/>
          </a:xfrm>
          <a:prstGeom prst="rect">
            <a:avLst/>
          </a:prstGeom>
          <a:noFill/>
        </p:spPr>
        <p:txBody>
          <a:bodyPr wrap="square" lIns="0" tIns="0" rIns="0" bIns="0" anchor="t">
            <a:normAutofit/>
          </a:bodyPr>
          <a:lstStyle/>
          <a:p>
            <a:pPr marL="0" indent="0" algn="l">
              <a:lnSpc>
                <a:spcPts val="1523"/>
              </a:lnSpc>
              <a:buNone/>
            </a:pPr>
            <a:r>
              <a:rPr sz="1088" b="1" spc="100">
                <a:solidFill>
                  <a:srgbClr val="64748B"/>
                </a:solidFill>
                <a:latin typeface="Poppins"/>
                <a:ea typeface="Poppins"/>
                <a:cs typeface="Poppins"/>
              </a:rPr>
              <a:t>MOTIVATION</a:t>
            </a:r>
            <a:endParaRPr sz="1088"/>
          </a:p>
        </p:txBody>
      </p:sp>
      <p:sp>
        <p:nvSpPr>
          <p:cNvPr id="4" name="Text 2">
            <a:extLst>
              <a:ext uri="{FF2B5EF4-FFF2-40B4-BE49-F238E27FC236}">
                <a16:creationId xmlns:a16="http://schemas.microsoft.com/office/drawing/2014/main" id="{0D62F965-2A52-4CA7-9598-389B538E2BA6}"/>
              </a:ext>
            </a:extLst>
          </p:cNvPr>
          <p:cNvSpPr>
            <a:spLocks noGrp="1"/>
          </p:cNvSpPr>
          <p:nvPr/>
        </p:nvSpPr>
        <p:spPr>
          <a:xfrm>
            <a:off x="1190625" y="1218819"/>
            <a:ext cx="9810750" cy="411444"/>
          </a:xfrm>
          <a:prstGeom prst="rect">
            <a:avLst/>
          </a:prstGeom>
          <a:noFill/>
        </p:spPr>
        <p:txBody>
          <a:bodyPr wrap="square" lIns="0" tIns="0" rIns="0" bIns="0" anchor="t">
            <a:normAutofit/>
          </a:bodyPr>
          <a:lstStyle/>
          <a:p>
            <a:pPr marL="0" indent="0" algn="ctr">
              <a:lnSpc>
                <a:spcPts val="3069"/>
              </a:lnSpc>
              <a:buNone/>
            </a:pPr>
            <a:r>
              <a:rPr sz="2790" b="1">
                <a:solidFill>
                  <a:srgbClr val="1007DC"/>
                </a:solidFill>
                <a:latin typeface="Poppins"/>
                <a:ea typeface="Poppins"/>
                <a:cs typeface="Poppins"/>
              </a:rPr>
              <a:t>Machines keep our lives moving</a:t>
            </a:r>
            <a:endParaRPr sz="2790"/>
          </a:p>
        </p:txBody>
      </p:sp>
      <p:pic>
        <p:nvPicPr>
          <p:cNvPr id="12" name="Image 0"/>
          <p:cNvPicPr>
            <a:picLocks noChangeAspect="1"/>
          </p:cNvPicPr>
          <p:nvPr/>
        </p:nvPicPr>
        <p:blipFill>
          <a:blip r:embed="rId3"/>
          <a:srcRect l="-6077" r="-6077"/>
          <a:stretch/>
        </p:blipFill>
        <p:spPr>
          <a:xfrm>
            <a:off x="2762250" y="1820746"/>
            <a:ext cx="6667500" cy="3345821"/>
          </a:xfrm>
          <a:prstGeom prst="rect">
            <a:avLst/>
          </a:prstGeom>
        </p:spPr>
      </p:pic>
      <p:sp>
        <p:nvSpPr>
          <p:cNvPr id="6" name="Text 3">
            <a:extLst>
              <a:ext uri="{FF2B5EF4-FFF2-40B4-BE49-F238E27FC236}">
                <a16:creationId xmlns:a16="http://schemas.microsoft.com/office/drawing/2014/main" id="{33373EDB-177B-4DC5-B90F-2775E2E3E616}"/>
              </a:ext>
            </a:extLst>
          </p:cNvPr>
          <p:cNvSpPr>
            <a:spLocks noGrp="1"/>
          </p:cNvSpPr>
          <p:nvPr/>
        </p:nvSpPr>
        <p:spPr>
          <a:xfrm>
            <a:off x="1517650" y="5382451"/>
            <a:ext cx="9156700" cy="484948"/>
          </a:xfrm>
          <a:prstGeom prst="rect">
            <a:avLst/>
          </a:prstGeom>
          <a:noFill/>
        </p:spPr>
        <p:txBody>
          <a:bodyPr wrap="square" lIns="0" tIns="0" rIns="0" bIns="0" anchor="t">
            <a:normAutofit/>
          </a:bodyPr>
          <a:lstStyle/>
          <a:p>
            <a:pPr marL="0" indent="0" algn="ctr">
              <a:lnSpc>
                <a:spcPts val="1808"/>
              </a:lnSpc>
              <a:buNone/>
            </a:pPr>
            <a:r>
              <a:rPr sz="1291">
                <a:solidFill>
                  <a:srgbClr val="1E293B"/>
                </a:solidFill>
                <a:latin typeface="DM Sans"/>
                <a:ea typeface="DM Sans"/>
                <a:cs typeface="DM Sans"/>
              </a:rPr>
              <a:t>The clothes we wear, the food on the shelf, the power in the socket, the water in the tap, everything that moves and every hospital that stays open all run on rotating machinery.</a:t>
            </a:r>
            <a:endParaRPr sz="1291"/>
          </a:p>
        </p:txBody>
      </p:sp>
      <p:sp>
        <p:nvSpPr>
          <p:cNvPr id="5" name="Text 51">
            <a:extLst>
              <a:ext uri="{FF2B5EF4-FFF2-40B4-BE49-F238E27FC236}">
                <a16:creationId xmlns:a16="http://schemas.microsoft.com/office/drawing/2014/main" id="{359FF3EC-3DF8-BD44-0276-66A3BECC28EC}"/>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02</a:t>
            </a:r>
            <a:endParaRPr lang="en-US" sz="1200" dirty="0"/>
          </a:p>
        </p:txBody>
      </p:sp>
    </p:spTree>
    <p:extLst>
      <p:ext uri="{BB962C8B-B14F-4D97-AF65-F5344CB8AC3E}">
        <p14:creationId xmlns:p14="http://schemas.microsoft.com/office/powerpoint/2010/main" val="1775249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F0BB646-7B66-410E-8250-64BD11AE6760}"/>
              </a:ext>
            </a:extLst>
          </p:cNvPr>
          <p:cNvSpPr>
            <a:spLocks noGrp="1"/>
          </p:cNvSpPr>
          <p:nvPr/>
        </p:nvSpPr>
        <p:spPr>
          <a:xfrm>
            <a:off x="812767" y="406383"/>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2ACCE707-8B76-4A8C-B499-783FC9E27976}"/>
              </a:ext>
            </a:extLst>
          </p:cNvPr>
          <p:cNvSpPr>
            <a:spLocks noGrp="1"/>
          </p:cNvSpPr>
          <p:nvPr/>
        </p:nvSpPr>
        <p:spPr>
          <a:xfrm>
            <a:off x="1190625" y="812766"/>
            <a:ext cx="9810750" cy="785002"/>
          </a:xfrm>
          <a:prstGeom prst="rect">
            <a:avLst/>
          </a:prstGeom>
          <a:noFill/>
        </p:spPr>
        <p:txBody>
          <a:bodyPr wrap="square" lIns="0" tIns="0" rIns="0" bIns="0" anchor="t">
            <a:normAutofit/>
          </a:bodyPr>
          <a:lstStyle/>
          <a:p>
            <a:pPr marL="0" indent="0" algn="ctr">
              <a:lnSpc>
                <a:spcPts val="3005"/>
              </a:lnSpc>
              <a:buNone/>
            </a:pPr>
            <a:r>
              <a:rPr sz="2732" b="1">
                <a:solidFill>
                  <a:srgbClr val="1007DC"/>
                </a:solidFill>
                <a:latin typeface="Poppins"/>
                <a:ea typeface="Poppins"/>
                <a:cs typeface="Poppins"/>
              </a:rPr>
              <a:t>What happens when a machine breaks down without warning?</a:t>
            </a:r>
            <a:endParaRPr sz="2732"/>
          </a:p>
        </p:txBody>
      </p:sp>
      <p:pic>
        <p:nvPicPr>
          <p:cNvPr id="10" name="Image 0"/>
          <p:cNvPicPr>
            <a:picLocks noChangeAspect="1"/>
          </p:cNvPicPr>
          <p:nvPr/>
        </p:nvPicPr>
        <p:blipFill>
          <a:blip r:embed="rId3"/>
          <a:srcRect l="-6997" r="-6997"/>
          <a:stretch/>
        </p:blipFill>
        <p:spPr>
          <a:xfrm>
            <a:off x="2667000" y="1788252"/>
            <a:ext cx="6858000" cy="3385840"/>
          </a:xfrm>
          <a:prstGeom prst="rect">
            <a:avLst/>
          </a:prstGeom>
        </p:spPr>
      </p:pic>
      <p:sp>
        <p:nvSpPr>
          <p:cNvPr id="5" name="Text 2">
            <a:extLst>
              <a:ext uri="{FF2B5EF4-FFF2-40B4-BE49-F238E27FC236}">
                <a16:creationId xmlns:a16="http://schemas.microsoft.com/office/drawing/2014/main" id="{C0755730-E18B-49EA-99B5-0408125D8AD8}"/>
              </a:ext>
            </a:extLst>
          </p:cNvPr>
          <p:cNvSpPr>
            <a:spLocks noGrp="1"/>
          </p:cNvSpPr>
          <p:nvPr/>
        </p:nvSpPr>
        <p:spPr>
          <a:xfrm>
            <a:off x="1517650" y="5389975"/>
            <a:ext cx="9156700" cy="477424"/>
          </a:xfrm>
          <a:prstGeom prst="rect">
            <a:avLst/>
          </a:prstGeom>
          <a:noFill/>
        </p:spPr>
        <p:txBody>
          <a:bodyPr wrap="square" lIns="0" tIns="0" rIns="0" bIns="0" anchor="t">
            <a:normAutofit/>
          </a:bodyPr>
          <a:lstStyle/>
          <a:p>
            <a:pPr marL="0" indent="0" algn="ctr">
              <a:lnSpc>
                <a:spcPts val="1783"/>
              </a:lnSpc>
              <a:buNone/>
            </a:pPr>
            <a:r>
              <a:rPr sz="1273">
                <a:solidFill>
                  <a:srgbClr val="1E293B"/>
                </a:solidFill>
                <a:latin typeface="DM Sans"/>
                <a:ea typeface="DM Sans"/>
                <a:cs typeface="DM Sans"/>
              </a:rPr>
              <a:t>One bearing gives way and the line stops. Production halts, deliveries are late, shelves empty, and the repair costs far more than it would have before the failure.</a:t>
            </a:r>
            <a:endParaRPr sz="1273"/>
          </a:p>
        </p:txBody>
      </p:sp>
      <p:sp>
        <p:nvSpPr>
          <p:cNvPr id="4" name="Text 51">
            <a:extLst>
              <a:ext uri="{FF2B5EF4-FFF2-40B4-BE49-F238E27FC236}">
                <a16:creationId xmlns:a16="http://schemas.microsoft.com/office/drawing/2014/main" id="{5C6C4545-37DE-2138-4414-D686386065EE}"/>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03</a:t>
            </a:r>
            <a:endParaRPr lang="en-US" sz="1200" dirty="0"/>
          </a:p>
        </p:txBody>
      </p:sp>
    </p:spTree>
    <p:extLst>
      <p:ext uri="{BB962C8B-B14F-4D97-AF65-F5344CB8AC3E}">
        <p14:creationId xmlns:p14="http://schemas.microsoft.com/office/powerpoint/2010/main" val="2137379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DB6F17F-D535-4E58-803E-686B71B0BCC7}"/>
              </a:ext>
            </a:extLst>
          </p:cNvPr>
          <p:cNvSpPr>
            <a:spLocks noGrp="1"/>
          </p:cNvSpPr>
          <p:nvPr/>
        </p:nvSpPr>
        <p:spPr>
          <a:xfrm>
            <a:off x="812767" y="406383"/>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D1CFD3EF-66C4-4484-85DD-44974FE39F4E}"/>
              </a:ext>
            </a:extLst>
          </p:cNvPr>
          <p:cNvSpPr>
            <a:spLocks noGrp="1"/>
          </p:cNvSpPr>
          <p:nvPr/>
        </p:nvSpPr>
        <p:spPr>
          <a:xfrm>
            <a:off x="5068259" y="812766"/>
            <a:ext cx="2117061" cy="211518"/>
          </a:xfrm>
          <a:prstGeom prst="rect">
            <a:avLst/>
          </a:prstGeom>
          <a:noFill/>
        </p:spPr>
        <p:txBody>
          <a:bodyPr wrap="square" lIns="0" tIns="0" rIns="0" bIns="0" anchor="t">
            <a:normAutofit/>
          </a:bodyPr>
          <a:lstStyle/>
          <a:p>
            <a:pPr marL="0" indent="0" algn="l">
              <a:lnSpc>
                <a:spcPts val="1470"/>
              </a:lnSpc>
              <a:buNone/>
            </a:pPr>
            <a:r>
              <a:rPr sz="1050" b="1" spc="100">
                <a:solidFill>
                  <a:srgbClr val="64748B"/>
                </a:solidFill>
                <a:latin typeface="Poppins"/>
                <a:ea typeface="Poppins"/>
                <a:cs typeface="Poppins"/>
              </a:rPr>
              <a:t>PREVENTIVE MAINTENANCE</a:t>
            </a:r>
            <a:endParaRPr sz="1050"/>
          </a:p>
        </p:txBody>
      </p:sp>
      <p:sp>
        <p:nvSpPr>
          <p:cNvPr id="4" name="Text 2">
            <a:extLst>
              <a:ext uri="{FF2B5EF4-FFF2-40B4-BE49-F238E27FC236}">
                <a16:creationId xmlns:a16="http://schemas.microsoft.com/office/drawing/2014/main" id="{7AA35F1F-94AD-469D-8D38-5EF6A2528B1C}"/>
              </a:ext>
            </a:extLst>
          </p:cNvPr>
          <p:cNvSpPr>
            <a:spLocks noGrp="1"/>
          </p:cNvSpPr>
          <p:nvPr/>
        </p:nvSpPr>
        <p:spPr>
          <a:xfrm>
            <a:off x="1190625" y="1214768"/>
            <a:ext cx="9810750" cy="403093"/>
          </a:xfrm>
          <a:prstGeom prst="rect">
            <a:avLst/>
          </a:prstGeom>
          <a:noFill/>
        </p:spPr>
        <p:txBody>
          <a:bodyPr wrap="square" lIns="0" tIns="0" rIns="0" bIns="0" anchor="t">
            <a:normAutofit/>
          </a:bodyPr>
          <a:lstStyle/>
          <a:p>
            <a:pPr marL="0" indent="0" algn="ctr">
              <a:lnSpc>
                <a:spcPts val="2973"/>
              </a:lnSpc>
              <a:buNone/>
            </a:pPr>
            <a:r>
              <a:rPr sz="2703" b="1">
                <a:solidFill>
                  <a:srgbClr val="1007DC"/>
                </a:solidFill>
                <a:latin typeface="Poppins"/>
                <a:ea typeface="Poppins"/>
                <a:cs typeface="Poppins"/>
              </a:rPr>
              <a:t>Most of this is preventable</a:t>
            </a:r>
            <a:endParaRPr sz="2703"/>
          </a:p>
        </p:txBody>
      </p:sp>
      <p:pic>
        <p:nvPicPr>
          <p:cNvPr id="12" name="Image 0"/>
          <p:cNvPicPr>
            <a:picLocks noChangeAspect="1"/>
          </p:cNvPicPr>
          <p:nvPr/>
        </p:nvPicPr>
        <p:blipFill>
          <a:blip r:embed="rId3"/>
          <a:srcRect l="-7297" r="-7297"/>
          <a:stretch/>
        </p:blipFill>
        <p:spPr>
          <a:xfrm>
            <a:off x="2667000" y="1808344"/>
            <a:ext cx="6858000" cy="3368146"/>
          </a:xfrm>
          <a:prstGeom prst="rect">
            <a:avLst/>
          </a:prstGeom>
        </p:spPr>
      </p:pic>
      <p:sp>
        <p:nvSpPr>
          <p:cNvPr id="6" name="Text 3">
            <a:extLst>
              <a:ext uri="{FF2B5EF4-FFF2-40B4-BE49-F238E27FC236}">
                <a16:creationId xmlns:a16="http://schemas.microsoft.com/office/drawing/2014/main" id="{DF9DAB75-869A-4575-AA3F-9C238D1AEFB0}"/>
              </a:ext>
            </a:extLst>
          </p:cNvPr>
          <p:cNvSpPr>
            <a:spLocks noGrp="1"/>
          </p:cNvSpPr>
          <p:nvPr/>
        </p:nvSpPr>
        <p:spPr>
          <a:xfrm>
            <a:off x="1517650" y="5392373"/>
            <a:ext cx="9156700" cy="475026"/>
          </a:xfrm>
          <a:prstGeom prst="rect">
            <a:avLst/>
          </a:prstGeom>
          <a:noFill/>
        </p:spPr>
        <p:txBody>
          <a:bodyPr wrap="square" lIns="0" tIns="0" rIns="0" bIns="0" anchor="t">
            <a:normAutofit/>
          </a:bodyPr>
          <a:lstStyle/>
          <a:p>
            <a:pPr marL="0" indent="0" algn="ctr">
              <a:lnSpc>
                <a:spcPts val="1783"/>
              </a:lnSpc>
              <a:buNone/>
            </a:pPr>
            <a:r>
              <a:rPr sz="1273">
                <a:solidFill>
                  <a:srgbClr val="1E293B"/>
                </a:solidFill>
                <a:latin typeface="DM Sans"/>
                <a:ea typeface="DM Sans"/>
                <a:cs typeface="DM Sans"/>
              </a:rPr>
              <a:t>Measure the machine while it is still running, plan the work, replace the part before it fails, and the machine goes back into service. Preventive maintenance turns a breakdown into a scheduled job.</a:t>
            </a:r>
            <a:endParaRPr sz="1273"/>
          </a:p>
        </p:txBody>
      </p:sp>
      <p:sp>
        <p:nvSpPr>
          <p:cNvPr id="5" name="Text 51">
            <a:extLst>
              <a:ext uri="{FF2B5EF4-FFF2-40B4-BE49-F238E27FC236}">
                <a16:creationId xmlns:a16="http://schemas.microsoft.com/office/drawing/2014/main" id="{E8852BC7-811A-26B6-1DCC-3297B7813D18}"/>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04</a:t>
            </a:r>
            <a:endParaRPr lang="en-US" sz="1200" dirty="0"/>
          </a:p>
        </p:txBody>
      </p:sp>
    </p:spTree>
    <p:extLst>
      <p:ext uri="{BB962C8B-B14F-4D97-AF65-F5344CB8AC3E}">
        <p14:creationId xmlns:p14="http://schemas.microsoft.com/office/powerpoint/2010/main" val="597305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7D8C-0F42-43AB-A2B6-DEE4BF3013A5}"/>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94A14880-3DA2-4B02-A42D-11848D40B541}"/>
              </a:ext>
            </a:extLst>
          </p:cNvPr>
          <p:cNvSpPr>
            <a:spLocks noGrp="1"/>
          </p:cNvSpPr>
          <p:nvPr/>
        </p:nvSpPr>
        <p:spPr>
          <a:xfrm>
            <a:off x="4683704" y="812766"/>
            <a:ext cx="2909330" cy="209533"/>
          </a:xfrm>
          <a:prstGeom prst="rect">
            <a:avLst/>
          </a:prstGeom>
          <a:noFill/>
        </p:spPr>
        <p:txBody>
          <a:bodyPr wrap="square" lIns="0" tIns="0" rIns="0" bIns="0" anchor="t">
            <a:normAutofit/>
          </a:bodyPr>
          <a:lstStyle/>
          <a:p>
            <a:pPr marL="0" indent="0" algn="l">
              <a:lnSpc>
                <a:spcPts val="1470"/>
              </a:lnSpc>
              <a:buNone/>
            </a:pPr>
            <a:r>
              <a:rPr sz="1050" b="1" spc="100">
                <a:solidFill>
                  <a:srgbClr val="64748B"/>
                </a:solidFill>
                <a:latin typeface="Poppins"/>
                <a:ea typeface="Poppins"/>
                <a:cs typeface="Poppins"/>
              </a:rPr>
              <a:t>CLASSIC VERSUS MACHINE LEARNING</a:t>
            </a:r>
            <a:endParaRPr sz="1050"/>
          </a:p>
        </p:txBody>
      </p:sp>
      <p:sp>
        <p:nvSpPr>
          <p:cNvPr id="4" name="Text 2">
            <a:extLst>
              <a:ext uri="{FF2B5EF4-FFF2-40B4-BE49-F238E27FC236}">
                <a16:creationId xmlns:a16="http://schemas.microsoft.com/office/drawing/2014/main" id="{411BFE49-150A-4EC7-96BF-00A61CCA1759}"/>
              </a:ext>
            </a:extLst>
          </p:cNvPr>
          <p:cNvSpPr>
            <a:spLocks noGrp="1"/>
          </p:cNvSpPr>
          <p:nvPr/>
        </p:nvSpPr>
        <p:spPr>
          <a:xfrm>
            <a:off x="1190625" y="1212782"/>
            <a:ext cx="9810750" cy="399041"/>
          </a:xfrm>
          <a:prstGeom prst="rect">
            <a:avLst/>
          </a:prstGeom>
          <a:noFill/>
        </p:spPr>
        <p:txBody>
          <a:bodyPr wrap="square" lIns="0" tIns="0" rIns="0" bIns="0" anchor="t">
            <a:normAutofit/>
          </a:bodyPr>
          <a:lstStyle/>
          <a:p>
            <a:pPr marL="0" indent="0" algn="ctr">
              <a:lnSpc>
                <a:spcPts val="2973"/>
              </a:lnSpc>
              <a:buNone/>
            </a:pPr>
            <a:r>
              <a:rPr sz="2703" b="1">
                <a:solidFill>
                  <a:srgbClr val="1007DC"/>
                </a:solidFill>
                <a:latin typeface="Poppins"/>
                <a:ea typeface="Poppins"/>
                <a:cs typeface="Poppins"/>
              </a:rPr>
              <a:t>Two ways to decide when to intervene</a:t>
            </a:r>
            <a:endParaRPr sz="2703"/>
          </a:p>
        </p:txBody>
      </p:sp>
      <p:pic>
        <p:nvPicPr>
          <p:cNvPr id="12" name="Image 0"/>
          <p:cNvPicPr>
            <a:picLocks noChangeAspect="1"/>
          </p:cNvPicPr>
          <p:nvPr/>
        </p:nvPicPr>
        <p:blipFill>
          <a:blip r:embed="rId3"/>
          <a:srcRect l="-7922" r="-7922"/>
          <a:stretch/>
        </p:blipFill>
        <p:spPr>
          <a:xfrm>
            <a:off x="1524000" y="1802309"/>
            <a:ext cx="9144000" cy="3156562"/>
          </a:xfrm>
          <a:prstGeom prst="rect">
            <a:avLst/>
          </a:prstGeom>
        </p:spPr>
      </p:pic>
      <p:sp>
        <p:nvSpPr>
          <p:cNvPr id="6" name="Text 3">
            <a:extLst>
              <a:ext uri="{FF2B5EF4-FFF2-40B4-BE49-F238E27FC236}">
                <a16:creationId xmlns:a16="http://schemas.microsoft.com/office/drawing/2014/main" id="{9D70AE41-A388-4A67-B656-CAFD0EC07736}"/>
              </a:ext>
            </a:extLst>
          </p:cNvPr>
          <p:cNvSpPr>
            <a:spLocks noGrp="1"/>
          </p:cNvSpPr>
          <p:nvPr/>
        </p:nvSpPr>
        <p:spPr>
          <a:xfrm>
            <a:off x="1517650" y="5174754"/>
            <a:ext cx="9156700" cy="692646"/>
          </a:xfrm>
          <a:prstGeom prst="rect">
            <a:avLst/>
          </a:prstGeom>
          <a:noFill/>
        </p:spPr>
        <p:txBody>
          <a:bodyPr wrap="square" lIns="0" tIns="0" rIns="0" bIns="0" anchor="t">
            <a:normAutofit/>
          </a:bodyPr>
          <a:lstStyle/>
          <a:p>
            <a:pPr marL="0" indent="0" algn="ctr">
              <a:lnSpc>
                <a:spcPts val="1865"/>
              </a:lnSpc>
              <a:buNone/>
            </a:pPr>
            <a:r>
              <a:rPr sz="1332">
                <a:solidFill>
                  <a:srgbClr val="1E293B"/>
                </a:solidFill>
                <a:latin typeface="DM Sans"/>
                <a:ea typeface="DM Sans"/>
                <a:cs typeface="DM Sans"/>
              </a:rPr>
              <a:t>Classic preventive maintenance replaces parts on a fixed schedule, so healthy parts are discarded and some faults still arrive early. A machine-learning approach listens to the machine itself and acts on what the signal says.</a:t>
            </a:r>
            <a:endParaRPr sz="1332"/>
          </a:p>
        </p:txBody>
      </p:sp>
      <p:sp>
        <p:nvSpPr>
          <p:cNvPr id="5" name="Text 51">
            <a:extLst>
              <a:ext uri="{FF2B5EF4-FFF2-40B4-BE49-F238E27FC236}">
                <a16:creationId xmlns:a16="http://schemas.microsoft.com/office/drawing/2014/main" id="{C73867BC-A2DC-C9B5-8874-5041E7F435E1}"/>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05</a:t>
            </a:r>
            <a:endParaRPr lang="en-US" sz="1200" dirty="0"/>
          </a:p>
        </p:txBody>
      </p:sp>
    </p:spTree>
    <p:extLst>
      <p:ext uri="{BB962C8B-B14F-4D97-AF65-F5344CB8AC3E}">
        <p14:creationId xmlns:p14="http://schemas.microsoft.com/office/powerpoint/2010/main" val="377238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B2887B-C50B-472E-9DA3-FBBD182B697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740C5B3C-F246-4FFF-8307-1A230A4C56ED}"/>
              </a:ext>
            </a:extLst>
          </p:cNvPr>
          <p:cNvSpPr>
            <a:spLocks noGrp="1"/>
          </p:cNvSpPr>
          <p:nvPr/>
        </p:nvSpPr>
        <p:spPr>
          <a:xfrm>
            <a:off x="812766" y="812766"/>
            <a:ext cx="9086607"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MachineSense and its objective</a:t>
            </a:r>
            <a:endParaRPr sz="2900"/>
          </a:p>
        </p:txBody>
      </p:sp>
      <p:sp>
        <p:nvSpPr>
          <p:cNvPr id="6" name="Shape 3">
            <a:extLst>
              <a:ext uri="{FF2B5EF4-FFF2-40B4-BE49-F238E27FC236}">
                <a16:creationId xmlns:a16="http://schemas.microsoft.com/office/drawing/2014/main" id="{56B68AFF-555E-45C0-9884-5AD9394F69F5}"/>
              </a:ext>
            </a:extLst>
          </p:cNvPr>
          <p:cNvSpPr>
            <a:spLocks noGrp="1"/>
          </p:cNvSpPr>
          <p:nvPr/>
        </p:nvSpPr>
        <p:spPr>
          <a:xfrm>
            <a:off x="812766" y="1547842"/>
            <a:ext cx="4560755" cy="1944768"/>
          </a:xfrm>
          <a:custGeom>
            <a:avLst/>
            <a:gdLst/>
            <a:ahLst/>
            <a:cxnLst/>
            <a:rect l="l" t="t" r="r" b="b"/>
            <a:pathLst>
              <a:path w="4560755" h="1517385">
                <a:moveTo>
                  <a:pt x="0" y="0"/>
                </a:moveTo>
                <a:lnTo>
                  <a:pt x="4560755" y="0"/>
                </a:lnTo>
                <a:lnTo>
                  <a:pt x="4560755" y="1415785"/>
                </a:lnTo>
                <a:arcTo wR="101600" hR="101600" stAng="0" swAng="5400000"/>
                <a:lnTo>
                  <a:pt x="101600" y="1517385"/>
                </a:lnTo>
                <a:arcTo wR="101600" hR="101600" stAng="5400000" swAng="5400000"/>
                <a:lnTo>
                  <a:pt x="0" y="0"/>
                </a:lnTo>
                <a:close/>
              </a:path>
            </a:pathLst>
          </a:custGeom>
          <a:solidFill>
            <a:srgbClr val="FFFFFF"/>
          </a:solidFill>
        </p:spPr>
        <p:txBody>
          <a:bodyPr/>
          <a:lstStyle/>
          <a:p>
            <a:endParaRPr/>
          </a:p>
        </p:txBody>
      </p:sp>
      <p:sp>
        <p:nvSpPr>
          <p:cNvPr id="7" name="Shape 4">
            <a:extLst>
              <a:ext uri="{FF2B5EF4-FFF2-40B4-BE49-F238E27FC236}">
                <a16:creationId xmlns:a16="http://schemas.microsoft.com/office/drawing/2014/main" id="{87D6A3CC-C61D-4B8B-8D84-9F272E2B81D9}"/>
              </a:ext>
            </a:extLst>
          </p:cNvPr>
          <p:cNvSpPr>
            <a:spLocks noGrp="1"/>
          </p:cNvSpPr>
          <p:nvPr/>
        </p:nvSpPr>
        <p:spPr>
          <a:xfrm>
            <a:off x="812766" y="1547842"/>
            <a:ext cx="4560755" cy="1517385"/>
          </a:xfrm>
          <a:custGeom>
            <a:avLst/>
            <a:gdLst/>
            <a:ahLst/>
            <a:cxnLst/>
            <a:rect l="l" t="t" r="r" b="b"/>
            <a:pathLst>
              <a:path w="4560755" h="1517385">
                <a:moveTo>
                  <a:pt x="0" y="38100"/>
                </a:moveTo>
                <a:lnTo>
                  <a:pt x="0" y="0"/>
                </a:lnTo>
                <a:lnTo>
                  <a:pt x="4560755" y="0"/>
                </a:lnTo>
                <a:lnTo>
                  <a:pt x="4560755" y="38100"/>
                </a:lnTo>
                <a:lnTo>
                  <a:pt x="0" y="38100"/>
                </a:lnTo>
                <a:close/>
              </a:path>
            </a:pathLst>
          </a:custGeom>
          <a:solidFill>
            <a:srgbClr val="1007DC"/>
          </a:solidFill>
        </p:spPr>
        <p:txBody>
          <a:bodyPr/>
          <a:lstStyle/>
          <a:p>
            <a:endParaRPr/>
          </a:p>
        </p:txBody>
      </p:sp>
      <p:sp>
        <p:nvSpPr>
          <p:cNvPr id="8" name="Text 5">
            <a:extLst>
              <a:ext uri="{FF2B5EF4-FFF2-40B4-BE49-F238E27FC236}">
                <a16:creationId xmlns:a16="http://schemas.microsoft.com/office/drawing/2014/main" id="{52939EDC-D3C1-4ACE-B6E1-D1E9851F86FE}"/>
              </a:ext>
            </a:extLst>
          </p:cNvPr>
          <p:cNvSpPr>
            <a:spLocks noGrp="1"/>
          </p:cNvSpPr>
          <p:nvPr/>
        </p:nvSpPr>
        <p:spPr>
          <a:xfrm>
            <a:off x="1041300" y="1813420"/>
            <a:ext cx="4226798"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What is it?</a:t>
            </a:r>
            <a:endParaRPr sz="1600"/>
          </a:p>
        </p:txBody>
      </p:sp>
      <p:sp>
        <p:nvSpPr>
          <p:cNvPr id="9" name="Text 6">
            <a:extLst>
              <a:ext uri="{FF2B5EF4-FFF2-40B4-BE49-F238E27FC236}">
                <a16:creationId xmlns:a16="http://schemas.microsoft.com/office/drawing/2014/main" id="{D7025732-EFCA-4B1A-A0C8-D0FC09FB18A5}"/>
              </a:ext>
            </a:extLst>
          </p:cNvPr>
          <p:cNvSpPr>
            <a:spLocks noGrp="1"/>
          </p:cNvSpPr>
          <p:nvPr/>
        </p:nvSpPr>
        <p:spPr>
          <a:xfrm>
            <a:off x="1041300" y="2146132"/>
            <a:ext cx="4226798" cy="1282868"/>
          </a:xfrm>
          <a:prstGeom prst="rect">
            <a:avLst/>
          </a:prstGeom>
          <a:noFill/>
        </p:spPr>
        <p:txBody>
          <a:bodyPr wrap="square" lIns="0" tIns="0" rIns="0" bIns="0" anchor="t">
            <a:normAutofit fontScale="92500"/>
          </a:bodyPr>
          <a:lstStyle/>
          <a:p>
            <a:pPr marL="0" indent="0" algn="l">
              <a:lnSpc>
                <a:spcPts val="1813"/>
              </a:lnSpc>
              <a:buNone/>
            </a:pPr>
            <a:r>
              <a:rPr lang="en-SG" sz="1250">
                <a:solidFill>
                  <a:srgbClr val="64748B"/>
                </a:solidFill>
                <a:latin typeface="DM Sans"/>
                <a:ea typeface="DM Sans"/>
                <a:cs typeface="DM Sans"/>
              </a:rPr>
              <a:t>MachineSense is a research prototype that uses </a:t>
            </a:r>
            <a:r>
              <a:rPr lang="en-SG" sz="1250">
                <a:solidFill>
                  <a:srgbClr val="64748B"/>
                </a:solidFill>
                <a:highlight>
                  <a:srgbClr val="00FFFF"/>
                </a:highlight>
                <a:latin typeface="DM Sans"/>
                <a:ea typeface="DM Sans"/>
                <a:cs typeface="DM Sans"/>
              </a:rPr>
              <a:t>vibration, sound, and rotation data </a:t>
            </a:r>
            <a:r>
              <a:rPr lang="en-SG" sz="1250">
                <a:solidFill>
                  <a:srgbClr val="64748B"/>
                </a:solidFill>
                <a:latin typeface="DM Sans"/>
                <a:ea typeface="DM Sans"/>
                <a:cs typeface="DM Sans"/>
              </a:rPr>
              <a:t>to detect known faults and flag unfamiliar patterns. An interactive report presents the evidence, while an </a:t>
            </a:r>
            <a:r>
              <a:rPr lang="en-SG" sz="1250">
                <a:solidFill>
                  <a:srgbClr val="64748B"/>
                </a:solidFill>
                <a:highlight>
                  <a:srgbClr val="00FF00"/>
                </a:highlight>
                <a:latin typeface="DM Sans"/>
                <a:ea typeface="DM Sans"/>
                <a:cs typeface="DM Sans"/>
              </a:rPr>
              <a:t>Investigation Assistant </a:t>
            </a:r>
            <a:r>
              <a:rPr lang="en-SG" sz="1250">
                <a:solidFill>
                  <a:srgbClr val="64748B"/>
                </a:solidFill>
                <a:latin typeface="DM Sans"/>
                <a:ea typeface="DM Sans"/>
                <a:cs typeface="DM Sans"/>
              </a:rPr>
              <a:t>helps users explore the findings and ask follow-up questions.</a:t>
            </a:r>
            <a:endParaRPr sz="1250"/>
          </a:p>
        </p:txBody>
      </p:sp>
      <p:sp>
        <p:nvSpPr>
          <p:cNvPr id="10" name="Shape 7">
            <a:extLst>
              <a:ext uri="{FF2B5EF4-FFF2-40B4-BE49-F238E27FC236}">
                <a16:creationId xmlns:a16="http://schemas.microsoft.com/office/drawing/2014/main" id="{5F5EDCFB-5E31-4278-82DA-1A3BF7F681B9}"/>
              </a:ext>
            </a:extLst>
          </p:cNvPr>
          <p:cNvSpPr>
            <a:spLocks noGrp="1"/>
          </p:cNvSpPr>
          <p:nvPr/>
        </p:nvSpPr>
        <p:spPr>
          <a:xfrm>
            <a:off x="830722" y="3758189"/>
            <a:ext cx="4560755" cy="1608397"/>
          </a:xfrm>
          <a:custGeom>
            <a:avLst/>
            <a:gdLst/>
            <a:ahLst/>
            <a:cxnLst/>
            <a:rect l="l" t="t" r="r" b="b"/>
            <a:pathLst>
              <a:path w="4560755" h="1747573">
                <a:moveTo>
                  <a:pt x="0" y="0"/>
                </a:moveTo>
                <a:lnTo>
                  <a:pt x="4560755" y="0"/>
                </a:lnTo>
                <a:lnTo>
                  <a:pt x="4560755" y="1645973"/>
                </a:lnTo>
                <a:arcTo wR="101600" hR="101600" stAng="0" swAng="5400000"/>
                <a:lnTo>
                  <a:pt x="101600" y="1747573"/>
                </a:lnTo>
                <a:arcTo wR="101600" hR="101600" stAng="5400000" swAng="5400000"/>
                <a:lnTo>
                  <a:pt x="0" y="0"/>
                </a:lnTo>
                <a:close/>
              </a:path>
            </a:pathLst>
          </a:custGeom>
          <a:solidFill>
            <a:srgbClr val="FFFFFF"/>
          </a:solidFill>
        </p:spPr>
        <p:txBody>
          <a:bodyPr/>
          <a:lstStyle/>
          <a:p>
            <a:endParaRPr/>
          </a:p>
        </p:txBody>
      </p:sp>
      <p:sp>
        <p:nvSpPr>
          <p:cNvPr id="11" name="Shape 8">
            <a:extLst>
              <a:ext uri="{FF2B5EF4-FFF2-40B4-BE49-F238E27FC236}">
                <a16:creationId xmlns:a16="http://schemas.microsoft.com/office/drawing/2014/main" id="{36B6B54C-111F-410D-AAD2-28B2E45E9C86}"/>
              </a:ext>
            </a:extLst>
          </p:cNvPr>
          <p:cNvSpPr>
            <a:spLocks noGrp="1"/>
          </p:cNvSpPr>
          <p:nvPr/>
        </p:nvSpPr>
        <p:spPr>
          <a:xfrm>
            <a:off x="830722" y="3758188"/>
            <a:ext cx="4560755" cy="1747573"/>
          </a:xfrm>
          <a:custGeom>
            <a:avLst/>
            <a:gdLst/>
            <a:ahLst/>
            <a:cxnLst/>
            <a:rect l="l" t="t" r="r" b="b"/>
            <a:pathLst>
              <a:path w="4560755" h="1747573">
                <a:moveTo>
                  <a:pt x="0" y="38100"/>
                </a:moveTo>
                <a:lnTo>
                  <a:pt x="0" y="0"/>
                </a:lnTo>
                <a:lnTo>
                  <a:pt x="4560755" y="0"/>
                </a:lnTo>
                <a:lnTo>
                  <a:pt x="4560755" y="38100"/>
                </a:lnTo>
                <a:lnTo>
                  <a:pt x="0" y="38100"/>
                </a:lnTo>
                <a:close/>
              </a:path>
            </a:pathLst>
          </a:custGeom>
          <a:solidFill>
            <a:srgbClr val="1007DC"/>
          </a:solidFill>
        </p:spPr>
        <p:txBody>
          <a:bodyPr/>
          <a:lstStyle/>
          <a:p>
            <a:endParaRPr/>
          </a:p>
        </p:txBody>
      </p:sp>
      <p:sp>
        <p:nvSpPr>
          <p:cNvPr id="12" name="Text 9">
            <a:extLst>
              <a:ext uri="{FF2B5EF4-FFF2-40B4-BE49-F238E27FC236}">
                <a16:creationId xmlns:a16="http://schemas.microsoft.com/office/drawing/2014/main" id="{F4618700-2EEF-4A59-9037-121D98BB26AB}"/>
              </a:ext>
            </a:extLst>
          </p:cNvPr>
          <p:cNvSpPr>
            <a:spLocks noGrp="1"/>
          </p:cNvSpPr>
          <p:nvPr/>
        </p:nvSpPr>
        <p:spPr>
          <a:xfrm>
            <a:off x="1059256" y="4023762"/>
            <a:ext cx="4226798"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The data used in this project.</a:t>
            </a:r>
            <a:endParaRPr sz="1600"/>
          </a:p>
        </p:txBody>
      </p:sp>
      <p:sp>
        <p:nvSpPr>
          <p:cNvPr id="13" name="Text 10">
            <a:extLst>
              <a:ext uri="{FF2B5EF4-FFF2-40B4-BE49-F238E27FC236}">
                <a16:creationId xmlns:a16="http://schemas.microsoft.com/office/drawing/2014/main" id="{A6D7F152-FFE5-4E29-B809-2BDF61753948}"/>
              </a:ext>
            </a:extLst>
          </p:cNvPr>
          <p:cNvSpPr>
            <a:spLocks noGrp="1"/>
          </p:cNvSpPr>
          <p:nvPr/>
        </p:nvSpPr>
        <p:spPr>
          <a:xfrm>
            <a:off x="1059256" y="4356477"/>
            <a:ext cx="4226798" cy="946150"/>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MAFAULDA, the Machinery Fault Database from the Universidade Federal do Rio de Janeiro: 1,951 recordings of one rig run under ten deliberately induced conditions.</a:t>
            </a:r>
            <a:endParaRPr sz="1250"/>
          </a:p>
        </p:txBody>
      </p:sp>
      <p:pic>
        <p:nvPicPr>
          <p:cNvPr id="32" name="Picture 22"/>
          <p:cNvPicPr>
            <a:picLocks noChangeAspect="1"/>
          </p:cNvPicPr>
          <p:nvPr/>
        </p:nvPicPr>
        <p:blipFill>
          <a:blip r:embed="rId3"/>
          <a:stretch>
            <a:fillRect/>
          </a:stretch>
        </p:blipFill>
        <p:spPr>
          <a:xfrm>
            <a:off x="5496632" y="1547842"/>
            <a:ext cx="6411977" cy="3818744"/>
          </a:xfrm>
          <a:prstGeom prst="roundRect">
            <a:avLst>
              <a:gd name="adj" fmla="val 3183"/>
            </a:avLst>
          </a:prstGeom>
          <a:ln w="6350" cap="sq">
            <a:solidFill>
              <a:schemeClr val="bg1">
                <a:lumMod val="65000"/>
              </a:schemeClr>
            </a:solidFill>
            <a:miter/>
          </a:ln>
          <a:effectLst>
            <a:reflection endPos="0" dist="5000" dir="5400000" sy="-100000" algn="bl" rotWithShape="0"/>
          </a:effectLst>
        </p:spPr>
      </p:pic>
      <p:pic>
        <p:nvPicPr>
          <p:cNvPr id="33" name="Picture 24"/>
          <p:cNvPicPr>
            <a:picLocks noChangeAspect="1"/>
          </p:cNvPicPr>
          <p:nvPr/>
        </p:nvPicPr>
        <p:blipFill>
          <a:blip r:embed="rId4"/>
          <a:srcRect/>
          <a:stretch>
            <a:fillRect/>
          </a:stretch>
        </p:blipFill>
        <p:spPr>
          <a:xfrm>
            <a:off x="11292215" y="4890662"/>
            <a:ext cx="533936" cy="466305"/>
          </a:xfrm>
          <a:prstGeom prst="rect">
            <a:avLst/>
          </a:prstGeom>
        </p:spPr>
      </p:pic>
      <p:sp>
        <p:nvSpPr>
          <p:cNvPr id="17" name="Text 51">
            <a:extLst>
              <a:ext uri="{FF2B5EF4-FFF2-40B4-BE49-F238E27FC236}">
                <a16:creationId xmlns:a16="http://schemas.microsoft.com/office/drawing/2014/main" id="{F98EDC05-924F-C2AF-C515-798EE57DDE3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06</a:t>
            </a:r>
            <a:endParaRPr lang="en-US" sz="1200" dirty="0"/>
          </a:p>
        </p:txBody>
      </p:sp>
    </p:spTree>
    <p:extLst>
      <p:ext uri="{BB962C8B-B14F-4D97-AF65-F5344CB8AC3E}">
        <p14:creationId xmlns:p14="http://schemas.microsoft.com/office/powerpoint/2010/main" val="149942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A477378-3149-49EC-A99B-67411849725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C252FC37-9C0A-49F3-9A6C-F964497CD64D}"/>
              </a:ext>
            </a:extLst>
          </p:cNvPr>
          <p:cNvSpPr>
            <a:spLocks noGrp="1"/>
          </p:cNvSpPr>
          <p:nvPr/>
        </p:nvSpPr>
        <p:spPr>
          <a:xfrm>
            <a:off x="809591" y="1528431"/>
            <a:ext cx="2079249" cy="430461"/>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Objectives</a:t>
            </a:r>
            <a:endParaRPr sz="2900"/>
          </a:p>
        </p:txBody>
      </p:sp>
      <p:sp>
        <p:nvSpPr>
          <p:cNvPr id="4" name="Text 2">
            <a:extLst>
              <a:ext uri="{FF2B5EF4-FFF2-40B4-BE49-F238E27FC236}">
                <a16:creationId xmlns:a16="http://schemas.microsoft.com/office/drawing/2014/main" id="{6D10224F-FFBB-4F84-ADD6-797D0361ED67}"/>
              </a:ext>
            </a:extLst>
          </p:cNvPr>
          <p:cNvSpPr>
            <a:spLocks noGrp="1"/>
          </p:cNvSpPr>
          <p:nvPr/>
        </p:nvSpPr>
        <p:spPr>
          <a:xfrm>
            <a:off x="911243" y="6245742"/>
            <a:ext cx="6856938" cy="231273"/>
          </a:xfrm>
          <a:prstGeom prst="rect">
            <a:avLst/>
          </a:prstGeom>
          <a:noFill/>
        </p:spPr>
        <p:txBody>
          <a:bodyPr wrap="square" lIns="0" tIns="0" rIns="0" bIns="0" anchor="t">
            <a:normAutofit fontScale="77500" lnSpcReduction="20000"/>
          </a:bodyPr>
          <a:lstStyle/>
          <a:p>
            <a:pPr marL="0" indent="0" algn="l">
              <a:lnSpc>
                <a:spcPts val="1960"/>
              </a:lnSpc>
              <a:buNone/>
            </a:pPr>
            <a:r>
              <a:rPr sz="1400">
                <a:solidFill>
                  <a:srgbClr val="64748B"/>
                </a:solidFill>
                <a:latin typeface="DM Sans"/>
                <a:ea typeface="DM Sans"/>
                <a:cs typeface="DM Sans"/>
              </a:rPr>
              <a:t>Every objective is studied on MAFAULDA recordings from one test rig.</a:t>
            </a:r>
            <a:endParaRPr sz="1400"/>
          </a:p>
        </p:txBody>
      </p:sp>
      <p:sp>
        <p:nvSpPr>
          <p:cNvPr id="5" name="Shape 3">
            <a:extLst>
              <a:ext uri="{FF2B5EF4-FFF2-40B4-BE49-F238E27FC236}">
                <a16:creationId xmlns:a16="http://schemas.microsoft.com/office/drawing/2014/main" id="{4D85D01D-4866-4A82-8F77-4A550BEC06F2}"/>
              </a:ext>
            </a:extLst>
          </p:cNvPr>
          <p:cNvSpPr>
            <a:spLocks noGrp="1"/>
          </p:cNvSpPr>
          <p:nvPr/>
        </p:nvSpPr>
        <p:spPr>
          <a:xfrm>
            <a:off x="812766" y="1480012"/>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6" name="Text 4">
            <a:extLst>
              <a:ext uri="{FF2B5EF4-FFF2-40B4-BE49-F238E27FC236}">
                <a16:creationId xmlns:a16="http://schemas.microsoft.com/office/drawing/2014/main" id="{86620699-106F-4094-B9C2-7F4E219D67F0}"/>
              </a:ext>
            </a:extLst>
          </p:cNvPr>
          <p:cNvSpPr>
            <a:spLocks noGrp="1"/>
          </p:cNvSpPr>
          <p:nvPr/>
        </p:nvSpPr>
        <p:spPr>
          <a:xfrm>
            <a:off x="1043416" y="1761511"/>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Q1</a:t>
            </a:r>
            <a:endParaRPr sz="2800"/>
          </a:p>
        </p:txBody>
      </p:sp>
      <p:sp>
        <p:nvSpPr>
          <p:cNvPr id="7" name="Text 5">
            <a:extLst>
              <a:ext uri="{FF2B5EF4-FFF2-40B4-BE49-F238E27FC236}">
                <a16:creationId xmlns:a16="http://schemas.microsoft.com/office/drawing/2014/main" id="{FA7F9CA5-65CB-416A-AB11-FF2617E88156}"/>
              </a:ext>
            </a:extLst>
          </p:cNvPr>
          <p:cNvSpPr>
            <a:spLocks noGrp="1"/>
          </p:cNvSpPr>
          <p:nvPr/>
        </p:nvSpPr>
        <p:spPr>
          <a:xfrm>
            <a:off x="1043416" y="2218662"/>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Healthy or faulty?</a:t>
            </a:r>
            <a:endParaRPr sz="1700"/>
          </a:p>
        </p:txBody>
      </p:sp>
      <p:sp>
        <p:nvSpPr>
          <p:cNvPr id="8" name="Text 6">
            <a:extLst>
              <a:ext uri="{FF2B5EF4-FFF2-40B4-BE49-F238E27FC236}">
                <a16:creationId xmlns:a16="http://schemas.microsoft.com/office/drawing/2014/main" id="{0869CD8C-1D2E-4DB0-BCB5-DCE319163A72}"/>
              </a:ext>
            </a:extLst>
          </p:cNvPr>
          <p:cNvSpPr>
            <a:spLocks noGrp="1"/>
          </p:cNvSpPr>
          <p:nvPr/>
        </p:nvSpPr>
        <p:spPr>
          <a:xfrm>
            <a:off x="1043416" y="2579241"/>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Detect an abnormal recording. Healthy-only checks provide a separate signal alongside the trained classifier.</a:t>
            </a:r>
            <a:endParaRPr sz="1250"/>
          </a:p>
        </p:txBody>
      </p:sp>
      <p:sp>
        <p:nvSpPr>
          <p:cNvPr id="9" name="Shape 7">
            <a:extLst>
              <a:ext uri="{FF2B5EF4-FFF2-40B4-BE49-F238E27FC236}">
                <a16:creationId xmlns:a16="http://schemas.microsoft.com/office/drawing/2014/main" id="{64D5C892-F3AD-4792-8FCB-3B2670F5074F}"/>
              </a:ext>
            </a:extLst>
          </p:cNvPr>
          <p:cNvSpPr>
            <a:spLocks noGrp="1"/>
          </p:cNvSpPr>
          <p:nvPr/>
        </p:nvSpPr>
        <p:spPr>
          <a:xfrm>
            <a:off x="812766" y="3429000"/>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10" name="Text 8">
            <a:extLst>
              <a:ext uri="{FF2B5EF4-FFF2-40B4-BE49-F238E27FC236}">
                <a16:creationId xmlns:a16="http://schemas.microsoft.com/office/drawing/2014/main" id="{EFF49FF1-B5A6-46BC-B7CC-1955A62CCB9F}"/>
              </a:ext>
            </a:extLst>
          </p:cNvPr>
          <p:cNvSpPr>
            <a:spLocks noGrp="1"/>
          </p:cNvSpPr>
          <p:nvPr/>
        </p:nvSpPr>
        <p:spPr>
          <a:xfrm>
            <a:off x="1043416" y="3710499"/>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Q2</a:t>
            </a:r>
            <a:endParaRPr sz="2800"/>
          </a:p>
        </p:txBody>
      </p:sp>
      <p:sp>
        <p:nvSpPr>
          <p:cNvPr id="11" name="Text 9">
            <a:extLst>
              <a:ext uri="{FF2B5EF4-FFF2-40B4-BE49-F238E27FC236}">
                <a16:creationId xmlns:a16="http://schemas.microsoft.com/office/drawing/2014/main" id="{17E86A10-0A93-4A5B-B9CD-DAFB33743ECF}"/>
              </a:ext>
            </a:extLst>
          </p:cNvPr>
          <p:cNvSpPr>
            <a:spLocks noGrp="1"/>
          </p:cNvSpPr>
          <p:nvPr/>
        </p:nvSpPr>
        <p:spPr>
          <a:xfrm>
            <a:off x="1043416" y="4167650"/>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Which familiar condition?</a:t>
            </a:r>
            <a:endParaRPr sz="1700"/>
          </a:p>
        </p:txBody>
      </p:sp>
      <p:sp>
        <p:nvSpPr>
          <p:cNvPr id="12" name="Text 10">
            <a:extLst>
              <a:ext uri="{FF2B5EF4-FFF2-40B4-BE49-F238E27FC236}">
                <a16:creationId xmlns:a16="http://schemas.microsoft.com/office/drawing/2014/main" id="{05D6C42C-0848-49F6-853D-9467352BAADC}"/>
              </a:ext>
            </a:extLst>
          </p:cNvPr>
          <p:cNvSpPr>
            <a:spLocks noGrp="1"/>
          </p:cNvSpPr>
          <p:nvPr/>
        </p:nvSpPr>
        <p:spPr>
          <a:xfrm>
            <a:off x="1043416" y="4528226"/>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Name a condition the classifier has learned. </a:t>
            </a:r>
            <a:endParaRPr lang="en-US" sz="1250">
              <a:solidFill>
                <a:srgbClr val="64748B"/>
              </a:solidFill>
              <a:latin typeface="DM Sans"/>
              <a:ea typeface="DM Sans"/>
              <a:cs typeface="DM Sans"/>
            </a:endParaRPr>
          </a:p>
          <a:p>
            <a:pPr marL="0" indent="0" algn="l">
              <a:lnSpc>
                <a:spcPts val="1813"/>
              </a:lnSpc>
              <a:buNone/>
            </a:pPr>
            <a:r>
              <a:rPr sz="1250" b="1">
                <a:solidFill>
                  <a:schemeClr val="bg1"/>
                </a:solidFill>
                <a:highlight>
                  <a:srgbClr val="0000FF"/>
                </a:highlight>
                <a:latin typeface="DM Sans"/>
              </a:rPr>
              <a:t>(Closed-set classification)</a:t>
            </a:r>
          </a:p>
        </p:txBody>
      </p:sp>
      <p:sp>
        <p:nvSpPr>
          <p:cNvPr id="13" name="Shape 11">
            <a:extLst>
              <a:ext uri="{FF2B5EF4-FFF2-40B4-BE49-F238E27FC236}">
                <a16:creationId xmlns:a16="http://schemas.microsoft.com/office/drawing/2014/main" id="{98565109-E107-4787-AAB9-1E75E7DEFE34}"/>
              </a:ext>
            </a:extLst>
          </p:cNvPr>
          <p:cNvSpPr>
            <a:spLocks noGrp="1"/>
          </p:cNvSpPr>
          <p:nvPr/>
        </p:nvSpPr>
        <p:spPr>
          <a:xfrm>
            <a:off x="5837938" y="1480012"/>
            <a:ext cx="4892245" cy="1841103"/>
          </a:xfrm>
          <a:prstGeom prst="roundRect">
            <a:avLst>
              <a:gd name="adj" fmla="val 5346"/>
            </a:avLst>
          </a:prstGeom>
          <a:solidFill>
            <a:srgbClr val="FFFFFF"/>
          </a:solidFill>
          <a:ln w="6350">
            <a:solidFill>
              <a:srgbClr val="E2E8F0"/>
            </a:solidFill>
            <a:prstDash val="solid"/>
          </a:ln>
        </p:spPr>
        <p:txBody>
          <a:bodyPr/>
          <a:lstStyle/>
          <a:p>
            <a:endParaRPr/>
          </a:p>
        </p:txBody>
      </p:sp>
      <p:sp>
        <p:nvSpPr>
          <p:cNvPr id="14" name="Text 12">
            <a:extLst>
              <a:ext uri="{FF2B5EF4-FFF2-40B4-BE49-F238E27FC236}">
                <a16:creationId xmlns:a16="http://schemas.microsoft.com/office/drawing/2014/main" id="{139D0FA8-79EE-4F39-B83B-0B3DDE001B10}"/>
              </a:ext>
            </a:extLst>
          </p:cNvPr>
          <p:cNvSpPr>
            <a:spLocks noGrp="1"/>
          </p:cNvSpPr>
          <p:nvPr/>
        </p:nvSpPr>
        <p:spPr>
          <a:xfrm>
            <a:off x="6068588" y="1761514"/>
            <a:ext cx="4563872" cy="381017"/>
          </a:xfrm>
          <a:prstGeom prst="rect">
            <a:avLst/>
          </a:prstGeom>
          <a:noFill/>
        </p:spPr>
        <p:txBody>
          <a:bodyPr wrap="square" lIns="0" tIns="0" rIns="0" bIns="0" anchor="t">
            <a:normAutofit/>
          </a:bodyPr>
          <a:lstStyle/>
          <a:p>
            <a:pPr marL="0" indent="0" algn="l">
              <a:lnSpc>
                <a:spcPts val="2800"/>
              </a:lnSpc>
              <a:buNone/>
            </a:pPr>
            <a:r>
              <a:rPr sz="2800" b="1">
                <a:solidFill>
                  <a:srgbClr val="1007DC"/>
                </a:solidFill>
                <a:latin typeface="Poppins"/>
                <a:ea typeface="Poppins"/>
                <a:cs typeface="Poppins"/>
              </a:rPr>
              <a:t>Q3</a:t>
            </a:r>
            <a:endParaRPr sz="2800"/>
          </a:p>
        </p:txBody>
      </p:sp>
      <p:sp>
        <p:nvSpPr>
          <p:cNvPr id="15" name="Text 13">
            <a:extLst>
              <a:ext uri="{FF2B5EF4-FFF2-40B4-BE49-F238E27FC236}">
                <a16:creationId xmlns:a16="http://schemas.microsoft.com/office/drawing/2014/main" id="{7D75F182-9B54-46A0-AC0E-D6C903EFD905}"/>
              </a:ext>
            </a:extLst>
          </p:cNvPr>
          <p:cNvSpPr>
            <a:spLocks noGrp="1"/>
          </p:cNvSpPr>
          <p:nvPr/>
        </p:nvSpPr>
        <p:spPr>
          <a:xfrm>
            <a:off x="6068588" y="2218665"/>
            <a:ext cx="4563872" cy="284444"/>
          </a:xfrm>
          <a:prstGeom prst="rect">
            <a:avLst/>
          </a:prstGeom>
          <a:noFill/>
        </p:spPr>
        <p:txBody>
          <a:bodyPr wrap="square" lIns="0" tIns="0" rIns="0" bIns="0" anchor="t">
            <a:normAutofit/>
          </a:bodyPr>
          <a:lstStyle/>
          <a:p>
            <a:pPr marL="0" indent="0" algn="l">
              <a:lnSpc>
                <a:spcPts val="2040"/>
              </a:lnSpc>
              <a:buNone/>
            </a:pPr>
            <a:r>
              <a:rPr sz="1700" b="1">
                <a:solidFill>
                  <a:srgbClr val="1E293B"/>
                </a:solidFill>
                <a:latin typeface="Poppins"/>
                <a:ea typeface="Poppins"/>
                <a:cs typeface="Poppins"/>
              </a:rPr>
              <a:t>Unfamiliar fault?</a:t>
            </a:r>
            <a:endParaRPr sz="1700"/>
          </a:p>
        </p:txBody>
      </p:sp>
      <p:sp>
        <p:nvSpPr>
          <p:cNvPr id="16" name="Text 14">
            <a:extLst>
              <a:ext uri="{FF2B5EF4-FFF2-40B4-BE49-F238E27FC236}">
                <a16:creationId xmlns:a16="http://schemas.microsoft.com/office/drawing/2014/main" id="{700BA796-890E-4B12-B237-D26573A885B3}"/>
              </a:ext>
            </a:extLst>
          </p:cNvPr>
          <p:cNvSpPr>
            <a:spLocks noGrp="1"/>
          </p:cNvSpPr>
          <p:nvPr/>
        </p:nvSpPr>
        <p:spPr>
          <a:xfrm>
            <a:off x="6068588" y="2579241"/>
            <a:ext cx="4563872" cy="485775"/>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Request further inspection when a recording does not fit the learned conditions. </a:t>
            </a:r>
            <a:r>
              <a:rPr sz="1250" b="1">
                <a:solidFill>
                  <a:schemeClr val="bg1"/>
                </a:solidFill>
                <a:highlight>
                  <a:srgbClr val="0000FF"/>
                </a:highlight>
                <a:latin typeface="DM Sans"/>
                <a:ea typeface="DM Sans"/>
                <a:cs typeface="DM Sans"/>
              </a:rPr>
              <a:t>(Open-set recognition)</a:t>
            </a:r>
            <a:endParaRPr sz="1250" b="1">
              <a:solidFill>
                <a:schemeClr val="bg1"/>
              </a:solidFill>
              <a:highlight>
                <a:srgbClr val="0000FF"/>
              </a:highlight>
            </a:endParaRPr>
          </a:p>
        </p:txBody>
      </p:sp>
      <p:pic>
        <p:nvPicPr>
          <p:cNvPr id="45" name="Image 0"/>
          <p:cNvPicPr>
            <a:picLocks noChangeAspect="1"/>
          </p:cNvPicPr>
          <p:nvPr/>
        </p:nvPicPr>
        <p:blipFill>
          <a:blip r:embed="rId3"/>
          <a:srcRect l="-1" r="-1"/>
          <a:stretch/>
        </p:blipFill>
        <p:spPr>
          <a:xfrm>
            <a:off x="6179918" y="3316654"/>
            <a:ext cx="4035057" cy="2270880"/>
          </a:xfrm>
          <a:prstGeom prst="rect">
            <a:avLst/>
          </a:prstGeom>
        </p:spPr>
      </p:pic>
      <p:sp>
        <p:nvSpPr>
          <p:cNvPr id="28" name="Text 1">
            <a:extLst>
              <a:ext uri="{FF2B5EF4-FFF2-40B4-BE49-F238E27FC236}">
                <a16:creationId xmlns:a16="http://schemas.microsoft.com/office/drawing/2014/main" id="{E7ADB2E3-5421-57B3-7A05-15C5A0CB0CB2}"/>
              </a:ext>
            </a:extLst>
          </p:cNvPr>
          <p:cNvSpPr>
            <a:spLocks noGrp="1"/>
          </p:cNvSpPr>
          <p:nvPr/>
        </p:nvSpPr>
        <p:spPr>
          <a:xfrm>
            <a:off x="812766" y="812766"/>
            <a:ext cx="9086607" cy="523147"/>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What MachineSense answers?</a:t>
            </a:r>
            <a:endParaRPr sz="2900"/>
          </a:p>
        </p:txBody>
      </p:sp>
      <p:sp>
        <p:nvSpPr>
          <p:cNvPr id="17" name="Text 51">
            <a:extLst>
              <a:ext uri="{FF2B5EF4-FFF2-40B4-BE49-F238E27FC236}">
                <a16:creationId xmlns:a16="http://schemas.microsoft.com/office/drawing/2014/main" id="{3F4912F6-0097-8854-F063-F4F0D4B9BA48}"/>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07</a:t>
            </a:r>
            <a:endParaRPr lang="en-US" sz="1200" dirty="0"/>
          </a:p>
        </p:txBody>
      </p:sp>
    </p:spTree>
    <p:extLst>
      <p:ext uri="{BB962C8B-B14F-4D97-AF65-F5344CB8AC3E}">
        <p14:creationId xmlns:p14="http://schemas.microsoft.com/office/powerpoint/2010/main" val="1186277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74D53CD-2EDF-43BE-91F2-A5E5B4E13A8E}"/>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F5A99EAF-5804-497C-BF0B-5F173DC187CF}"/>
              </a:ext>
            </a:extLst>
          </p:cNvPr>
          <p:cNvSpPr>
            <a:spLocks noGrp="1"/>
          </p:cNvSpPr>
          <p:nvPr/>
        </p:nvSpPr>
        <p:spPr>
          <a:xfrm>
            <a:off x="812767" y="812766"/>
            <a:ext cx="10883460" cy="416818"/>
          </a:xfrm>
          <a:prstGeom prst="rect">
            <a:avLst/>
          </a:prstGeom>
          <a:noFill/>
        </p:spPr>
        <p:txBody>
          <a:bodyPr wrap="square" lIns="0" tIns="0" rIns="0" bIns="0" anchor="t">
            <a:normAutofit/>
          </a:bodyPr>
          <a:lstStyle/>
          <a:p>
            <a:pPr marL="0" indent="0" algn="l">
              <a:lnSpc>
                <a:spcPts val="3120"/>
              </a:lnSpc>
              <a:buNone/>
            </a:pPr>
            <a:r>
              <a:rPr sz="2837" b="1">
                <a:solidFill>
                  <a:srgbClr val="1007DC"/>
                </a:solidFill>
                <a:latin typeface="Poppins"/>
                <a:ea typeface="Poppins"/>
                <a:cs typeface="Poppins"/>
              </a:rPr>
              <a:t>Problem and solution</a:t>
            </a:r>
            <a:endParaRPr sz="2837"/>
          </a:p>
        </p:txBody>
      </p:sp>
      <p:sp>
        <p:nvSpPr>
          <p:cNvPr id="4" name="Shape 2">
            <a:extLst>
              <a:ext uri="{FF2B5EF4-FFF2-40B4-BE49-F238E27FC236}">
                <a16:creationId xmlns:a16="http://schemas.microsoft.com/office/drawing/2014/main" id="{D8A2F320-A9D4-49D3-B4B5-83B71A2B9E0E}"/>
              </a:ext>
            </a:extLst>
          </p:cNvPr>
          <p:cNvSpPr>
            <a:spLocks noGrp="1"/>
          </p:cNvSpPr>
          <p:nvPr/>
        </p:nvSpPr>
        <p:spPr>
          <a:xfrm>
            <a:off x="812767" y="1407334"/>
            <a:ext cx="5194350" cy="5150041"/>
          </a:xfrm>
          <a:custGeom>
            <a:avLst/>
            <a:gdLst/>
            <a:ahLst/>
            <a:cxnLst/>
            <a:rect l="l" t="t" r="r" b="b"/>
            <a:pathLst>
              <a:path w="5194350" h="4434665">
                <a:moveTo>
                  <a:pt x="0" y="0"/>
                </a:moveTo>
                <a:lnTo>
                  <a:pt x="5194350" y="0"/>
                </a:lnTo>
                <a:lnTo>
                  <a:pt x="5194350" y="4333065"/>
                </a:lnTo>
                <a:arcTo wR="101600" hR="101600" stAng="0" swAng="5400000"/>
                <a:lnTo>
                  <a:pt x="101600" y="4434665"/>
                </a:lnTo>
                <a:arcTo wR="101600" hR="101600" stAng="5400000" swAng="5400000"/>
                <a:lnTo>
                  <a:pt x="0" y="0"/>
                </a:lnTo>
                <a:close/>
              </a:path>
            </a:pathLst>
          </a:custGeom>
          <a:solidFill>
            <a:srgbClr val="FFFFFF"/>
          </a:solidFill>
        </p:spPr>
        <p:txBody>
          <a:bodyPr/>
          <a:lstStyle/>
          <a:p>
            <a:endParaRPr/>
          </a:p>
        </p:txBody>
      </p:sp>
      <p:sp>
        <p:nvSpPr>
          <p:cNvPr id="5" name="Shape 3">
            <a:extLst>
              <a:ext uri="{FF2B5EF4-FFF2-40B4-BE49-F238E27FC236}">
                <a16:creationId xmlns:a16="http://schemas.microsoft.com/office/drawing/2014/main" id="{377F3FEE-084D-40BA-A917-DD55ED3D4DC0}"/>
              </a:ext>
            </a:extLst>
          </p:cNvPr>
          <p:cNvSpPr>
            <a:spLocks noGrp="1"/>
          </p:cNvSpPr>
          <p:nvPr/>
        </p:nvSpPr>
        <p:spPr>
          <a:xfrm>
            <a:off x="812767" y="1407334"/>
            <a:ext cx="5194350" cy="4434665"/>
          </a:xfrm>
          <a:custGeom>
            <a:avLst/>
            <a:gdLst/>
            <a:ahLst/>
            <a:cxnLst/>
            <a:rect l="l" t="t" r="r" b="b"/>
            <a:pathLst>
              <a:path w="5194350" h="4434665">
                <a:moveTo>
                  <a:pt x="0" y="50800"/>
                </a:moveTo>
                <a:lnTo>
                  <a:pt x="0" y="0"/>
                </a:lnTo>
                <a:lnTo>
                  <a:pt x="5194350" y="0"/>
                </a:lnTo>
                <a:lnTo>
                  <a:pt x="5194350" y="50800"/>
                </a:lnTo>
                <a:lnTo>
                  <a:pt x="0" y="50800"/>
                </a:lnTo>
                <a:close/>
              </a:path>
            </a:pathLst>
          </a:custGeom>
          <a:solidFill>
            <a:srgbClr val="EF4444"/>
          </a:solidFill>
        </p:spPr>
        <p:txBody>
          <a:bodyPr/>
          <a:lstStyle/>
          <a:p>
            <a:endParaRPr/>
          </a:p>
        </p:txBody>
      </p:sp>
      <p:sp>
        <p:nvSpPr>
          <p:cNvPr id="6" name="Text 4">
            <a:extLst>
              <a:ext uri="{FF2B5EF4-FFF2-40B4-BE49-F238E27FC236}">
                <a16:creationId xmlns:a16="http://schemas.microsoft.com/office/drawing/2014/main" id="{641762FD-5183-4DDB-B2E9-EDE5049A3E85}"/>
              </a:ext>
            </a:extLst>
          </p:cNvPr>
          <p:cNvSpPr>
            <a:spLocks noGrp="1"/>
          </p:cNvSpPr>
          <p:nvPr/>
        </p:nvSpPr>
        <p:spPr>
          <a:xfrm>
            <a:off x="1041301" y="1708959"/>
            <a:ext cx="4879400" cy="229791"/>
          </a:xfrm>
          <a:prstGeom prst="rect">
            <a:avLst/>
          </a:prstGeom>
          <a:noFill/>
        </p:spPr>
        <p:txBody>
          <a:bodyPr wrap="square" lIns="0" tIns="0" rIns="0" bIns="0" anchor="t">
            <a:normAutofit/>
          </a:bodyPr>
          <a:lstStyle/>
          <a:p>
            <a:pPr marL="0" indent="0" algn="l">
              <a:lnSpc>
                <a:spcPts val="1610"/>
              </a:lnSpc>
              <a:buNone/>
            </a:pPr>
            <a:r>
              <a:rPr sz="1150" spc="100">
                <a:solidFill>
                  <a:srgbClr val="EF4444"/>
                </a:solidFill>
                <a:latin typeface="DM Sans"/>
                <a:ea typeface="DM Sans"/>
                <a:cs typeface="DM Sans"/>
              </a:rPr>
              <a:t>PROBLEM</a:t>
            </a:r>
            <a:endParaRPr sz="1150"/>
          </a:p>
        </p:txBody>
      </p:sp>
      <p:sp>
        <p:nvSpPr>
          <p:cNvPr id="7" name="Text 5">
            <a:extLst>
              <a:ext uri="{FF2B5EF4-FFF2-40B4-BE49-F238E27FC236}">
                <a16:creationId xmlns:a16="http://schemas.microsoft.com/office/drawing/2014/main" id="{B24E8EAD-8B69-4E20-943E-62ABD91DFFC3}"/>
              </a:ext>
            </a:extLst>
          </p:cNvPr>
          <p:cNvSpPr>
            <a:spLocks noGrp="1"/>
          </p:cNvSpPr>
          <p:nvPr/>
        </p:nvSpPr>
        <p:spPr>
          <a:xfrm>
            <a:off x="1041301" y="2014885"/>
            <a:ext cx="4879400" cy="574080"/>
          </a:xfrm>
          <a:prstGeom prst="rect">
            <a:avLst/>
          </a:prstGeom>
          <a:noFill/>
        </p:spPr>
        <p:txBody>
          <a:bodyPr wrap="square" lIns="0" tIns="0" rIns="0" bIns="0" anchor="t">
            <a:normAutofit/>
          </a:bodyPr>
          <a:lstStyle/>
          <a:p>
            <a:pPr marL="0" indent="0" algn="l">
              <a:lnSpc>
                <a:spcPts val="2160"/>
              </a:lnSpc>
              <a:buNone/>
            </a:pPr>
            <a:r>
              <a:rPr sz="1800" b="1">
                <a:solidFill>
                  <a:srgbClr val="1E293B"/>
                </a:solidFill>
                <a:latin typeface="Poppins"/>
                <a:ea typeface="Poppins"/>
                <a:cs typeface="Poppins"/>
              </a:rPr>
              <a:t>Published scores answer different questions</a:t>
            </a:r>
            <a:endParaRPr sz="1800"/>
          </a:p>
        </p:txBody>
      </p:sp>
      <p:sp>
        <p:nvSpPr>
          <p:cNvPr id="8" name="Text 6">
            <a:extLst>
              <a:ext uri="{FF2B5EF4-FFF2-40B4-BE49-F238E27FC236}">
                <a16:creationId xmlns:a16="http://schemas.microsoft.com/office/drawing/2014/main" id="{C6708DE3-1C45-4373-A050-D7AEF869B218}"/>
              </a:ext>
            </a:extLst>
          </p:cNvPr>
          <p:cNvSpPr>
            <a:spLocks noGrp="1"/>
          </p:cNvSpPr>
          <p:nvPr/>
        </p:nvSpPr>
        <p:spPr>
          <a:xfrm>
            <a:off x="1041301" y="2773369"/>
            <a:ext cx="4879400" cy="949788"/>
          </a:xfrm>
          <a:prstGeom prst="rect">
            <a:avLst/>
          </a:prstGeom>
          <a:noFill/>
        </p:spPr>
        <p:txBody>
          <a:bodyPr wrap="square" lIns="0" tIns="0" rIns="0" bIns="0" anchor="t">
            <a:normAutofit/>
          </a:bodyPr>
          <a:lstStyle/>
          <a:p>
            <a:pPr marL="0" indent="0" algn="l">
              <a:lnSpc>
                <a:spcPts val="1820"/>
              </a:lnSpc>
              <a:buNone/>
            </a:pPr>
            <a:r>
              <a:rPr sz="1300" b="1">
                <a:solidFill>
                  <a:srgbClr val="64748B"/>
                </a:solidFill>
                <a:latin typeface="DM Sans"/>
                <a:ea typeface="DM Sans"/>
                <a:cs typeface="DM Sans"/>
              </a:rPr>
              <a:t>Evaluation leakage: </a:t>
            </a:r>
            <a:r>
              <a:rPr sz="1300">
                <a:solidFill>
                  <a:srgbClr val="64748B"/>
                </a:solidFill>
                <a:latin typeface="DM Sans"/>
                <a:ea typeface="DM Sans"/>
                <a:cs typeface="DM Sans"/>
              </a:rPr>
              <a:t>Segmenting a recording before splitting can put related pieces in both training and testing. Such scores can overstate performance on new recordings.</a:t>
            </a:r>
            <a:endParaRPr sz="1300"/>
          </a:p>
        </p:txBody>
      </p:sp>
      <p:sp>
        <p:nvSpPr>
          <p:cNvPr id="9" name="Text 7">
            <a:extLst>
              <a:ext uri="{FF2B5EF4-FFF2-40B4-BE49-F238E27FC236}">
                <a16:creationId xmlns:a16="http://schemas.microsoft.com/office/drawing/2014/main" id="{C8FE5966-9170-434F-ACFD-3F8B92A02F35}"/>
              </a:ext>
            </a:extLst>
          </p:cNvPr>
          <p:cNvSpPr>
            <a:spLocks noGrp="1"/>
          </p:cNvSpPr>
          <p:nvPr/>
        </p:nvSpPr>
        <p:spPr>
          <a:xfrm>
            <a:off x="1041301" y="3916940"/>
            <a:ext cx="4879400" cy="718691"/>
          </a:xfrm>
          <a:prstGeom prst="rect">
            <a:avLst/>
          </a:prstGeom>
          <a:noFill/>
        </p:spPr>
        <p:txBody>
          <a:bodyPr wrap="square" lIns="0" tIns="0" rIns="0" bIns="0" anchor="t">
            <a:normAutofit/>
          </a:bodyPr>
          <a:lstStyle/>
          <a:p>
            <a:pPr marL="0" indent="0" algn="l">
              <a:lnSpc>
                <a:spcPts val="1820"/>
              </a:lnSpc>
              <a:buNone/>
            </a:pPr>
            <a:r>
              <a:rPr sz="1300" b="1">
                <a:solidFill>
                  <a:srgbClr val="64748B"/>
                </a:solidFill>
                <a:latin typeface="DM Sans"/>
                <a:ea typeface="DM Sans"/>
                <a:cs typeface="DM Sans"/>
              </a:rPr>
              <a:t>Operating conditions: </a:t>
            </a:r>
            <a:r>
              <a:rPr sz="1300">
                <a:solidFill>
                  <a:srgbClr val="64748B"/>
                </a:solidFill>
                <a:latin typeface="DM Sans"/>
                <a:ea typeface="DM Sans"/>
                <a:cs typeface="DM Sans"/>
              </a:rPr>
              <a:t>Speed and fault setting can change the signal. Random partitions alone do not show how a model behaves at unseen settings.</a:t>
            </a:r>
            <a:endParaRPr sz="1300"/>
          </a:p>
        </p:txBody>
      </p:sp>
      <p:sp>
        <p:nvSpPr>
          <p:cNvPr id="10" name="Text 8">
            <a:extLst>
              <a:ext uri="{FF2B5EF4-FFF2-40B4-BE49-F238E27FC236}">
                <a16:creationId xmlns:a16="http://schemas.microsoft.com/office/drawing/2014/main" id="{3DFB1CE4-55FE-4BB9-8BEB-BE87B845C0DC}"/>
              </a:ext>
            </a:extLst>
          </p:cNvPr>
          <p:cNvSpPr>
            <a:spLocks noGrp="1"/>
          </p:cNvSpPr>
          <p:nvPr/>
        </p:nvSpPr>
        <p:spPr>
          <a:xfrm>
            <a:off x="1041301" y="4813381"/>
            <a:ext cx="4879400" cy="718691"/>
          </a:xfrm>
          <a:prstGeom prst="rect">
            <a:avLst/>
          </a:prstGeom>
          <a:noFill/>
        </p:spPr>
        <p:txBody>
          <a:bodyPr wrap="square" lIns="0" tIns="0" rIns="0" bIns="0" anchor="t">
            <a:normAutofit/>
          </a:bodyPr>
          <a:lstStyle/>
          <a:p>
            <a:pPr marL="0" indent="0" algn="l">
              <a:lnSpc>
                <a:spcPts val="1820"/>
              </a:lnSpc>
              <a:buNone/>
            </a:pPr>
            <a:r>
              <a:rPr sz="1300" b="1">
                <a:solidFill>
                  <a:srgbClr val="64748B"/>
                </a:solidFill>
                <a:latin typeface="DM Sans"/>
                <a:ea typeface="DM Sans"/>
                <a:cs typeface="DM Sans"/>
              </a:rPr>
              <a:t>Unknown faults: </a:t>
            </a:r>
            <a:r>
              <a:rPr sz="1300">
                <a:solidFill>
                  <a:srgbClr val="64748B"/>
                </a:solidFill>
                <a:latin typeface="DM Sans"/>
                <a:ea typeface="DM Sans"/>
                <a:cs typeface="DM Sans"/>
              </a:rPr>
              <a:t>A closed-set classifier must choose a learned class, even when a recording comes from a condition it has not seen.</a:t>
            </a:r>
            <a:endParaRPr sz="1300"/>
          </a:p>
        </p:txBody>
      </p:sp>
      <p:sp>
        <p:nvSpPr>
          <p:cNvPr id="11" name="Shape 9">
            <a:extLst>
              <a:ext uri="{FF2B5EF4-FFF2-40B4-BE49-F238E27FC236}">
                <a16:creationId xmlns:a16="http://schemas.microsoft.com/office/drawing/2014/main" id="{F09D7DDB-485D-4603-853C-10D13169842F}"/>
              </a:ext>
            </a:extLst>
          </p:cNvPr>
          <p:cNvSpPr>
            <a:spLocks noGrp="1"/>
          </p:cNvSpPr>
          <p:nvPr/>
        </p:nvSpPr>
        <p:spPr>
          <a:xfrm>
            <a:off x="6184883" y="1407334"/>
            <a:ext cx="5194350" cy="5150041"/>
          </a:xfrm>
          <a:custGeom>
            <a:avLst/>
            <a:gdLst/>
            <a:ahLst/>
            <a:cxnLst/>
            <a:rect l="l" t="t" r="r" b="b"/>
            <a:pathLst>
              <a:path w="5194350" h="4434665">
                <a:moveTo>
                  <a:pt x="0" y="0"/>
                </a:moveTo>
                <a:lnTo>
                  <a:pt x="5194350" y="0"/>
                </a:lnTo>
                <a:lnTo>
                  <a:pt x="5194350" y="4333065"/>
                </a:lnTo>
                <a:arcTo wR="101600" hR="101600" stAng="0" swAng="5400000"/>
                <a:lnTo>
                  <a:pt x="101600" y="4434665"/>
                </a:lnTo>
                <a:arcTo wR="101600" hR="101600" stAng="5400000" swAng="5400000"/>
                <a:lnTo>
                  <a:pt x="0" y="0"/>
                </a:lnTo>
                <a:close/>
              </a:path>
            </a:pathLst>
          </a:custGeom>
          <a:solidFill>
            <a:srgbClr val="FFFFFF"/>
          </a:solidFill>
        </p:spPr>
        <p:txBody>
          <a:bodyPr/>
          <a:lstStyle/>
          <a:p>
            <a:endParaRPr/>
          </a:p>
        </p:txBody>
      </p:sp>
      <p:sp>
        <p:nvSpPr>
          <p:cNvPr id="12" name="Shape 10">
            <a:extLst>
              <a:ext uri="{FF2B5EF4-FFF2-40B4-BE49-F238E27FC236}">
                <a16:creationId xmlns:a16="http://schemas.microsoft.com/office/drawing/2014/main" id="{4BAEF768-F152-4CFD-992C-ADEEA91BAB3C}"/>
              </a:ext>
            </a:extLst>
          </p:cNvPr>
          <p:cNvSpPr>
            <a:spLocks noGrp="1"/>
          </p:cNvSpPr>
          <p:nvPr/>
        </p:nvSpPr>
        <p:spPr>
          <a:xfrm>
            <a:off x="6184883" y="1407334"/>
            <a:ext cx="5194350" cy="4434665"/>
          </a:xfrm>
          <a:custGeom>
            <a:avLst/>
            <a:gdLst/>
            <a:ahLst/>
            <a:cxnLst/>
            <a:rect l="l" t="t" r="r" b="b"/>
            <a:pathLst>
              <a:path w="5194350" h="4434665">
                <a:moveTo>
                  <a:pt x="0" y="50800"/>
                </a:moveTo>
                <a:lnTo>
                  <a:pt x="0" y="0"/>
                </a:lnTo>
                <a:lnTo>
                  <a:pt x="5194350" y="0"/>
                </a:lnTo>
                <a:lnTo>
                  <a:pt x="5194350" y="50800"/>
                </a:lnTo>
                <a:lnTo>
                  <a:pt x="0" y="50800"/>
                </a:lnTo>
                <a:close/>
              </a:path>
            </a:pathLst>
          </a:custGeom>
          <a:solidFill>
            <a:srgbClr val="1007DC"/>
          </a:solidFill>
        </p:spPr>
        <p:txBody>
          <a:bodyPr/>
          <a:lstStyle/>
          <a:p>
            <a:endParaRPr/>
          </a:p>
        </p:txBody>
      </p:sp>
      <p:sp>
        <p:nvSpPr>
          <p:cNvPr id="13" name="Text 11">
            <a:extLst>
              <a:ext uri="{FF2B5EF4-FFF2-40B4-BE49-F238E27FC236}">
                <a16:creationId xmlns:a16="http://schemas.microsoft.com/office/drawing/2014/main" id="{F4418A64-395A-49E6-B17A-E7D34B93A51B}"/>
              </a:ext>
            </a:extLst>
          </p:cNvPr>
          <p:cNvSpPr>
            <a:spLocks noGrp="1"/>
          </p:cNvSpPr>
          <p:nvPr/>
        </p:nvSpPr>
        <p:spPr>
          <a:xfrm>
            <a:off x="6413417" y="1708959"/>
            <a:ext cx="4879400" cy="220778"/>
          </a:xfrm>
          <a:prstGeom prst="rect">
            <a:avLst/>
          </a:prstGeom>
          <a:noFill/>
        </p:spPr>
        <p:txBody>
          <a:bodyPr wrap="square" lIns="0" tIns="0" rIns="0" bIns="0" anchor="t">
            <a:normAutofit/>
          </a:bodyPr>
          <a:lstStyle/>
          <a:p>
            <a:pPr marL="0" indent="0" algn="l">
              <a:lnSpc>
                <a:spcPts val="1575"/>
              </a:lnSpc>
              <a:buNone/>
            </a:pPr>
            <a:r>
              <a:rPr sz="1125" spc="100">
                <a:solidFill>
                  <a:srgbClr val="1007DC"/>
                </a:solidFill>
                <a:latin typeface="DM Sans"/>
                <a:ea typeface="DM Sans"/>
                <a:cs typeface="DM Sans"/>
              </a:rPr>
              <a:t>SOLUTION</a:t>
            </a:r>
            <a:endParaRPr sz="1125"/>
          </a:p>
        </p:txBody>
      </p:sp>
      <p:sp>
        <p:nvSpPr>
          <p:cNvPr id="14" name="Text 12">
            <a:extLst>
              <a:ext uri="{FF2B5EF4-FFF2-40B4-BE49-F238E27FC236}">
                <a16:creationId xmlns:a16="http://schemas.microsoft.com/office/drawing/2014/main" id="{F3BFF9C8-D645-45C8-8E71-F9CCA4DCF886}"/>
              </a:ext>
            </a:extLst>
          </p:cNvPr>
          <p:cNvSpPr>
            <a:spLocks noGrp="1"/>
          </p:cNvSpPr>
          <p:nvPr/>
        </p:nvSpPr>
        <p:spPr>
          <a:xfrm>
            <a:off x="6413417" y="2005871"/>
            <a:ext cx="4879400" cy="549936"/>
          </a:xfrm>
          <a:prstGeom prst="rect">
            <a:avLst/>
          </a:prstGeom>
          <a:noFill/>
        </p:spPr>
        <p:txBody>
          <a:bodyPr wrap="square" lIns="0" tIns="0" rIns="0" bIns="0" anchor="t">
            <a:normAutofit/>
          </a:bodyPr>
          <a:lstStyle/>
          <a:p>
            <a:pPr marL="0" indent="0" algn="l">
              <a:lnSpc>
                <a:spcPts val="2086"/>
              </a:lnSpc>
              <a:buNone/>
            </a:pPr>
            <a:r>
              <a:rPr sz="1738" b="1">
                <a:solidFill>
                  <a:srgbClr val="1E293B"/>
                </a:solidFill>
                <a:latin typeface="Poppins"/>
                <a:ea typeface="Poppins"/>
                <a:cs typeface="Poppins"/>
              </a:rPr>
              <a:t>MachineSense evaluated with stricter rig tests</a:t>
            </a:r>
            <a:endParaRPr sz="1738"/>
          </a:p>
        </p:txBody>
      </p:sp>
      <p:sp>
        <p:nvSpPr>
          <p:cNvPr id="15" name="Text 13">
            <a:extLst>
              <a:ext uri="{FF2B5EF4-FFF2-40B4-BE49-F238E27FC236}">
                <a16:creationId xmlns:a16="http://schemas.microsoft.com/office/drawing/2014/main" id="{B5DA73AC-C6CA-4646-81D4-25231B6D6E02}"/>
              </a:ext>
            </a:extLst>
          </p:cNvPr>
          <p:cNvSpPr>
            <a:spLocks noGrp="1"/>
          </p:cNvSpPr>
          <p:nvPr/>
        </p:nvSpPr>
        <p:spPr>
          <a:xfrm>
            <a:off x="6413417" y="2631942"/>
            <a:ext cx="4879400" cy="688264"/>
          </a:xfrm>
          <a:prstGeom prst="rect">
            <a:avLst/>
          </a:prstGeom>
          <a:noFill/>
        </p:spPr>
        <p:txBody>
          <a:bodyPr wrap="square" lIns="0" tIns="0" rIns="0" bIns="0" anchor="t">
            <a:normAutofit/>
          </a:bodyPr>
          <a:lstStyle/>
          <a:p>
            <a:pPr marL="0" indent="0" algn="l">
              <a:lnSpc>
                <a:spcPts val="1740"/>
              </a:lnSpc>
              <a:buNone/>
            </a:pPr>
            <a:r>
              <a:rPr sz="1243">
                <a:solidFill>
                  <a:srgbClr val="64748B"/>
                </a:solidFill>
                <a:latin typeface="DM Sans"/>
                <a:ea typeface="DM Sans"/>
                <a:cs typeface="DM Sans"/>
              </a:rPr>
              <a:t>Recording-level, folder-grouped splits, with reserved partitions for held-out severity and held-out speed, sealed until a single declared final run.</a:t>
            </a:r>
            <a:endParaRPr sz="1243"/>
          </a:p>
        </p:txBody>
      </p:sp>
      <p:sp>
        <p:nvSpPr>
          <p:cNvPr id="16" name="Text 14">
            <a:extLst>
              <a:ext uri="{FF2B5EF4-FFF2-40B4-BE49-F238E27FC236}">
                <a16:creationId xmlns:a16="http://schemas.microsoft.com/office/drawing/2014/main" id="{51320DD0-CA9F-427A-8C93-9BDA0D8C5657}"/>
              </a:ext>
            </a:extLst>
          </p:cNvPr>
          <p:cNvSpPr>
            <a:spLocks noGrp="1"/>
          </p:cNvSpPr>
          <p:nvPr/>
        </p:nvSpPr>
        <p:spPr>
          <a:xfrm>
            <a:off x="6413417" y="3537795"/>
            <a:ext cx="4879400" cy="1315425"/>
          </a:xfrm>
          <a:prstGeom prst="rect">
            <a:avLst/>
          </a:prstGeom>
          <a:noFill/>
        </p:spPr>
        <p:txBody>
          <a:bodyPr wrap="square" lIns="0" tIns="0" rIns="0" bIns="0" anchor="t">
            <a:normAutofit/>
          </a:bodyPr>
          <a:lstStyle/>
          <a:p>
            <a:pPr marL="0" indent="0" algn="l">
              <a:lnSpc>
                <a:spcPts val="1740"/>
              </a:lnSpc>
              <a:buNone/>
            </a:pPr>
            <a:r>
              <a:rPr lang="en-SG" sz="1243" b="1">
                <a:solidFill>
                  <a:srgbClr val="64748B"/>
                </a:solidFill>
                <a:latin typeface="DM Sans"/>
                <a:ea typeface="DM Sans"/>
                <a:cs typeface="DM Sans"/>
              </a:rPr>
              <a:t>A hybrid approach: </a:t>
            </a:r>
            <a:r>
              <a:rPr lang="en-SG" sz="1243">
                <a:solidFill>
                  <a:srgbClr val="64748B"/>
                </a:solidFill>
                <a:latin typeface="DM Sans"/>
                <a:ea typeface="DM Sans"/>
                <a:cs typeface="DM Sans"/>
              </a:rPr>
              <a:t>MachineSense combines physics-based features and a classical reference model with a CNN trained on order spectrograms. A healthy-only anomaly detector and a distance-based check help flag recordings that may not match any known fault.</a:t>
            </a:r>
            <a:endParaRPr sz="1243"/>
          </a:p>
        </p:txBody>
      </p:sp>
      <p:sp>
        <p:nvSpPr>
          <p:cNvPr id="17" name="Text 15">
            <a:extLst>
              <a:ext uri="{FF2B5EF4-FFF2-40B4-BE49-F238E27FC236}">
                <a16:creationId xmlns:a16="http://schemas.microsoft.com/office/drawing/2014/main" id="{98D8FCFA-C6DC-49EE-8871-8C14C4E3ECE2}"/>
              </a:ext>
            </a:extLst>
          </p:cNvPr>
          <p:cNvSpPr>
            <a:spLocks noGrp="1"/>
          </p:cNvSpPr>
          <p:nvPr/>
        </p:nvSpPr>
        <p:spPr>
          <a:xfrm>
            <a:off x="6413417" y="4967401"/>
            <a:ext cx="4879400" cy="688264"/>
          </a:xfrm>
          <a:prstGeom prst="rect">
            <a:avLst/>
          </a:prstGeom>
          <a:noFill/>
        </p:spPr>
        <p:txBody>
          <a:bodyPr wrap="square" lIns="0" tIns="0" rIns="0" bIns="0" anchor="t">
            <a:normAutofit/>
          </a:bodyPr>
          <a:lstStyle/>
          <a:p>
            <a:pPr marL="0" indent="0" algn="l">
              <a:lnSpc>
                <a:spcPts val="1746"/>
              </a:lnSpc>
              <a:buNone/>
            </a:pPr>
            <a:r>
              <a:rPr sz="1247" b="1">
                <a:solidFill>
                  <a:srgbClr val="64748B"/>
                </a:solidFill>
                <a:latin typeface="DM Sans"/>
                <a:ea typeface="DM Sans"/>
                <a:cs typeface="DM Sans"/>
              </a:rPr>
              <a:t>Closed set and open set are both reported, </a:t>
            </a:r>
            <a:r>
              <a:rPr sz="1247">
                <a:solidFill>
                  <a:srgbClr val="64748B"/>
                </a:solidFill>
                <a:latin typeface="DM Sans"/>
                <a:ea typeface="DM Sans"/>
                <a:cs typeface="DM Sans"/>
              </a:rPr>
              <a:t>so declining to name a fault is a measured behaviour rather than a missing capability.</a:t>
            </a:r>
            <a:endParaRPr sz="1247"/>
          </a:p>
        </p:txBody>
      </p:sp>
      <p:sp>
        <p:nvSpPr>
          <p:cNvPr id="18" name="Text 16">
            <a:extLst>
              <a:ext uri="{FF2B5EF4-FFF2-40B4-BE49-F238E27FC236}">
                <a16:creationId xmlns:a16="http://schemas.microsoft.com/office/drawing/2014/main" id="{8CD77756-F823-48A2-8CC2-502282CE4738}"/>
              </a:ext>
            </a:extLst>
          </p:cNvPr>
          <p:cNvSpPr>
            <a:spLocks noGrp="1"/>
          </p:cNvSpPr>
          <p:nvPr/>
        </p:nvSpPr>
        <p:spPr>
          <a:xfrm>
            <a:off x="6413417" y="5655665"/>
            <a:ext cx="4879400" cy="688264"/>
          </a:xfrm>
          <a:prstGeom prst="rect">
            <a:avLst/>
          </a:prstGeom>
          <a:noFill/>
        </p:spPr>
        <p:txBody>
          <a:bodyPr wrap="square" lIns="0" tIns="0" rIns="0" bIns="0" anchor="t">
            <a:normAutofit/>
          </a:bodyPr>
          <a:lstStyle/>
          <a:p>
            <a:pPr marL="0" indent="0" algn="l">
              <a:lnSpc>
                <a:spcPts val="1803"/>
              </a:lnSpc>
              <a:buNone/>
            </a:pPr>
            <a:r>
              <a:rPr sz="1288" b="1">
                <a:solidFill>
                  <a:srgbClr val="64748B"/>
                </a:solidFill>
                <a:latin typeface="DM Sans"/>
                <a:ea typeface="DM Sans"/>
                <a:cs typeface="DM Sans"/>
              </a:rPr>
              <a:t>A saved evidence report that a mechanic can inspect. A bounded investigation assistant is proposed for follow-up questions.</a:t>
            </a:r>
            <a:endParaRPr sz="1288"/>
          </a:p>
        </p:txBody>
      </p:sp>
      <p:sp>
        <p:nvSpPr>
          <p:cNvPr id="21" name="Text 8">
            <a:extLst>
              <a:ext uri="{FF2B5EF4-FFF2-40B4-BE49-F238E27FC236}">
                <a16:creationId xmlns:a16="http://schemas.microsoft.com/office/drawing/2014/main" id="{092E443A-0977-F1D0-9356-2BD08DC3CB83}"/>
              </a:ext>
            </a:extLst>
          </p:cNvPr>
          <p:cNvSpPr>
            <a:spLocks noGrp="1"/>
          </p:cNvSpPr>
          <p:nvPr/>
        </p:nvSpPr>
        <p:spPr>
          <a:xfrm>
            <a:off x="1041301" y="5640452"/>
            <a:ext cx="4879400" cy="718691"/>
          </a:xfrm>
          <a:prstGeom prst="rect">
            <a:avLst/>
          </a:prstGeom>
          <a:noFill/>
        </p:spPr>
        <p:txBody>
          <a:bodyPr wrap="square" lIns="0" tIns="0" rIns="0" bIns="0" anchor="t">
            <a:normAutofit/>
          </a:bodyPr>
          <a:lstStyle/>
          <a:p>
            <a:pPr marL="0" indent="0" algn="l">
              <a:lnSpc>
                <a:spcPts val="1820"/>
              </a:lnSpc>
              <a:buNone/>
            </a:pPr>
            <a:r>
              <a:rPr sz="1300" b="1">
                <a:solidFill>
                  <a:srgbClr val="64748B"/>
                </a:solidFill>
                <a:latin typeface="DM Sans"/>
                <a:ea typeface="DM Sans"/>
                <a:cs typeface="DM Sans"/>
              </a:rPr>
              <a:t>Explanation gap: </a:t>
            </a:r>
            <a:r>
              <a:rPr sz="1300">
                <a:solidFill>
                  <a:srgbClr val="64748B"/>
                </a:solidFill>
                <a:latin typeface="DM Sans"/>
                <a:ea typeface="DM Sans"/>
                <a:cs typeface="DM Sans"/>
              </a:rPr>
              <a:t>A mechanic needs the evidence and uncertainty behind a suggested condition.</a:t>
            </a:r>
            <a:endParaRPr sz="1300"/>
          </a:p>
        </p:txBody>
      </p:sp>
      <p:sp>
        <p:nvSpPr>
          <p:cNvPr id="19" name="Text 51">
            <a:extLst>
              <a:ext uri="{FF2B5EF4-FFF2-40B4-BE49-F238E27FC236}">
                <a16:creationId xmlns:a16="http://schemas.microsoft.com/office/drawing/2014/main" id="{0FD251AA-B73C-9AF0-E371-946B98D85B9B}"/>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08</a:t>
            </a:r>
            <a:endParaRPr lang="en-US" sz="1200" dirty="0"/>
          </a:p>
        </p:txBody>
      </p:sp>
    </p:spTree>
    <p:extLst>
      <p:ext uri="{BB962C8B-B14F-4D97-AF65-F5344CB8AC3E}">
        <p14:creationId xmlns:p14="http://schemas.microsoft.com/office/powerpoint/2010/main" val="1174712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06228D9-BC4E-4509-A4D0-3B78253FB914}"/>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3524FB62-4455-4D63-877B-5EA644D48E5E}"/>
              </a:ext>
            </a:extLst>
          </p:cNvPr>
          <p:cNvSpPr>
            <a:spLocks noGrp="1"/>
          </p:cNvSpPr>
          <p:nvPr/>
        </p:nvSpPr>
        <p:spPr>
          <a:xfrm>
            <a:off x="812767" y="812763"/>
            <a:ext cx="10883460" cy="377130"/>
          </a:xfrm>
          <a:prstGeom prst="rect">
            <a:avLst/>
          </a:prstGeom>
          <a:noFill/>
        </p:spPr>
        <p:txBody>
          <a:bodyPr wrap="square" lIns="0" tIns="0" rIns="0" bIns="0" anchor="t">
            <a:normAutofit/>
          </a:bodyPr>
          <a:lstStyle/>
          <a:p>
            <a:pPr marL="0" indent="0" algn="l">
              <a:lnSpc>
                <a:spcPts val="2771"/>
              </a:lnSpc>
              <a:buNone/>
            </a:pPr>
            <a:r>
              <a:rPr sz="2519" b="1">
                <a:solidFill>
                  <a:srgbClr val="1007DC"/>
                </a:solidFill>
                <a:latin typeface="Poppins"/>
                <a:ea typeface="Poppins"/>
                <a:cs typeface="Poppins"/>
              </a:rPr>
              <a:t>Literature review and benchmarking</a:t>
            </a:r>
            <a:endParaRPr sz="2519"/>
          </a:p>
        </p:txBody>
      </p:sp>
      <p:sp>
        <p:nvSpPr>
          <p:cNvPr id="4" name="Text 2">
            <a:extLst>
              <a:ext uri="{FF2B5EF4-FFF2-40B4-BE49-F238E27FC236}">
                <a16:creationId xmlns:a16="http://schemas.microsoft.com/office/drawing/2014/main" id="{260FC474-5524-4500-AED2-B58DB6499C21}"/>
              </a:ext>
            </a:extLst>
          </p:cNvPr>
          <p:cNvSpPr>
            <a:spLocks noGrp="1"/>
          </p:cNvSpPr>
          <p:nvPr/>
        </p:nvSpPr>
        <p:spPr>
          <a:xfrm>
            <a:off x="812767" y="1354993"/>
            <a:ext cx="10203180" cy="521080"/>
          </a:xfrm>
          <a:prstGeom prst="rect">
            <a:avLst/>
          </a:prstGeom>
          <a:noFill/>
        </p:spPr>
        <p:txBody>
          <a:bodyPr wrap="square" lIns="0" tIns="0" rIns="0" bIns="0" anchor="t">
            <a:normAutofit/>
          </a:bodyPr>
          <a:lstStyle/>
          <a:p>
            <a:pPr marL="0" indent="0" algn="l">
              <a:lnSpc>
                <a:spcPts val="1960"/>
              </a:lnSpc>
              <a:buNone/>
            </a:pPr>
            <a:r>
              <a:rPr sz="1351">
                <a:solidFill>
                  <a:srgbClr val="1E293B"/>
                </a:solidFill>
                <a:latin typeface="DM Sans"/>
                <a:ea typeface="DM Sans"/>
                <a:cs typeface="DM Sans"/>
              </a:rPr>
              <a:t>Earlier research shows that machine signals can classify familiar faults</a:t>
            </a:r>
            <a:r>
              <a:rPr sz="1351" b="1">
                <a:solidFill>
                  <a:srgbClr val="1E293B"/>
                </a:solidFill>
                <a:highlight>
                  <a:srgbClr val="00FFFF"/>
                </a:highlight>
                <a:latin typeface="DM Sans"/>
                <a:ea typeface="DM Sans"/>
                <a:cs typeface="DM Sans"/>
              </a:rPr>
              <a:t>. MachineSense asks an additional question</a:t>
            </a:r>
            <a:r>
              <a:rPr sz="1351">
                <a:solidFill>
                  <a:srgbClr val="1E293B"/>
                </a:solidFill>
                <a:highlight>
                  <a:srgbClr val="00FFFF"/>
                </a:highlight>
                <a:latin typeface="DM Sans"/>
                <a:ea typeface="DM Sans"/>
                <a:cs typeface="DM Sans"/>
              </a:rPr>
              <a:t>: when should the system stop naming a fault and request inspection?</a:t>
            </a:r>
            <a:endParaRPr sz="1351">
              <a:highlight>
                <a:srgbClr val="00FFFF"/>
              </a:highlight>
            </a:endParaRPr>
          </a:p>
        </p:txBody>
      </p:sp>
      <p:sp>
        <p:nvSpPr>
          <p:cNvPr id="5" name="Shape 3">
            <a:extLst>
              <a:ext uri="{FF2B5EF4-FFF2-40B4-BE49-F238E27FC236}">
                <a16:creationId xmlns:a16="http://schemas.microsoft.com/office/drawing/2014/main" id="{A4E0E228-37F5-4C41-AAEF-2F84A0C6FF65}"/>
              </a:ext>
            </a:extLst>
          </p:cNvPr>
          <p:cNvSpPr>
            <a:spLocks noGrp="1"/>
          </p:cNvSpPr>
          <p:nvPr/>
        </p:nvSpPr>
        <p:spPr>
          <a:xfrm>
            <a:off x="815942" y="2044353"/>
            <a:ext cx="3422650" cy="2086504"/>
          </a:xfrm>
          <a:prstGeom prst="roundRect">
            <a:avLst>
              <a:gd name="adj" fmla="val 4717"/>
            </a:avLst>
          </a:prstGeom>
          <a:solidFill>
            <a:srgbClr val="FFFFFF"/>
          </a:solidFill>
          <a:ln w="6350">
            <a:solidFill>
              <a:srgbClr val="E2E8F0"/>
            </a:solidFill>
            <a:prstDash val="solid"/>
          </a:ln>
        </p:spPr>
        <p:txBody>
          <a:bodyPr/>
          <a:lstStyle/>
          <a:p>
            <a:endParaRPr/>
          </a:p>
        </p:txBody>
      </p:sp>
      <p:sp>
        <p:nvSpPr>
          <p:cNvPr id="6" name="Text 4">
            <a:extLst>
              <a:ext uri="{FF2B5EF4-FFF2-40B4-BE49-F238E27FC236}">
                <a16:creationId xmlns:a16="http://schemas.microsoft.com/office/drawing/2014/main" id="{69A0337A-D9CB-461A-AD3E-216297A09381}"/>
              </a:ext>
            </a:extLst>
          </p:cNvPr>
          <p:cNvSpPr>
            <a:spLocks noGrp="1"/>
          </p:cNvSpPr>
          <p:nvPr/>
        </p:nvSpPr>
        <p:spPr>
          <a:xfrm>
            <a:off x="1021209" y="2274999"/>
            <a:ext cx="3102479" cy="472463"/>
          </a:xfrm>
          <a:prstGeom prst="rect">
            <a:avLst/>
          </a:prstGeom>
          <a:noFill/>
        </p:spPr>
        <p:txBody>
          <a:bodyPr wrap="square" lIns="0" tIns="0" rIns="0" bIns="0" anchor="t">
            <a:normAutofit/>
          </a:bodyPr>
          <a:lstStyle/>
          <a:p>
            <a:pPr marL="0" indent="0" algn="l">
              <a:lnSpc>
                <a:spcPts val="1843"/>
              </a:lnSpc>
              <a:buNone/>
            </a:pPr>
            <a:r>
              <a:rPr sz="1535" b="1">
                <a:solidFill>
                  <a:srgbClr val="1007DC"/>
                </a:solidFill>
                <a:latin typeface="Poppins"/>
                <a:ea typeface="Poppins"/>
                <a:cs typeface="Poppins"/>
              </a:rPr>
              <a:t>What the field has established</a:t>
            </a:r>
            <a:endParaRPr sz="1535"/>
          </a:p>
        </p:txBody>
      </p:sp>
      <p:sp>
        <p:nvSpPr>
          <p:cNvPr id="7" name="Text 5">
            <a:extLst>
              <a:ext uri="{FF2B5EF4-FFF2-40B4-BE49-F238E27FC236}">
                <a16:creationId xmlns:a16="http://schemas.microsoft.com/office/drawing/2014/main" id="{D12F0920-9738-4A2E-B36B-1AFDA576FA1D}"/>
              </a:ext>
            </a:extLst>
          </p:cNvPr>
          <p:cNvSpPr>
            <a:spLocks noGrp="1"/>
          </p:cNvSpPr>
          <p:nvPr/>
        </p:nvSpPr>
        <p:spPr>
          <a:xfrm>
            <a:off x="1021209" y="2810948"/>
            <a:ext cx="3102479" cy="1114656"/>
          </a:xfrm>
          <a:prstGeom prst="rect">
            <a:avLst/>
          </a:prstGeom>
          <a:noFill/>
        </p:spPr>
        <p:txBody>
          <a:bodyPr wrap="square" lIns="0" tIns="0" rIns="0" bIns="0" anchor="t">
            <a:normAutofit/>
          </a:bodyPr>
          <a:lstStyle/>
          <a:p>
            <a:pPr marL="0" indent="0" algn="l">
              <a:lnSpc>
                <a:spcPts val="1722"/>
              </a:lnSpc>
              <a:buNone/>
            </a:pPr>
            <a:r>
              <a:rPr sz="1188">
                <a:solidFill>
                  <a:srgbClr val="64748B"/>
                </a:solidFill>
                <a:latin typeface="DM Sans"/>
                <a:ea typeface="DM Sans"/>
                <a:cs typeface="DM Sans"/>
              </a:rPr>
              <a:t>Vibration and acoustic signals </a:t>
            </a:r>
            <a:r>
              <a:rPr sz="1188">
                <a:solidFill>
                  <a:srgbClr val="64748B"/>
                </a:solidFill>
                <a:highlight>
                  <a:srgbClr val="FFFF00"/>
                </a:highlight>
                <a:latin typeface="DM Sans"/>
                <a:ea typeface="DM Sans"/>
                <a:cs typeface="DM Sans"/>
              </a:rPr>
              <a:t>separate the standard rotating-machinery faults well</a:t>
            </a:r>
            <a:r>
              <a:rPr sz="1188">
                <a:solidFill>
                  <a:srgbClr val="64748B"/>
                </a:solidFill>
                <a:latin typeface="DM Sans"/>
                <a:ea typeface="DM Sans"/>
                <a:cs typeface="DM Sans"/>
              </a:rPr>
              <a:t>, with both engineered features and learned representations, on this dataset and its neighbours.</a:t>
            </a:r>
            <a:endParaRPr sz="1188"/>
          </a:p>
        </p:txBody>
      </p:sp>
      <p:sp>
        <p:nvSpPr>
          <p:cNvPr id="8" name="Shape 6">
            <a:extLst>
              <a:ext uri="{FF2B5EF4-FFF2-40B4-BE49-F238E27FC236}">
                <a16:creationId xmlns:a16="http://schemas.microsoft.com/office/drawing/2014/main" id="{67067FD9-559C-4616-B86E-285C3F7B4AE4}"/>
              </a:ext>
            </a:extLst>
          </p:cNvPr>
          <p:cNvSpPr>
            <a:spLocks noGrp="1"/>
          </p:cNvSpPr>
          <p:nvPr/>
        </p:nvSpPr>
        <p:spPr>
          <a:xfrm>
            <a:off x="4384592" y="2044353"/>
            <a:ext cx="3422733" cy="2086504"/>
          </a:xfrm>
          <a:prstGeom prst="roundRect">
            <a:avLst>
              <a:gd name="adj" fmla="val 4717"/>
            </a:avLst>
          </a:prstGeom>
          <a:solidFill>
            <a:srgbClr val="FFFFFF"/>
          </a:solidFill>
          <a:ln w="6350">
            <a:solidFill>
              <a:srgbClr val="E2E8F0"/>
            </a:solidFill>
            <a:prstDash val="solid"/>
          </a:ln>
        </p:spPr>
        <p:txBody>
          <a:bodyPr/>
          <a:lstStyle/>
          <a:p>
            <a:endParaRPr/>
          </a:p>
        </p:txBody>
      </p:sp>
      <p:sp>
        <p:nvSpPr>
          <p:cNvPr id="9" name="Text 7">
            <a:extLst>
              <a:ext uri="{FF2B5EF4-FFF2-40B4-BE49-F238E27FC236}">
                <a16:creationId xmlns:a16="http://schemas.microsoft.com/office/drawing/2014/main" id="{437CFA62-DC84-442A-BD97-E6DB62C9CC0D}"/>
              </a:ext>
            </a:extLst>
          </p:cNvPr>
          <p:cNvSpPr>
            <a:spLocks noGrp="1"/>
          </p:cNvSpPr>
          <p:nvPr/>
        </p:nvSpPr>
        <p:spPr>
          <a:xfrm>
            <a:off x="4589859" y="2274999"/>
            <a:ext cx="3102564" cy="416901"/>
          </a:xfrm>
          <a:prstGeom prst="rect">
            <a:avLst/>
          </a:prstGeom>
          <a:noFill/>
        </p:spPr>
        <p:txBody>
          <a:bodyPr wrap="square" lIns="0" tIns="0" rIns="0" bIns="0" anchor="t">
            <a:normAutofit/>
          </a:bodyPr>
          <a:lstStyle/>
          <a:p>
            <a:pPr marL="0" indent="0" algn="l">
              <a:lnSpc>
                <a:spcPts val="1558"/>
              </a:lnSpc>
              <a:buNone/>
            </a:pPr>
            <a:r>
              <a:rPr sz="1298" b="1">
                <a:solidFill>
                  <a:srgbClr val="1007DC"/>
                </a:solidFill>
                <a:latin typeface="Poppins"/>
                <a:ea typeface="Poppins"/>
                <a:cs typeface="Poppins"/>
              </a:rPr>
              <a:t>Where the reported numbers break down</a:t>
            </a:r>
            <a:endParaRPr sz="1298"/>
          </a:p>
        </p:txBody>
      </p:sp>
      <p:sp>
        <p:nvSpPr>
          <p:cNvPr id="10" name="Text 8">
            <a:extLst>
              <a:ext uri="{FF2B5EF4-FFF2-40B4-BE49-F238E27FC236}">
                <a16:creationId xmlns:a16="http://schemas.microsoft.com/office/drawing/2014/main" id="{AB9CE13F-4A4E-4853-B066-D6F80F04DBC6}"/>
              </a:ext>
            </a:extLst>
          </p:cNvPr>
          <p:cNvSpPr>
            <a:spLocks noGrp="1"/>
          </p:cNvSpPr>
          <p:nvPr/>
        </p:nvSpPr>
        <p:spPr>
          <a:xfrm>
            <a:off x="4589859" y="2755385"/>
            <a:ext cx="3102564" cy="1170219"/>
          </a:xfrm>
          <a:prstGeom prst="rect">
            <a:avLst/>
          </a:prstGeom>
          <a:noFill/>
        </p:spPr>
        <p:txBody>
          <a:bodyPr wrap="square" lIns="0" tIns="0" rIns="0" bIns="0" anchor="t">
            <a:normAutofit/>
          </a:bodyPr>
          <a:lstStyle/>
          <a:p>
            <a:pPr marL="0" indent="0" algn="l">
              <a:lnSpc>
                <a:spcPts val="1682"/>
              </a:lnSpc>
              <a:buNone/>
            </a:pPr>
            <a:r>
              <a:rPr sz="1160">
                <a:solidFill>
                  <a:srgbClr val="64748B"/>
                </a:solidFill>
                <a:latin typeface="DM Sans"/>
                <a:ea typeface="DM Sans"/>
                <a:cs typeface="DM Sans"/>
              </a:rPr>
              <a:t>Segmentation before </a:t>
            </a:r>
            <a:r>
              <a:rPr sz="1160">
                <a:solidFill>
                  <a:srgbClr val="64748B"/>
                </a:solidFill>
                <a:highlight>
                  <a:srgbClr val="FFFF00"/>
                </a:highlight>
                <a:latin typeface="DM Sans"/>
                <a:ea typeface="DM Sans"/>
                <a:cs typeface="DM Sans"/>
              </a:rPr>
              <a:t>splitting can put related parts of one recording into different folds. </a:t>
            </a:r>
            <a:r>
              <a:rPr sz="1160">
                <a:solidFill>
                  <a:srgbClr val="64748B"/>
                </a:solidFill>
                <a:latin typeface="DM Sans"/>
                <a:ea typeface="DM Sans"/>
                <a:cs typeface="DM Sans"/>
              </a:rPr>
              <a:t>Published scores require careful reading of each study’s split and class definitions.</a:t>
            </a:r>
            <a:endParaRPr sz="1160"/>
          </a:p>
        </p:txBody>
      </p:sp>
      <p:sp>
        <p:nvSpPr>
          <p:cNvPr id="11" name="Shape 9">
            <a:extLst>
              <a:ext uri="{FF2B5EF4-FFF2-40B4-BE49-F238E27FC236}">
                <a16:creationId xmlns:a16="http://schemas.microsoft.com/office/drawing/2014/main" id="{EAEC8BC7-E51F-45C1-8ECC-AC85F7C74C8D}"/>
              </a:ext>
            </a:extLst>
          </p:cNvPr>
          <p:cNvSpPr>
            <a:spLocks noGrp="1"/>
          </p:cNvSpPr>
          <p:nvPr/>
        </p:nvSpPr>
        <p:spPr>
          <a:xfrm>
            <a:off x="7953325" y="2044353"/>
            <a:ext cx="3422733" cy="2086504"/>
          </a:xfrm>
          <a:prstGeom prst="roundRect">
            <a:avLst>
              <a:gd name="adj" fmla="val 4717"/>
            </a:avLst>
          </a:prstGeom>
          <a:solidFill>
            <a:srgbClr val="FFFFFF"/>
          </a:solidFill>
          <a:ln w="6350">
            <a:solidFill>
              <a:srgbClr val="E2E8F0"/>
            </a:solidFill>
            <a:prstDash val="solid"/>
          </a:ln>
        </p:spPr>
        <p:txBody>
          <a:bodyPr/>
          <a:lstStyle/>
          <a:p>
            <a:endParaRPr/>
          </a:p>
        </p:txBody>
      </p:sp>
      <p:sp>
        <p:nvSpPr>
          <p:cNvPr id="12" name="Text 10">
            <a:extLst>
              <a:ext uri="{FF2B5EF4-FFF2-40B4-BE49-F238E27FC236}">
                <a16:creationId xmlns:a16="http://schemas.microsoft.com/office/drawing/2014/main" id="{311CC27A-D193-4ABB-934E-82C6FAD4A5D7}"/>
              </a:ext>
            </a:extLst>
          </p:cNvPr>
          <p:cNvSpPr>
            <a:spLocks noGrp="1"/>
          </p:cNvSpPr>
          <p:nvPr/>
        </p:nvSpPr>
        <p:spPr>
          <a:xfrm>
            <a:off x="8158592" y="2274999"/>
            <a:ext cx="3102564" cy="261623"/>
          </a:xfrm>
          <a:prstGeom prst="rect">
            <a:avLst/>
          </a:prstGeom>
          <a:noFill/>
        </p:spPr>
        <p:txBody>
          <a:bodyPr wrap="square" lIns="0" tIns="0" rIns="0" bIns="0" anchor="t">
            <a:normAutofit/>
          </a:bodyPr>
          <a:lstStyle/>
          <a:p>
            <a:pPr marL="0" indent="0" algn="l">
              <a:lnSpc>
                <a:spcPts val="1860"/>
              </a:lnSpc>
              <a:buNone/>
            </a:pPr>
            <a:r>
              <a:rPr sz="1550" b="1">
                <a:solidFill>
                  <a:srgbClr val="1007DC"/>
                </a:solidFill>
                <a:latin typeface="Poppins"/>
                <a:ea typeface="Poppins"/>
                <a:cs typeface="Poppins"/>
              </a:rPr>
              <a:t>What is rarely asked</a:t>
            </a:r>
            <a:endParaRPr sz="1550"/>
          </a:p>
        </p:txBody>
      </p:sp>
      <p:sp>
        <p:nvSpPr>
          <p:cNvPr id="13" name="Text 11">
            <a:extLst>
              <a:ext uri="{FF2B5EF4-FFF2-40B4-BE49-F238E27FC236}">
                <a16:creationId xmlns:a16="http://schemas.microsoft.com/office/drawing/2014/main" id="{4A4DDC08-D914-4A3E-8F72-87F7AEBA8BA0}"/>
              </a:ext>
            </a:extLst>
          </p:cNvPr>
          <p:cNvSpPr>
            <a:spLocks noGrp="1"/>
          </p:cNvSpPr>
          <p:nvPr/>
        </p:nvSpPr>
        <p:spPr>
          <a:xfrm>
            <a:off x="8158592" y="2600108"/>
            <a:ext cx="3102564" cy="1176338"/>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Most studies emphasize familiar-fault classification. </a:t>
            </a:r>
            <a:r>
              <a:rPr sz="1250">
                <a:solidFill>
                  <a:srgbClr val="64748B"/>
                </a:solidFill>
                <a:highlight>
                  <a:srgbClr val="00FF00"/>
                </a:highlight>
                <a:latin typeface="DM Sans"/>
                <a:ea typeface="DM Sans"/>
                <a:cs typeface="DM Sans"/>
              </a:rPr>
              <a:t>MachineSense also measures the cost of declining to name an unfamiliar condition</a:t>
            </a:r>
            <a:r>
              <a:rPr sz="1250">
                <a:solidFill>
                  <a:srgbClr val="64748B"/>
                </a:solidFill>
                <a:latin typeface="DM Sans"/>
                <a:ea typeface="DM Sans"/>
                <a:cs typeface="DM Sans"/>
              </a:rPr>
              <a:t>.</a:t>
            </a:r>
            <a:endParaRPr sz="1250"/>
          </a:p>
        </p:txBody>
      </p:sp>
      <p:sp>
        <p:nvSpPr>
          <p:cNvPr id="14" name="Shape 12">
            <a:extLst>
              <a:ext uri="{FF2B5EF4-FFF2-40B4-BE49-F238E27FC236}">
                <a16:creationId xmlns:a16="http://schemas.microsoft.com/office/drawing/2014/main" id="{B5E705D0-167C-4028-873D-0E58D31044B7}"/>
              </a:ext>
            </a:extLst>
          </p:cNvPr>
          <p:cNvSpPr>
            <a:spLocks noGrp="1"/>
          </p:cNvSpPr>
          <p:nvPr/>
        </p:nvSpPr>
        <p:spPr>
          <a:xfrm>
            <a:off x="812767" y="4324530"/>
            <a:ext cx="5213366" cy="1517468"/>
          </a:xfrm>
          <a:custGeom>
            <a:avLst/>
            <a:gdLst/>
            <a:ahLst/>
            <a:cxnLst/>
            <a:rect l="l" t="t" r="r" b="b"/>
            <a:pathLst>
              <a:path w="5213366" h="1517468">
                <a:moveTo>
                  <a:pt x="0" y="0"/>
                </a:moveTo>
                <a:lnTo>
                  <a:pt x="5213366" y="0"/>
                </a:lnTo>
                <a:lnTo>
                  <a:pt x="5213366" y="1415868"/>
                </a:lnTo>
                <a:arcTo wR="101600" hR="101600" stAng="0" swAng="5400000"/>
                <a:lnTo>
                  <a:pt x="101600" y="1517468"/>
                </a:lnTo>
                <a:arcTo wR="101600" hR="101600" stAng="5400000" swAng="5400000"/>
                <a:lnTo>
                  <a:pt x="0" y="0"/>
                </a:lnTo>
                <a:close/>
              </a:path>
            </a:pathLst>
          </a:custGeom>
          <a:solidFill>
            <a:srgbClr val="FFFFFF"/>
          </a:solidFill>
        </p:spPr>
        <p:txBody>
          <a:bodyPr/>
          <a:lstStyle/>
          <a:p>
            <a:endParaRPr/>
          </a:p>
        </p:txBody>
      </p:sp>
      <p:sp>
        <p:nvSpPr>
          <p:cNvPr id="15" name="Shape 13">
            <a:extLst>
              <a:ext uri="{FF2B5EF4-FFF2-40B4-BE49-F238E27FC236}">
                <a16:creationId xmlns:a16="http://schemas.microsoft.com/office/drawing/2014/main" id="{513E64B5-F450-432C-A3C5-177E50A5B042}"/>
              </a:ext>
            </a:extLst>
          </p:cNvPr>
          <p:cNvSpPr>
            <a:spLocks noGrp="1"/>
          </p:cNvSpPr>
          <p:nvPr/>
        </p:nvSpPr>
        <p:spPr>
          <a:xfrm>
            <a:off x="812767" y="4324530"/>
            <a:ext cx="5213366" cy="1517468"/>
          </a:xfrm>
          <a:custGeom>
            <a:avLst/>
            <a:gdLst/>
            <a:ahLst/>
            <a:cxnLst/>
            <a:rect l="l" t="t" r="r" b="b"/>
            <a:pathLst>
              <a:path w="5213366" h="1517468">
                <a:moveTo>
                  <a:pt x="0" y="38100"/>
                </a:moveTo>
                <a:lnTo>
                  <a:pt x="0" y="0"/>
                </a:lnTo>
                <a:lnTo>
                  <a:pt x="5213366" y="0"/>
                </a:lnTo>
                <a:lnTo>
                  <a:pt x="5213366" y="38100"/>
                </a:lnTo>
                <a:lnTo>
                  <a:pt x="0" y="38100"/>
                </a:lnTo>
                <a:close/>
              </a:path>
            </a:pathLst>
          </a:custGeom>
          <a:solidFill>
            <a:srgbClr val="1007DC"/>
          </a:solidFill>
        </p:spPr>
        <p:txBody>
          <a:bodyPr/>
          <a:lstStyle/>
          <a:p>
            <a:endParaRPr/>
          </a:p>
        </p:txBody>
      </p:sp>
      <p:sp>
        <p:nvSpPr>
          <p:cNvPr id="16" name="Text 14">
            <a:extLst>
              <a:ext uri="{FF2B5EF4-FFF2-40B4-BE49-F238E27FC236}">
                <a16:creationId xmlns:a16="http://schemas.microsoft.com/office/drawing/2014/main" id="{9E03A23E-EEFE-4B49-9F3A-07EE9372278C}"/>
              </a:ext>
            </a:extLst>
          </p:cNvPr>
          <p:cNvSpPr>
            <a:spLocks noGrp="1"/>
          </p:cNvSpPr>
          <p:nvPr/>
        </p:nvSpPr>
        <p:spPr>
          <a:xfrm>
            <a:off x="1041301" y="4590107"/>
            <a:ext cx="4898988"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Benchmarking principle</a:t>
            </a:r>
            <a:endParaRPr sz="1600"/>
          </a:p>
        </p:txBody>
      </p:sp>
      <p:sp>
        <p:nvSpPr>
          <p:cNvPr id="17" name="Text 15">
            <a:extLst>
              <a:ext uri="{FF2B5EF4-FFF2-40B4-BE49-F238E27FC236}">
                <a16:creationId xmlns:a16="http://schemas.microsoft.com/office/drawing/2014/main" id="{71DD035B-B1BA-4630-AC9B-2E7FD4268723}"/>
              </a:ext>
            </a:extLst>
          </p:cNvPr>
          <p:cNvSpPr>
            <a:spLocks noGrp="1"/>
          </p:cNvSpPr>
          <p:nvPr/>
        </p:nvSpPr>
        <p:spPr>
          <a:xfrm>
            <a:off x="1041301" y="4922819"/>
            <a:ext cx="4898988" cy="715963"/>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Windows from the same recording stay together and results are reported per recording. Held-out operating settings test how performance changes beyond familiar examples.</a:t>
            </a:r>
            <a:endParaRPr sz="1250"/>
          </a:p>
        </p:txBody>
      </p:sp>
      <p:sp>
        <p:nvSpPr>
          <p:cNvPr id="18" name="Shape 16">
            <a:extLst>
              <a:ext uri="{FF2B5EF4-FFF2-40B4-BE49-F238E27FC236}">
                <a16:creationId xmlns:a16="http://schemas.microsoft.com/office/drawing/2014/main" id="{5588833E-E6D4-4A18-86DE-AFC4FB7633D8}"/>
              </a:ext>
            </a:extLst>
          </p:cNvPr>
          <p:cNvSpPr>
            <a:spLocks noGrp="1"/>
          </p:cNvSpPr>
          <p:nvPr/>
        </p:nvSpPr>
        <p:spPr>
          <a:xfrm>
            <a:off x="6165784" y="4324530"/>
            <a:ext cx="5213449" cy="1517468"/>
          </a:xfrm>
          <a:custGeom>
            <a:avLst/>
            <a:gdLst/>
            <a:ahLst/>
            <a:cxnLst/>
            <a:rect l="l" t="t" r="r" b="b"/>
            <a:pathLst>
              <a:path w="5213449" h="1517468">
                <a:moveTo>
                  <a:pt x="0" y="0"/>
                </a:moveTo>
                <a:lnTo>
                  <a:pt x="5213449" y="0"/>
                </a:lnTo>
                <a:lnTo>
                  <a:pt x="5213449" y="1415868"/>
                </a:lnTo>
                <a:arcTo wR="101600" hR="101600" stAng="0" swAng="5400000"/>
                <a:lnTo>
                  <a:pt x="101600" y="1517468"/>
                </a:lnTo>
                <a:arcTo wR="101600" hR="101600" stAng="5400000" swAng="5400000"/>
                <a:lnTo>
                  <a:pt x="0" y="0"/>
                </a:lnTo>
                <a:close/>
              </a:path>
            </a:pathLst>
          </a:custGeom>
          <a:solidFill>
            <a:srgbClr val="FFFFFF"/>
          </a:solidFill>
        </p:spPr>
        <p:txBody>
          <a:bodyPr/>
          <a:lstStyle/>
          <a:p>
            <a:endParaRPr/>
          </a:p>
        </p:txBody>
      </p:sp>
      <p:sp>
        <p:nvSpPr>
          <p:cNvPr id="19" name="Shape 17">
            <a:extLst>
              <a:ext uri="{FF2B5EF4-FFF2-40B4-BE49-F238E27FC236}">
                <a16:creationId xmlns:a16="http://schemas.microsoft.com/office/drawing/2014/main" id="{A2A65759-C017-4FD9-9B3C-CC87B13094F1}"/>
              </a:ext>
            </a:extLst>
          </p:cNvPr>
          <p:cNvSpPr>
            <a:spLocks noGrp="1"/>
          </p:cNvSpPr>
          <p:nvPr/>
        </p:nvSpPr>
        <p:spPr>
          <a:xfrm>
            <a:off x="6165784" y="4324530"/>
            <a:ext cx="5213449" cy="1517468"/>
          </a:xfrm>
          <a:custGeom>
            <a:avLst/>
            <a:gdLst/>
            <a:ahLst/>
            <a:cxnLst/>
            <a:rect l="l" t="t" r="r" b="b"/>
            <a:pathLst>
              <a:path w="5213449" h="1517468">
                <a:moveTo>
                  <a:pt x="0" y="38100"/>
                </a:moveTo>
                <a:lnTo>
                  <a:pt x="0" y="0"/>
                </a:lnTo>
                <a:lnTo>
                  <a:pt x="5213449" y="0"/>
                </a:lnTo>
                <a:lnTo>
                  <a:pt x="5213449" y="38100"/>
                </a:lnTo>
                <a:lnTo>
                  <a:pt x="0" y="38100"/>
                </a:lnTo>
                <a:close/>
              </a:path>
            </a:pathLst>
          </a:custGeom>
          <a:solidFill>
            <a:srgbClr val="F59E0B"/>
          </a:solidFill>
        </p:spPr>
        <p:txBody>
          <a:bodyPr/>
          <a:lstStyle/>
          <a:p>
            <a:endParaRPr/>
          </a:p>
        </p:txBody>
      </p:sp>
      <p:sp>
        <p:nvSpPr>
          <p:cNvPr id="20" name="Text 18">
            <a:extLst>
              <a:ext uri="{FF2B5EF4-FFF2-40B4-BE49-F238E27FC236}">
                <a16:creationId xmlns:a16="http://schemas.microsoft.com/office/drawing/2014/main" id="{CD298E07-9B5E-4441-A0E8-EF77F3074277}"/>
              </a:ext>
            </a:extLst>
          </p:cNvPr>
          <p:cNvSpPr>
            <a:spLocks noGrp="1"/>
          </p:cNvSpPr>
          <p:nvPr/>
        </p:nvSpPr>
        <p:spPr>
          <a:xfrm>
            <a:off x="6394317" y="4590107"/>
            <a:ext cx="4899073" cy="221026"/>
          </a:xfrm>
          <a:prstGeom prst="rect">
            <a:avLst/>
          </a:prstGeom>
          <a:noFill/>
        </p:spPr>
        <p:txBody>
          <a:bodyPr wrap="square" lIns="0" tIns="0" rIns="0" bIns="0" anchor="t">
            <a:normAutofit/>
          </a:bodyPr>
          <a:lstStyle/>
          <a:p>
            <a:pPr marL="0" indent="0" algn="l">
              <a:lnSpc>
                <a:spcPts val="1572"/>
              </a:lnSpc>
              <a:buNone/>
            </a:pPr>
            <a:r>
              <a:rPr sz="1310" b="1">
                <a:solidFill>
                  <a:srgbClr val="1E293B"/>
                </a:solidFill>
                <a:latin typeface="Poppins"/>
                <a:ea typeface="Poppins"/>
                <a:cs typeface="Poppins"/>
              </a:rPr>
              <a:t>On comparing numbers</a:t>
            </a:r>
            <a:endParaRPr sz="1310"/>
          </a:p>
        </p:txBody>
      </p:sp>
      <p:sp>
        <p:nvSpPr>
          <p:cNvPr id="21" name="Text 19">
            <a:extLst>
              <a:ext uri="{FF2B5EF4-FFF2-40B4-BE49-F238E27FC236}">
                <a16:creationId xmlns:a16="http://schemas.microsoft.com/office/drawing/2014/main" id="{8089F3BA-59C8-499C-946F-930CD6729180}"/>
              </a:ext>
            </a:extLst>
          </p:cNvPr>
          <p:cNvSpPr>
            <a:spLocks noGrp="1"/>
          </p:cNvSpPr>
          <p:nvPr/>
        </p:nvSpPr>
        <p:spPr>
          <a:xfrm>
            <a:off x="6394317" y="4874617"/>
            <a:ext cx="4899073" cy="764249"/>
          </a:xfrm>
          <a:prstGeom prst="rect">
            <a:avLst/>
          </a:prstGeom>
          <a:noFill/>
        </p:spPr>
        <p:txBody>
          <a:bodyPr wrap="square" lIns="0" tIns="0" rIns="0" bIns="0" anchor="t">
            <a:normAutofit/>
          </a:bodyPr>
          <a:lstStyle/>
          <a:p>
            <a:pPr marL="0" indent="0" algn="l">
              <a:lnSpc>
                <a:spcPts val="1637"/>
              </a:lnSpc>
              <a:buNone/>
            </a:pPr>
            <a:r>
              <a:rPr sz="1129">
                <a:solidFill>
                  <a:srgbClr val="64748B"/>
                </a:solidFill>
                <a:latin typeface="DM Sans"/>
                <a:ea typeface="DM Sans"/>
                <a:cs typeface="DM Sans"/>
              </a:rPr>
              <a:t>Published accuracy figures should not be ranked against MachineSense unless the classes and the evaluation protocol match. Where they do not, the comparison is stated as unavailable rather than made anyway.</a:t>
            </a:r>
            <a:endParaRPr sz="1129"/>
          </a:p>
        </p:txBody>
      </p:sp>
      <p:sp>
        <p:nvSpPr>
          <p:cNvPr id="22" name="Text 51">
            <a:extLst>
              <a:ext uri="{FF2B5EF4-FFF2-40B4-BE49-F238E27FC236}">
                <a16:creationId xmlns:a16="http://schemas.microsoft.com/office/drawing/2014/main" id="{074F33A0-FB48-4489-AACA-FD6D7C88E084}"/>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09</a:t>
            </a:r>
            <a:endParaRPr lang="en-US" sz="1200" dirty="0"/>
          </a:p>
        </p:txBody>
      </p:sp>
    </p:spTree>
    <p:extLst>
      <p:ext uri="{BB962C8B-B14F-4D97-AF65-F5344CB8AC3E}">
        <p14:creationId xmlns:p14="http://schemas.microsoft.com/office/powerpoint/2010/main" val="468703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9718ACC-D7FF-467D-8397-38CA44BEDE2C}"/>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868A6014-64D2-4DFF-B4DE-1C489F45D577}"/>
              </a:ext>
            </a:extLst>
          </p:cNvPr>
          <p:cNvSpPr>
            <a:spLocks noGrp="1"/>
          </p:cNvSpPr>
          <p:nvPr/>
        </p:nvSpPr>
        <p:spPr>
          <a:xfrm>
            <a:off x="812767" y="812763"/>
            <a:ext cx="5172786" cy="402514"/>
          </a:xfrm>
          <a:prstGeom prst="rect">
            <a:avLst/>
          </a:prstGeom>
          <a:noFill/>
        </p:spPr>
        <p:txBody>
          <a:bodyPr wrap="square" lIns="0" tIns="0" rIns="0" bIns="0" anchor="t">
            <a:normAutofit/>
          </a:bodyPr>
          <a:lstStyle/>
          <a:p>
            <a:pPr marL="0" indent="0" algn="l">
              <a:lnSpc>
                <a:spcPts val="2970"/>
              </a:lnSpc>
              <a:buNone/>
            </a:pPr>
            <a:r>
              <a:rPr sz="2700" b="1">
                <a:solidFill>
                  <a:srgbClr val="1007DC"/>
                </a:solidFill>
                <a:latin typeface="Poppins"/>
                <a:ea typeface="Poppins"/>
                <a:cs typeface="Poppins"/>
              </a:rPr>
              <a:t>Where MachineSense differs</a:t>
            </a:r>
            <a:endParaRPr sz="2700"/>
          </a:p>
        </p:txBody>
      </p:sp>
      <p:sp>
        <p:nvSpPr>
          <p:cNvPr id="4" name="Text 2">
            <a:extLst>
              <a:ext uri="{FF2B5EF4-FFF2-40B4-BE49-F238E27FC236}">
                <a16:creationId xmlns:a16="http://schemas.microsoft.com/office/drawing/2014/main" id="{2DFB7D6E-E98F-44DF-A435-FCA4500E1B9E}"/>
              </a:ext>
            </a:extLst>
          </p:cNvPr>
          <p:cNvSpPr>
            <a:spLocks noGrp="1"/>
          </p:cNvSpPr>
          <p:nvPr/>
        </p:nvSpPr>
        <p:spPr>
          <a:xfrm>
            <a:off x="7442233" y="934473"/>
            <a:ext cx="4055110" cy="523147"/>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Rotating-machinery fault diagnosis on this benchmark and its neighbours.</a:t>
            </a:r>
            <a:endParaRPr sz="1400"/>
          </a:p>
        </p:txBody>
      </p:sp>
      <p:sp>
        <p:nvSpPr>
          <p:cNvPr id="5" name="Shape 3">
            <a:extLst>
              <a:ext uri="{FF2B5EF4-FFF2-40B4-BE49-F238E27FC236}">
                <a16:creationId xmlns:a16="http://schemas.microsoft.com/office/drawing/2014/main" id="{700E8524-0341-47FF-8114-AD3DBF8161AA}"/>
              </a:ext>
            </a:extLst>
          </p:cNvPr>
          <p:cNvSpPr>
            <a:spLocks noGrp="1"/>
          </p:cNvSpPr>
          <p:nvPr/>
        </p:nvSpPr>
        <p:spPr>
          <a:xfrm>
            <a:off x="815942" y="1488560"/>
            <a:ext cx="10560116" cy="3793067"/>
          </a:xfrm>
          <a:prstGeom prst="roundRect">
            <a:avLst>
              <a:gd name="adj" fmla="val 2595"/>
            </a:avLst>
          </a:prstGeom>
          <a:solidFill>
            <a:srgbClr val="FFFFFF"/>
          </a:solidFill>
          <a:ln w="6350">
            <a:solidFill>
              <a:srgbClr val="E2E8F0"/>
            </a:solidFill>
            <a:prstDash val="solid"/>
          </a:ln>
        </p:spPr>
        <p:txBody>
          <a:bodyPr/>
          <a:lstStyle/>
          <a:p>
            <a:endParaRPr/>
          </a:p>
        </p:txBody>
      </p:sp>
      <p:sp>
        <p:nvSpPr>
          <p:cNvPr id="6" name="Shape 4">
            <a:extLst>
              <a:ext uri="{FF2B5EF4-FFF2-40B4-BE49-F238E27FC236}">
                <a16:creationId xmlns:a16="http://schemas.microsoft.com/office/drawing/2014/main" id="{DF7E1358-4601-4D97-BED9-D575060AD728}"/>
              </a:ext>
            </a:extLst>
          </p:cNvPr>
          <p:cNvSpPr>
            <a:spLocks noGrp="1"/>
          </p:cNvSpPr>
          <p:nvPr/>
        </p:nvSpPr>
        <p:spPr>
          <a:xfrm>
            <a:off x="818059" y="1490675"/>
            <a:ext cx="10555883" cy="329324"/>
          </a:xfrm>
          <a:custGeom>
            <a:avLst/>
            <a:gdLst/>
            <a:ahLst/>
            <a:cxnLst/>
            <a:rect l="l" t="t" r="r" b="b"/>
            <a:pathLst>
              <a:path w="10555883" h="329324">
                <a:moveTo>
                  <a:pt x="0" y="96308"/>
                </a:moveTo>
                <a:arcTo wR="96308" hR="96308" stAng="10800000" swAng="5400000"/>
                <a:lnTo>
                  <a:pt x="10459574" y="0"/>
                </a:lnTo>
                <a:arcTo wR="96308" hR="96308" stAng="16200000" swAng="5400000"/>
                <a:lnTo>
                  <a:pt x="10555883" y="329324"/>
                </a:lnTo>
                <a:lnTo>
                  <a:pt x="0" y="329324"/>
                </a:lnTo>
                <a:close/>
              </a:path>
            </a:pathLst>
          </a:custGeom>
          <a:solidFill>
            <a:srgbClr val="1007DC"/>
          </a:solidFill>
        </p:spPr>
        <p:txBody>
          <a:bodyPr/>
          <a:lstStyle/>
          <a:p>
            <a:endParaRPr/>
          </a:p>
        </p:txBody>
      </p:sp>
      <p:sp>
        <p:nvSpPr>
          <p:cNvPr id="7" name="Shape 5">
            <a:extLst>
              <a:ext uri="{FF2B5EF4-FFF2-40B4-BE49-F238E27FC236}">
                <a16:creationId xmlns:a16="http://schemas.microsoft.com/office/drawing/2014/main" id="{D39CCFAE-2BB3-424C-801F-A95DA61820D6}"/>
              </a:ext>
            </a:extLst>
          </p:cNvPr>
          <p:cNvSpPr>
            <a:spLocks noGrp="1"/>
          </p:cNvSpPr>
          <p:nvPr/>
        </p:nvSpPr>
        <p:spPr>
          <a:xfrm>
            <a:off x="818059" y="1490675"/>
            <a:ext cx="10555883" cy="329324"/>
          </a:xfrm>
          <a:custGeom>
            <a:avLst/>
            <a:gdLst/>
            <a:ahLst/>
            <a:cxnLst/>
            <a:rect l="l" t="t" r="r" b="b"/>
            <a:pathLst>
              <a:path w="10555883" h="329324">
                <a:moveTo>
                  <a:pt x="0" y="322974"/>
                </a:moveTo>
                <a:lnTo>
                  <a:pt x="10555883" y="322974"/>
                </a:lnTo>
                <a:lnTo>
                  <a:pt x="10555883" y="329324"/>
                </a:lnTo>
                <a:lnTo>
                  <a:pt x="0" y="329324"/>
                </a:lnTo>
                <a:lnTo>
                  <a:pt x="0" y="322974"/>
                </a:lnTo>
                <a:close/>
              </a:path>
            </a:pathLst>
          </a:custGeom>
          <a:solidFill>
            <a:srgbClr val="E2E8F0"/>
          </a:solidFill>
        </p:spPr>
        <p:txBody>
          <a:bodyPr/>
          <a:lstStyle/>
          <a:p>
            <a:endParaRPr/>
          </a:p>
        </p:txBody>
      </p:sp>
      <p:sp>
        <p:nvSpPr>
          <p:cNvPr id="8" name="Text 6">
            <a:extLst>
              <a:ext uri="{FF2B5EF4-FFF2-40B4-BE49-F238E27FC236}">
                <a16:creationId xmlns:a16="http://schemas.microsoft.com/office/drawing/2014/main" id="{ADEEE58A-29E1-4BD3-B682-18B534244154}"/>
              </a:ext>
            </a:extLst>
          </p:cNvPr>
          <p:cNvSpPr>
            <a:spLocks noGrp="1"/>
          </p:cNvSpPr>
          <p:nvPr/>
        </p:nvSpPr>
        <p:spPr>
          <a:xfrm>
            <a:off x="995825" y="1585925"/>
            <a:ext cx="2812415" cy="207053"/>
          </a:xfrm>
          <a:prstGeom prst="rect">
            <a:avLst/>
          </a:prstGeom>
          <a:noFill/>
        </p:spPr>
        <p:txBody>
          <a:bodyPr wrap="square" lIns="0" tIns="0" rIns="0" bIns="0" anchor="t">
            <a:normAutofit/>
          </a:bodyPr>
          <a:lstStyle/>
          <a:p>
            <a:pPr marL="0" indent="0" algn="l">
              <a:lnSpc>
                <a:spcPts val="1430"/>
              </a:lnSpc>
              <a:buNone/>
            </a:pPr>
            <a:r>
              <a:rPr sz="1100" b="1">
                <a:solidFill>
                  <a:srgbClr val="FFFFFF"/>
                </a:solidFill>
                <a:latin typeface="DM Sans"/>
                <a:ea typeface="DM Sans"/>
                <a:cs typeface="DM Sans"/>
              </a:rPr>
              <a:t>WORK</a:t>
            </a:r>
            <a:endParaRPr sz="1100"/>
          </a:p>
        </p:txBody>
      </p:sp>
      <p:sp>
        <p:nvSpPr>
          <p:cNvPr id="9" name="Text 7">
            <a:extLst>
              <a:ext uri="{FF2B5EF4-FFF2-40B4-BE49-F238E27FC236}">
                <a16:creationId xmlns:a16="http://schemas.microsoft.com/office/drawing/2014/main" id="{61161887-54CD-401F-9E82-D311F05A6479}"/>
              </a:ext>
            </a:extLst>
          </p:cNvPr>
          <p:cNvSpPr>
            <a:spLocks noGrp="1"/>
          </p:cNvSpPr>
          <p:nvPr/>
        </p:nvSpPr>
        <p:spPr>
          <a:xfrm>
            <a:off x="3853325" y="1585925"/>
            <a:ext cx="1638300" cy="207053"/>
          </a:xfrm>
          <a:prstGeom prst="rect">
            <a:avLst/>
          </a:prstGeom>
          <a:noFill/>
        </p:spPr>
        <p:txBody>
          <a:bodyPr wrap="square" lIns="0" tIns="0" rIns="0" bIns="0" anchor="t">
            <a:normAutofit/>
          </a:bodyPr>
          <a:lstStyle/>
          <a:p>
            <a:pPr marL="0" indent="0" algn="l">
              <a:lnSpc>
                <a:spcPts val="1430"/>
              </a:lnSpc>
              <a:buNone/>
            </a:pPr>
            <a:r>
              <a:rPr sz="1100" b="1">
                <a:solidFill>
                  <a:srgbClr val="FFFFFF"/>
                </a:solidFill>
                <a:latin typeface="DM Sans"/>
                <a:ea typeface="DM Sans"/>
                <a:cs typeface="DM Sans"/>
              </a:rPr>
              <a:t>DATA</a:t>
            </a:r>
            <a:endParaRPr sz="1100"/>
          </a:p>
        </p:txBody>
      </p:sp>
      <p:sp>
        <p:nvSpPr>
          <p:cNvPr id="10" name="Text 8">
            <a:extLst>
              <a:ext uri="{FF2B5EF4-FFF2-40B4-BE49-F238E27FC236}">
                <a16:creationId xmlns:a16="http://schemas.microsoft.com/office/drawing/2014/main" id="{FBC38ACB-B1B6-4589-A5DC-25F417A36025}"/>
              </a:ext>
            </a:extLst>
          </p:cNvPr>
          <p:cNvSpPr>
            <a:spLocks noGrp="1"/>
          </p:cNvSpPr>
          <p:nvPr/>
        </p:nvSpPr>
        <p:spPr>
          <a:xfrm>
            <a:off x="5567825" y="1585925"/>
            <a:ext cx="1728586" cy="207053"/>
          </a:xfrm>
          <a:prstGeom prst="rect">
            <a:avLst/>
          </a:prstGeom>
          <a:noFill/>
        </p:spPr>
        <p:txBody>
          <a:bodyPr wrap="square" lIns="0" tIns="0" rIns="0" bIns="0" anchor="t">
            <a:normAutofit/>
          </a:bodyPr>
          <a:lstStyle/>
          <a:p>
            <a:pPr marL="0" indent="0" algn="l">
              <a:lnSpc>
                <a:spcPts val="1430"/>
              </a:lnSpc>
              <a:buNone/>
            </a:pPr>
            <a:r>
              <a:rPr sz="1100" b="1">
                <a:solidFill>
                  <a:srgbClr val="FFFFFF"/>
                </a:solidFill>
                <a:latin typeface="DM Sans"/>
                <a:ea typeface="DM Sans"/>
                <a:cs typeface="DM Sans"/>
              </a:rPr>
              <a:t>SPLIT UNIT</a:t>
            </a:r>
            <a:endParaRPr sz="1100"/>
          </a:p>
        </p:txBody>
      </p:sp>
      <p:sp>
        <p:nvSpPr>
          <p:cNvPr id="11" name="Text 9">
            <a:extLst>
              <a:ext uri="{FF2B5EF4-FFF2-40B4-BE49-F238E27FC236}">
                <a16:creationId xmlns:a16="http://schemas.microsoft.com/office/drawing/2014/main" id="{273EFE48-8124-4C7C-8AD6-6082515F3333}"/>
              </a:ext>
            </a:extLst>
          </p:cNvPr>
          <p:cNvSpPr>
            <a:spLocks noGrp="1"/>
          </p:cNvSpPr>
          <p:nvPr/>
        </p:nvSpPr>
        <p:spPr>
          <a:xfrm>
            <a:off x="8044147" y="1587308"/>
            <a:ext cx="1320800" cy="207053"/>
          </a:xfrm>
          <a:prstGeom prst="rect">
            <a:avLst/>
          </a:prstGeom>
          <a:noFill/>
        </p:spPr>
        <p:txBody>
          <a:bodyPr wrap="square" lIns="0" tIns="0" rIns="0" bIns="0" anchor="t">
            <a:normAutofit/>
          </a:bodyPr>
          <a:lstStyle/>
          <a:p>
            <a:pPr marL="0" indent="0" algn="l">
              <a:lnSpc>
                <a:spcPts val="1430"/>
              </a:lnSpc>
              <a:buNone/>
            </a:pPr>
            <a:r>
              <a:rPr sz="1100" b="1">
                <a:solidFill>
                  <a:srgbClr val="FFFFFF"/>
                </a:solidFill>
                <a:latin typeface="DM Sans"/>
                <a:ea typeface="DM Sans"/>
                <a:cs typeface="DM Sans"/>
              </a:rPr>
              <a:t>OPEN SET</a:t>
            </a:r>
            <a:endParaRPr sz="1100"/>
          </a:p>
        </p:txBody>
      </p:sp>
      <p:sp>
        <p:nvSpPr>
          <p:cNvPr id="12" name="Text 10">
            <a:extLst>
              <a:ext uri="{FF2B5EF4-FFF2-40B4-BE49-F238E27FC236}">
                <a16:creationId xmlns:a16="http://schemas.microsoft.com/office/drawing/2014/main" id="{FD8DCBBC-5D32-4FBF-9F22-D5A1ECB577DA}"/>
              </a:ext>
            </a:extLst>
          </p:cNvPr>
          <p:cNvSpPr>
            <a:spLocks noGrp="1"/>
          </p:cNvSpPr>
          <p:nvPr/>
        </p:nvSpPr>
        <p:spPr>
          <a:xfrm>
            <a:off x="9441147" y="1587308"/>
            <a:ext cx="1574800" cy="207053"/>
          </a:xfrm>
          <a:prstGeom prst="rect">
            <a:avLst/>
          </a:prstGeom>
          <a:noFill/>
        </p:spPr>
        <p:txBody>
          <a:bodyPr wrap="square" lIns="0" tIns="0" rIns="0" bIns="0" anchor="t">
            <a:normAutofit/>
          </a:bodyPr>
          <a:lstStyle/>
          <a:p>
            <a:pPr marL="0" indent="0" algn="l">
              <a:lnSpc>
                <a:spcPts val="1430"/>
              </a:lnSpc>
              <a:buNone/>
            </a:pPr>
            <a:r>
              <a:rPr sz="1100" b="1">
                <a:solidFill>
                  <a:srgbClr val="FFFFFF"/>
                </a:solidFill>
                <a:latin typeface="DM Sans"/>
                <a:ea typeface="DM Sans"/>
                <a:cs typeface="DM Sans"/>
              </a:rPr>
              <a:t>EXPLANATION</a:t>
            </a:r>
            <a:endParaRPr sz="1100"/>
          </a:p>
        </p:txBody>
      </p:sp>
      <p:sp>
        <p:nvSpPr>
          <p:cNvPr id="13" name="Shape 11">
            <a:extLst>
              <a:ext uri="{FF2B5EF4-FFF2-40B4-BE49-F238E27FC236}">
                <a16:creationId xmlns:a16="http://schemas.microsoft.com/office/drawing/2014/main" id="{35516EB3-9E18-414C-BB8C-CF9FC5B99EE3}"/>
              </a:ext>
            </a:extLst>
          </p:cNvPr>
          <p:cNvSpPr>
            <a:spLocks noGrp="1"/>
          </p:cNvSpPr>
          <p:nvPr/>
        </p:nvSpPr>
        <p:spPr>
          <a:xfrm>
            <a:off x="818059" y="2291008"/>
            <a:ext cx="10555883" cy="0"/>
          </a:xfrm>
          <a:prstGeom prst="line">
            <a:avLst/>
          </a:prstGeom>
          <a:noFill/>
          <a:ln w="6350">
            <a:solidFill>
              <a:srgbClr val="E2E8F0"/>
            </a:solidFill>
            <a:prstDash val="solid"/>
          </a:ln>
        </p:spPr>
        <p:txBody>
          <a:bodyPr/>
          <a:lstStyle/>
          <a:p>
            <a:endParaRPr/>
          </a:p>
        </p:txBody>
      </p:sp>
      <p:sp>
        <p:nvSpPr>
          <p:cNvPr id="14" name="Text 12">
            <a:extLst>
              <a:ext uri="{FF2B5EF4-FFF2-40B4-BE49-F238E27FC236}">
                <a16:creationId xmlns:a16="http://schemas.microsoft.com/office/drawing/2014/main" id="{6F0E5BD5-F5CC-444A-867E-005DE29DCEFA}"/>
              </a:ext>
            </a:extLst>
          </p:cNvPr>
          <p:cNvSpPr>
            <a:spLocks noGrp="1"/>
          </p:cNvSpPr>
          <p:nvPr/>
        </p:nvSpPr>
        <p:spPr>
          <a:xfrm>
            <a:off x="995825" y="1856145"/>
            <a:ext cx="2789141" cy="421448"/>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Ribeiro et al., SBrT 2017</a:t>
            </a:r>
            <a:endParaRPr sz="1100"/>
          </a:p>
          <a:p>
            <a:pPr marL="0" indent="0" algn="l">
              <a:lnSpc>
                <a:spcPts val="1560"/>
              </a:lnSpc>
              <a:buNone/>
            </a:pPr>
            <a:r>
              <a:rPr sz="1100">
                <a:solidFill>
                  <a:srgbClr val="1E293B"/>
                </a:solidFill>
                <a:latin typeface="DM Sans"/>
                <a:ea typeface="DM Sans"/>
                <a:cs typeface="DM Sans"/>
              </a:rPr>
              <a:t>similarity-based models</a:t>
            </a:r>
            <a:endParaRPr sz="1100"/>
          </a:p>
        </p:txBody>
      </p:sp>
      <p:sp>
        <p:nvSpPr>
          <p:cNvPr id="15" name="Text 13">
            <a:extLst>
              <a:ext uri="{FF2B5EF4-FFF2-40B4-BE49-F238E27FC236}">
                <a16:creationId xmlns:a16="http://schemas.microsoft.com/office/drawing/2014/main" id="{CEE9D7CE-C175-45A1-ACD8-D258BB0DD46C}"/>
              </a:ext>
            </a:extLst>
          </p:cNvPr>
          <p:cNvSpPr>
            <a:spLocks noGrp="1"/>
          </p:cNvSpPr>
          <p:nvPr/>
        </p:nvSpPr>
        <p:spPr>
          <a:xfrm>
            <a:off x="3853325" y="1908882"/>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MAFAULDA</a:t>
            </a:r>
            <a:endParaRPr sz="1100"/>
          </a:p>
        </p:txBody>
      </p:sp>
      <p:sp>
        <p:nvSpPr>
          <p:cNvPr id="16" name="Text 14">
            <a:extLst>
              <a:ext uri="{FF2B5EF4-FFF2-40B4-BE49-F238E27FC236}">
                <a16:creationId xmlns:a16="http://schemas.microsoft.com/office/drawing/2014/main" id="{D95EDDB8-7D93-47F8-B885-E69B15173976}"/>
              </a:ext>
            </a:extLst>
          </p:cNvPr>
          <p:cNvSpPr>
            <a:spLocks noGrp="1"/>
          </p:cNvSpPr>
          <p:nvPr/>
        </p:nvSpPr>
        <p:spPr>
          <a:xfrm>
            <a:off x="5567825" y="1908882"/>
            <a:ext cx="1728586" cy="421448"/>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random sample split</a:t>
            </a:r>
            <a:endParaRPr sz="1100"/>
          </a:p>
        </p:txBody>
      </p:sp>
      <p:sp>
        <p:nvSpPr>
          <p:cNvPr id="17" name="Text 15">
            <a:extLst>
              <a:ext uri="{FF2B5EF4-FFF2-40B4-BE49-F238E27FC236}">
                <a16:creationId xmlns:a16="http://schemas.microsoft.com/office/drawing/2014/main" id="{0D5DB0F4-F0AC-485B-A57C-1509C5CA1D82}"/>
              </a:ext>
            </a:extLst>
          </p:cNvPr>
          <p:cNvSpPr>
            <a:spLocks noGrp="1"/>
          </p:cNvSpPr>
          <p:nvPr/>
        </p:nvSpPr>
        <p:spPr>
          <a:xfrm>
            <a:off x="8044147" y="1910265"/>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a:t>
            </a:r>
            <a:endParaRPr sz="1100"/>
          </a:p>
        </p:txBody>
      </p:sp>
      <p:sp>
        <p:nvSpPr>
          <p:cNvPr id="18" name="Text 16">
            <a:extLst>
              <a:ext uri="{FF2B5EF4-FFF2-40B4-BE49-F238E27FC236}">
                <a16:creationId xmlns:a16="http://schemas.microsoft.com/office/drawing/2014/main" id="{BE3F5E0A-F1E5-42AF-BA4F-7AC9C4009D8E}"/>
              </a:ext>
            </a:extLst>
          </p:cNvPr>
          <p:cNvSpPr>
            <a:spLocks noGrp="1"/>
          </p:cNvSpPr>
          <p:nvPr/>
        </p:nvSpPr>
        <p:spPr>
          <a:xfrm>
            <a:off x="9441147" y="1910265"/>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none</a:t>
            </a:r>
            <a:endParaRPr sz="1100"/>
          </a:p>
        </p:txBody>
      </p:sp>
      <p:sp>
        <p:nvSpPr>
          <p:cNvPr id="19" name="Shape 17">
            <a:extLst>
              <a:ext uri="{FF2B5EF4-FFF2-40B4-BE49-F238E27FC236}">
                <a16:creationId xmlns:a16="http://schemas.microsoft.com/office/drawing/2014/main" id="{81557AA1-6752-405A-915E-EDAC61D230CD}"/>
              </a:ext>
            </a:extLst>
          </p:cNvPr>
          <p:cNvSpPr>
            <a:spLocks noGrp="1"/>
          </p:cNvSpPr>
          <p:nvPr/>
        </p:nvSpPr>
        <p:spPr>
          <a:xfrm>
            <a:off x="818059" y="2765193"/>
            <a:ext cx="10555883" cy="0"/>
          </a:xfrm>
          <a:prstGeom prst="line">
            <a:avLst/>
          </a:prstGeom>
          <a:noFill/>
          <a:ln w="6350">
            <a:solidFill>
              <a:srgbClr val="E2E8F0"/>
            </a:solidFill>
            <a:prstDash val="solid"/>
          </a:ln>
        </p:spPr>
        <p:txBody>
          <a:bodyPr/>
          <a:lstStyle/>
          <a:p>
            <a:endParaRPr/>
          </a:p>
        </p:txBody>
      </p:sp>
      <p:sp>
        <p:nvSpPr>
          <p:cNvPr id="20" name="Text 18">
            <a:extLst>
              <a:ext uri="{FF2B5EF4-FFF2-40B4-BE49-F238E27FC236}">
                <a16:creationId xmlns:a16="http://schemas.microsoft.com/office/drawing/2014/main" id="{9CB1BF97-0BD7-48D0-9988-C829386E2B0D}"/>
              </a:ext>
            </a:extLst>
          </p:cNvPr>
          <p:cNvSpPr>
            <a:spLocks noGrp="1"/>
          </p:cNvSpPr>
          <p:nvPr/>
        </p:nvSpPr>
        <p:spPr>
          <a:xfrm>
            <a:off x="995825" y="2330330"/>
            <a:ext cx="2940071" cy="421448"/>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Souza et al., Comp. &amp; Ind. Eng. 2021</a:t>
            </a:r>
            <a:endParaRPr sz="1100"/>
          </a:p>
          <a:p>
            <a:pPr marL="0" indent="0" algn="l">
              <a:lnSpc>
                <a:spcPts val="1560"/>
              </a:lnSpc>
              <a:buNone/>
            </a:pPr>
            <a:r>
              <a:rPr sz="1100">
                <a:solidFill>
                  <a:srgbClr val="1E293B"/>
                </a:solidFill>
                <a:latin typeface="DM Sans"/>
                <a:ea typeface="DM Sans"/>
                <a:cs typeface="DM Sans"/>
              </a:rPr>
              <a:t>deep learning for rotating machinery</a:t>
            </a:r>
            <a:endParaRPr sz="1100"/>
          </a:p>
        </p:txBody>
      </p:sp>
      <p:sp>
        <p:nvSpPr>
          <p:cNvPr id="21" name="Text 19">
            <a:extLst>
              <a:ext uri="{FF2B5EF4-FFF2-40B4-BE49-F238E27FC236}">
                <a16:creationId xmlns:a16="http://schemas.microsoft.com/office/drawing/2014/main" id="{330745D5-E1A3-4018-B040-96A0B2951C6F}"/>
              </a:ext>
            </a:extLst>
          </p:cNvPr>
          <p:cNvSpPr>
            <a:spLocks noGrp="1"/>
          </p:cNvSpPr>
          <p:nvPr/>
        </p:nvSpPr>
        <p:spPr>
          <a:xfrm>
            <a:off x="3853325" y="2383067"/>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MAFAULDA</a:t>
            </a:r>
            <a:endParaRPr sz="1100"/>
          </a:p>
        </p:txBody>
      </p:sp>
      <p:sp>
        <p:nvSpPr>
          <p:cNvPr id="22" name="Text 20">
            <a:extLst>
              <a:ext uri="{FF2B5EF4-FFF2-40B4-BE49-F238E27FC236}">
                <a16:creationId xmlns:a16="http://schemas.microsoft.com/office/drawing/2014/main" id="{F774D9FE-9992-46F8-B091-E21FF053BCD1}"/>
              </a:ext>
            </a:extLst>
          </p:cNvPr>
          <p:cNvSpPr>
            <a:spLocks noGrp="1"/>
          </p:cNvSpPr>
          <p:nvPr/>
        </p:nvSpPr>
        <p:spPr>
          <a:xfrm>
            <a:off x="5567825" y="2383067"/>
            <a:ext cx="1728586" cy="421448"/>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different protocol</a:t>
            </a:r>
            <a:endParaRPr sz="1100"/>
          </a:p>
        </p:txBody>
      </p:sp>
      <p:sp>
        <p:nvSpPr>
          <p:cNvPr id="23" name="Text 21">
            <a:extLst>
              <a:ext uri="{FF2B5EF4-FFF2-40B4-BE49-F238E27FC236}">
                <a16:creationId xmlns:a16="http://schemas.microsoft.com/office/drawing/2014/main" id="{C5FA36E0-11BE-4570-88CA-88286C345A96}"/>
              </a:ext>
            </a:extLst>
          </p:cNvPr>
          <p:cNvSpPr>
            <a:spLocks noGrp="1"/>
          </p:cNvSpPr>
          <p:nvPr/>
        </p:nvSpPr>
        <p:spPr>
          <a:xfrm>
            <a:off x="8044147" y="2384450"/>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a:t>
            </a:r>
            <a:endParaRPr sz="1100"/>
          </a:p>
        </p:txBody>
      </p:sp>
      <p:sp>
        <p:nvSpPr>
          <p:cNvPr id="24" name="Text 22">
            <a:extLst>
              <a:ext uri="{FF2B5EF4-FFF2-40B4-BE49-F238E27FC236}">
                <a16:creationId xmlns:a16="http://schemas.microsoft.com/office/drawing/2014/main" id="{72A0CA90-B58D-4282-B753-E09A22CAEEC6}"/>
              </a:ext>
            </a:extLst>
          </p:cNvPr>
          <p:cNvSpPr>
            <a:spLocks noGrp="1"/>
          </p:cNvSpPr>
          <p:nvPr/>
        </p:nvSpPr>
        <p:spPr>
          <a:xfrm>
            <a:off x="9441147" y="2384450"/>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none</a:t>
            </a:r>
            <a:endParaRPr sz="1100"/>
          </a:p>
        </p:txBody>
      </p:sp>
      <p:sp>
        <p:nvSpPr>
          <p:cNvPr id="25" name="Shape 23">
            <a:extLst>
              <a:ext uri="{FF2B5EF4-FFF2-40B4-BE49-F238E27FC236}">
                <a16:creationId xmlns:a16="http://schemas.microsoft.com/office/drawing/2014/main" id="{6AEAB908-B7BD-4FBC-9BDA-B33918BD390E}"/>
              </a:ext>
            </a:extLst>
          </p:cNvPr>
          <p:cNvSpPr>
            <a:spLocks noGrp="1"/>
          </p:cNvSpPr>
          <p:nvPr/>
        </p:nvSpPr>
        <p:spPr>
          <a:xfrm>
            <a:off x="818059" y="3239372"/>
            <a:ext cx="10555883" cy="0"/>
          </a:xfrm>
          <a:prstGeom prst="line">
            <a:avLst/>
          </a:prstGeom>
          <a:noFill/>
          <a:ln w="6350">
            <a:solidFill>
              <a:srgbClr val="E2E8F0"/>
            </a:solidFill>
            <a:prstDash val="solid"/>
          </a:ln>
        </p:spPr>
        <p:txBody>
          <a:bodyPr/>
          <a:lstStyle/>
          <a:p>
            <a:endParaRPr/>
          </a:p>
        </p:txBody>
      </p:sp>
      <p:sp>
        <p:nvSpPr>
          <p:cNvPr id="26" name="Text 24">
            <a:extLst>
              <a:ext uri="{FF2B5EF4-FFF2-40B4-BE49-F238E27FC236}">
                <a16:creationId xmlns:a16="http://schemas.microsoft.com/office/drawing/2014/main" id="{6E16D3F3-951B-45C7-94DB-EB5C9E6DEF96}"/>
              </a:ext>
            </a:extLst>
          </p:cNvPr>
          <p:cNvSpPr>
            <a:spLocks noGrp="1"/>
          </p:cNvSpPr>
          <p:nvPr/>
        </p:nvSpPr>
        <p:spPr>
          <a:xfrm>
            <a:off x="995825" y="2804515"/>
            <a:ext cx="2940071" cy="421448"/>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Nascimento et al., arXiv 2022</a:t>
            </a:r>
            <a:endParaRPr sz="1100"/>
          </a:p>
          <a:p>
            <a:pPr marL="0" indent="0" algn="l">
              <a:lnSpc>
                <a:spcPts val="1560"/>
              </a:lnSpc>
              <a:buNone/>
            </a:pPr>
            <a:r>
              <a:rPr sz="1100">
                <a:solidFill>
                  <a:srgbClr val="1E293B"/>
                </a:solidFill>
                <a:latin typeface="DM Sans"/>
                <a:ea typeface="DM Sans"/>
                <a:cs typeface="DM Sans"/>
              </a:rPr>
              <a:t>T4PdM, transformer</a:t>
            </a:r>
            <a:endParaRPr sz="1100"/>
          </a:p>
        </p:txBody>
      </p:sp>
      <p:sp>
        <p:nvSpPr>
          <p:cNvPr id="27" name="Text 25">
            <a:extLst>
              <a:ext uri="{FF2B5EF4-FFF2-40B4-BE49-F238E27FC236}">
                <a16:creationId xmlns:a16="http://schemas.microsoft.com/office/drawing/2014/main" id="{4894129A-9DBA-4FDD-934B-52CA455AB8DF}"/>
              </a:ext>
            </a:extLst>
          </p:cNvPr>
          <p:cNvSpPr>
            <a:spLocks noGrp="1"/>
          </p:cNvSpPr>
          <p:nvPr/>
        </p:nvSpPr>
        <p:spPr>
          <a:xfrm>
            <a:off x="3853325" y="2857252"/>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MAFAULDA subset</a:t>
            </a:r>
            <a:endParaRPr sz="1100"/>
          </a:p>
        </p:txBody>
      </p:sp>
      <p:sp>
        <p:nvSpPr>
          <p:cNvPr id="28" name="Text 26">
            <a:extLst>
              <a:ext uri="{FF2B5EF4-FFF2-40B4-BE49-F238E27FC236}">
                <a16:creationId xmlns:a16="http://schemas.microsoft.com/office/drawing/2014/main" id="{5DDE8806-5BAE-4E2A-A585-E81F663BFBA0}"/>
              </a:ext>
            </a:extLst>
          </p:cNvPr>
          <p:cNvSpPr>
            <a:spLocks noGrp="1"/>
          </p:cNvSpPr>
          <p:nvPr/>
        </p:nvSpPr>
        <p:spPr>
          <a:xfrm>
            <a:off x="5567825" y="2857252"/>
            <a:ext cx="1728586" cy="421448"/>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different protocol</a:t>
            </a:r>
            <a:endParaRPr sz="1100"/>
          </a:p>
        </p:txBody>
      </p:sp>
      <p:sp>
        <p:nvSpPr>
          <p:cNvPr id="29" name="Text 27">
            <a:extLst>
              <a:ext uri="{FF2B5EF4-FFF2-40B4-BE49-F238E27FC236}">
                <a16:creationId xmlns:a16="http://schemas.microsoft.com/office/drawing/2014/main" id="{15E4259E-1F28-46C3-9ED2-1C6C2E2632A9}"/>
              </a:ext>
            </a:extLst>
          </p:cNvPr>
          <p:cNvSpPr>
            <a:spLocks noGrp="1"/>
          </p:cNvSpPr>
          <p:nvPr/>
        </p:nvSpPr>
        <p:spPr>
          <a:xfrm>
            <a:off x="8044147" y="2858635"/>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a:t>
            </a:r>
            <a:endParaRPr sz="1100"/>
          </a:p>
        </p:txBody>
      </p:sp>
      <p:sp>
        <p:nvSpPr>
          <p:cNvPr id="30" name="Text 28">
            <a:extLst>
              <a:ext uri="{FF2B5EF4-FFF2-40B4-BE49-F238E27FC236}">
                <a16:creationId xmlns:a16="http://schemas.microsoft.com/office/drawing/2014/main" id="{8AB9FBF7-DD92-4D75-BFFE-5D1BFA8EC243}"/>
              </a:ext>
            </a:extLst>
          </p:cNvPr>
          <p:cNvSpPr>
            <a:spLocks noGrp="1"/>
          </p:cNvSpPr>
          <p:nvPr/>
        </p:nvSpPr>
        <p:spPr>
          <a:xfrm>
            <a:off x="9441147" y="2858635"/>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none</a:t>
            </a:r>
            <a:endParaRPr sz="1100"/>
          </a:p>
        </p:txBody>
      </p:sp>
      <p:sp>
        <p:nvSpPr>
          <p:cNvPr id="31" name="Shape 29">
            <a:extLst>
              <a:ext uri="{FF2B5EF4-FFF2-40B4-BE49-F238E27FC236}">
                <a16:creationId xmlns:a16="http://schemas.microsoft.com/office/drawing/2014/main" id="{632F5771-528A-4204-BDE8-83CF4F933E79}"/>
              </a:ext>
            </a:extLst>
          </p:cNvPr>
          <p:cNvSpPr>
            <a:spLocks noGrp="1"/>
          </p:cNvSpPr>
          <p:nvPr/>
        </p:nvSpPr>
        <p:spPr>
          <a:xfrm>
            <a:off x="818059" y="3713557"/>
            <a:ext cx="10555883" cy="0"/>
          </a:xfrm>
          <a:prstGeom prst="line">
            <a:avLst/>
          </a:prstGeom>
          <a:noFill/>
          <a:ln w="6350">
            <a:solidFill>
              <a:srgbClr val="E2E8F0"/>
            </a:solidFill>
            <a:prstDash val="solid"/>
          </a:ln>
        </p:spPr>
        <p:txBody>
          <a:bodyPr/>
          <a:lstStyle/>
          <a:p>
            <a:endParaRPr/>
          </a:p>
        </p:txBody>
      </p:sp>
      <p:sp>
        <p:nvSpPr>
          <p:cNvPr id="32" name="Text 30">
            <a:extLst>
              <a:ext uri="{FF2B5EF4-FFF2-40B4-BE49-F238E27FC236}">
                <a16:creationId xmlns:a16="http://schemas.microsoft.com/office/drawing/2014/main" id="{0CA6E503-3F40-4FB5-BB61-782B03CE4693}"/>
              </a:ext>
            </a:extLst>
          </p:cNvPr>
          <p:cNvSpPr>
            <a:spLocks noGrp="1"/>
          </p:cNvSpPr>
          <p:nvPr/>
        </p:nvSpPr>
        <p:spPr>
          <a:xfrm>
            <a:off x="995825" y="3278694"/>
            <a:ext cx="2940071" cy="421448"/>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Ignjatovska et al., Sensors 2026</a:t>
            </a:r>
            <a:endParaRPr sz="1100"/>
          </a:p>
          <a:p>
            <a:pPr marL="0" indent="0" algn="l">
              <a:lnSpc>
                <a:spcPts val="1560"/>
              </a:lnSpc>
              <a:buNone/>
            </a:pPr>
            <a:r>
              <a:rPr sz="1100">
                <a:solidFill>
                  <a:srgbClr val="1E293B"/>
                </a:solidFill>
                <a:latin typeface="DM Sans"/>
                <a:ea typeface="DM Sans"/>
                <a:cs typeface="DM Sans"/>
              </a:rPr>
              <a:t>physics-informed feature sets</a:t>
            </a:r>
            <a:endParaRPr sz="1100"/>
          </a:p>
        </p:txBody>
      </p:sp>
      <p:sp>
        <p:nvSpPr>
          <p:cNvPr id="33" name="Text 31">
            <a:extLst>
              <a:ext uri="{FF2B5EF4-FFF2-40B4-BE49-F238E27FC236}">
                <a16:creationId xmlns:a16="http://schemas.microsoft.com/office/drawing/2014/main" id="{C805626B-BB63-4A6A-9370-27E01DBD0B7D}"/>
              </a:ext>
            </a:extLst>
          </p:cNvPr>
          <p:cNvSpPr>
            <a:spLocks noGrp="1"/>
          </p:cNvSpPr>
          <p:nvPr/>
        </p:nvSpPr>
        <p:spPr>
          <a:xfrm>
            <a:off x="3853325" y="3331431"/>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MAFAULDA</a:t>
            </a:r>
            <a:endParaRPr sz="1100"/>
          </a:p>
        </p:txBody>
      </p:sp>
      <p:sp>
        <p:nvSpPr>
          <p:cNvPr id="34" name="Text 32">
            <a:extLst>
              <a:ext uri="{FF2B5EF4-FFF2-40B4-BE49-F238E27FC236}">
                <a16:creationId xmlns:a16="http://schemas.microsoft.com/office/drawing/2014/main" id="{D25B4AEC-970E-4821-81E4-B8D1081C5054}"/>
              </a:ext>
            </a:extLst>
          </p:cNvPr>
          <p:cNvSpPr>
            <a:spLocks noGrp="1"/>
          </p:cNvSpPr>
          <p:nvPr/>
        </p:nvSpPr>
        <p:spPr>
          <a:xfrm>
            <a:off x="5567825" y="3331431"/>
            <a:ext cx="1728586" cy="421448"/>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normal segments cross folds</a:t>
            </a:r>
            <a:endParaRPr sz="1100"/>
          </a:p>
        </p:txBody>
      </p:sp>
      <p:sp>
        <p:nvSpPr>
          <p:cNvPr id="35" name="Text 33">
            <a:extLst>
              <a:ext uri="{FF2B5EF4-FFF2-40B4-BE49-F238E27FC236}">
                <a16:creationId xmlns:a16="http://schemas.microsoft.com/office/drawing/2014/main" id="{FEE29776-1D64-4E64-85CF-92D5DA98BBEF}"/>
              </a:ext>
            </a:extLst>
          </p:cNvPr>
          <p:cNvSpPr>
            <a:spLocks noGrp="1"/>
          </p:cNvSpPr>
          <p:nvPr/>
        </p:nvSpPr>
        <p:spPr>
          <a:xfrm>
            <a:off x="8044147" y="3332814"/>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a:t>
            </a:r>
            <a:endParaRPr sz="1100"/>
          </a:p>
        </p:txBody>
      </p:sp>
      <p:sp>
        <p:nvSpPr>
          <p:cNvPr id="36" name="Text 34">
            <a:extLst>
              <a:ext uri="{FF2B5EF4-FFF2-40B4-BE49-F238E27FC236}">
                <a16:creationId xmlns:a16="http://schemas.microsoft.com/office/drawing/2014/main" id="{0FFF5FA6-3101-430E-8BDE-ACDB6D6810C4}"/>
              </a:ext>
            </a:extLst>
          </p:cNvPr>
          <p:cNvSpPr>
            <a:spLocks noGrp="1"/>
          </p:cNvSpPr>
          <p:nvPr/>
        </p:nvSpPr>
        <p:spPr>
          <a:xfrm>
            <a:off x="9441147" y="3332814"/>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feature sets only</a:t>
            </a:r>
            <a:endParaRPr sz="1100"/>
          </a:p>
        </p:txBody>
      </p:sp>
      <p:sp>
        <p:nvSpPr>
          <p:cNvPr id="37" name="Shape 35">
            <a:extLst>
              <a:ext uri="{FF2B5EF4-FFF2-40B4-BE49-F238E27FC236}">
                <a16:creationId xmlns:a16="http://schemas.microsoft.com/office/drawing/2014/main" id="{1492008F-74BE-41E7-B0C5-D94102AF7EBE}"/>
              </a:ext>
            </a:extLst>
          </p:cNvPr>
          <p:cNvSpPr>
            <a:spLocks noGrp="1"/>
          </p:cNvSpPr>
          <p:nvPr/>
        </p:nvSpPr>
        <p:spPr>
          <a:xfrm>
            <a:off x="818059" y="4333263"/>
            <a:ext cx="10555883" cy="0"/>
          </a:xfrm>
          <a:prstGeom prst="line">
            <a:avLst/>
          </a:prstGeom>
          <a:noFill/>
          <a:ln w="6350">
            <a:solidFill>
              <a:srgbClr val="E2E8F0"/>
            </a:solidFill>
            <a:prstDash val="solid"/>
          </a:ln>
        </p:spPr>
        <p:txBody>
          <a:bodyPr/>
          <a:lstStyle/>
          <a:p>
            <a:endParaRPr/>
          </a:p>
        </p:txBody>
      </p:sp>
      <p:sp>
        <p:nvSpPr>
          <p:cNvPr id="38" name="Text 36">
            <a:extLst>
              <a:ext uri="{FF2B5EF4-FFF2-40B4-BE49-F238E27FC236}">
                <a16:creationId xmlns:a16="http://schemas.microsoft.com/office/drawing/2014/main" id="{805FB81D-3C0B-40F5-A2FC-639218FEC9F3}"/>
              </a:ext>
            </a:extLst>
          </p:cNvPr>
          <p:cNvSpPr>
            <a:spLocks noGrp="1"/>
          </p:cNvSpPr>
          <p:nvPr/>
        </p:nvSpPr>
        <p:spPr>
          <a:xfrm>
            <a:off x="995825" y="3752879"/>
            <a:ext cx="2789141" cy="488321"/>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Hendriks et al., MSSP 2022 · Matania et al., PHME 2024</a:t>
            </a:r>
            <a:endParaRPr sz="1100"/>
          </a:p>
        </p:txBody>
      </p:sp>
      <p:sp>
        <p:nvSpPr>
          <p:cNvPr id="39" name="Text 37">
            <a:extLst>
              <a:ext uri="{FF2B5EF4-FFF2-40B4-BE49-F238E27FC236}">
                <a16:creationId xmlns:a16="http://schemas.microsoft.com/office/drawing/2014/main" id="{11AF6335-FA90-462C-B654-212E9FE6C03B}"/>
              </a:ext>
            </a:extLst>
          </p:cNvPr>
          <p:cNvSpPr>
            <a:spLocks noGrp="1"/>
          </p:cNvSpPr>
          <p:nvPr/>
        </p:nvSpPr>
        <p:spPr>
          <a:xfrm>
            <a:off x="3853325" y="3805616"/>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CWRU and others</a:t>
            </a:r>
            <a:endParaRPr sz="1100"/>
          </a:p>
        </p:txBody>
      </p:sp>
      <p:sp>
        <p:nvSpPr>
          <p:cNvPr id="40" name="Text 38">
            <a:extLst>
              <a:ext uri="{FF2B5EF4-FFF2-40B4-BE49-F238E27FC236}">
                <a16:creationId xmlns:a16="http://schemas.microsoft.com/office/drawing/2014/main" id="{DBA461DC-403C-4F19-A985-D53F7102ACC5}"/>
              </a:ext>
            </a:extLst>
          </p:cNvPr>
          <p:cNvSpPr>
            <a:spLocks noGrp="1"/>
          </p:cNvSpPr>
          <p:nvPr/>
        </p:nvSpPr>
        <p:spPr>
          <a:xfrm>
            <a:off x="5567825" y="3805616"/>
            <a:ext cx="1728586" cy="421448"/>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the subject of the work</a:t>
            </a:r>
            <a:endParaRPr sz="1100"/>
          </a:p>
        </p:txBody>
      </p:sp>
      <p:sp>
        <p:nvSpPr>
          <p:cNvPr id="41" name="Text 39">
            <a:extLst>
              <a:ext uri="{FF2B5EF4-FFF2-40B4-BE49-F238E27FC236}">
                <a16:creationId xmlns:a16="http://schemas.microsoft.com/office/drawing/2014/main" id="{AC6EE68C-6F72-4467-866E-2EC47C2CB5A9}"/>
              </a:ext>
            </a:extLst>
          </p:cNvPr>
          <p:cNvSpPr>
            <a:spLocks noGrp="1"/>
          </p:cNvSpPr>
          <p:nvPr/>
        </p:nvSpPr>
        <p:spPr>
          <a:xfrm>
            <a:off x="8044147" y="3806999"/>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not addressed</a:t>
            </a:r>
            <a:endParaRPr sz="1100"/>
          </a:p>
        </p:txBody>
      </p:sp>
      <p:sp>
        <p:nvSpPr>
          <p:cNvPr id="42" name="Text 40">
            <a:extLst>
              <a:ext uri="{FF2B5EF4-FFF2-40B4-BE49-F238E27FC236}">
                <a16:creationId xmlns:a16="http://schemas.microsoft.com/office/drawing/2014/main" id="{479D3053-F22F-4859-BFC2-2FF2B805B1EB}"/>
              </a:ext>
            </a:extLst>
          </p:cNvPr>
          <p:cNvSpPr>
            <a:spLocks noGrp="1"/>
          </p:cNvSpPr>
          <p:nvPr/>
        </p:nvSpPr>
        <p:spPr>
          <a:xfrm>
            <a:off x="9441147" y="3806999"/>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none</a:t>
            </a:r>
            <a:endParaRPr sz="1100"/>
          </a:p>
        </p:txBody>
      </p:sp>
      <p:sp>
        <p:nvSpPr>
          <p:cNvPr id="43" name="Shape 41">
            <a:extLst>
              <a:ext uri="{FF2B5EF4-FFF2-40B4-BE49-F238E27FC236}">
                <a16:creationId xmlns:a16="http://schemas.microsoft.com/office/drawing/2014/main" id="{02E400FC-962A-4F78-9A31-E338BF728C74}"/>
              </a:ext>
            </a:extLst>
          </p:cNvPr>
          <p:cNvSpPr>
            <a:spLocks noGrp="1"/>
          </p:cNvSpPr>
          <p:nvPr/>
        </p:nvSpPr>
        <p:spPr>
          <a:xfrm>
            <a:off x="818059" y="4807444"/>
            <a:ext cx="10555883" cy="0"/>
          </a:xfrm>
          <a:prstGeom prst="line">
            <a:avLst/>
          </a:prstGeom>
          <a:noFill/>
          <a:ln w="6350">
            <a:solidFill>
              <a:srgbClr val="E2E8F0"/>
            </a:solidFill>
            <a:prstDash val="solid"/>
          </a:ln>
        </p:spPr>
        <p:txBody>
          <a:bodyPr/>
          <a:lstStyle/>
          <a:p>
            <a:endParaRPr/>
          </a:p>
        </p:txBody>
      </p:sp>
      <p:sp>
        <p:nvSpPr>
          <p:cNvPr id="44" name="Text 42">
            <a:extLst>
              <a:ext uri="{FF2B5EF4-FFF2-40B4-BE49-F238E27FC236}">
                <a16:creationId xmlns:a16="http://schemas.microsoft.com/office/drawing/2014/main" id="{033E83FA-E2FB-410E-91D2-977D388FDF5E}"/>
              </a:ext>
            </a:extLst>
          </p:cNvPr>
          <p:cNvSpPr>
            <a:spLocks noGrp="1"/>
          </p:cNvSpPr>
          <p:nvPr/>
        </p:nvSpPr>
        <p:spPr>
          <a:xfrm>
            <a:off x="995825" y="4372580"/>
            <a:ext cx="2940071" cy="421448"/>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Hendrycks 2017 · Lee 2018 · Geng 2021</a:t>
            </a:r>
            <a:endParaRPr sz="1100"/>
          </a:p>
          <a:p>
            <a:pPr marL="0" indent="0" algn="l">
              <a:lnSpc>
                <a:spcPts val="1560"/>
              </a:lnSpc>
              <a:buNone/>
            </a:pPr>
            <a:r>
              <a:rPr sz="1100">
                <a:solidFill>
                  <a:srgbClr val="1E293B"/>
                </a:solidFill>
                <a:latin typeface="DM Sans"/>
                <a:ea typeface="DM Sans"/>
                <a:cs typeface="DM Sans"/>
              </a:rPr>
              <a:t>open-set recognition</a:t>
            </a:r>
            <a:endParaRPr sz="1100"/>
          </a:p>
        </p:txBody>
      </p:sp>
      <p:sp>
        <p:nvSpPr>
          <p:cNvPr id="45" name="Text 43">
            <a:extLst>
              <a:ext uri="{FF2B5EF4-FFF2-40B4-BE49-F238E27FC236}">
                <a16:creationId xmlns:a16="http://schemas.microsoft.com/office/drawing/2014/main" id="{56079CEB-F19D-453F-B48B-96D1AE2C814B}"/>
              </a:ext>
            </a:extLst>
          </p:cNvPr>
          <p:cNvSpPr>
            <a:spLocks noGrp="1"/>
          </p:cNvSpPr>
          <p:nvPr/>
        </p:nvSpPr>
        <p:spPr>
          <a:xfrm>
            <a:off x="3853325" y="4425317"/>
            <a:ext cx="1638300"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vision benchmarks</a:t>
            </a:r>
            <a:endParaRPr sz="1100"/>
          </a:p>
        </p:txBody>
      </p:sp>
      <p:sp>
        <p:nvSpPr>
          <p:cNvPr id="46" name="Text 44">
            <a:extLst>
              <a:ext uri="{FF2B5EF4-FFF2-40B4-BE49-F238E27FC236}">
                <a16:creationId xmlns:a16="http://schemas.microsoft.com/office/drawing/2014/main" id="{0FD5324D-ADDC-45ED-81F3-5DB4EC7C2265}"/>
              </a:ext>
            </a:extLst>
          </p:cNvPr>
          <p:cNvSpPr>
            <a:spLocks noGrp="1"/>
          </p:cNvSpPr>
          <p:nvPr/>
        </p:nvSpPr>
        <p:spPr>
          <a:xfrm>
            <a:off x="5567825" y="4425317"/>
            <a:ext cx="1728586" cy="223424"/>
          </a:xfrm>
          <a:prstGeom prst="rect">
            <a:avLst/>
          </a:prstGeom>
          <a:noFill/>
        </p:spPr>
        <p:txBody>
          <a:bodyPr wrap="square" lIns="0" tIns="0" rIns="0" bIns="0" anchor="t">
            <a:normAutofit/>
          </a:bodyPr>
          <a:lstStyle/>
          <a:p>
            <a:pPr marL="0" indent="0" algn="l">
              <a:lnSpc>
                <a:spcPts val="1560"/>
              </a:lnSpc>
              <a:buNone/>
            </a:pPr>
            <a:r>
              <a:rPr sz="1100">
                <a:solidFill>
                  <a:srgbClr val="64748B"/>
                </a:solidFill>
                <a:latin typeface="DM Sans"/>
                <a:ea typeface="DM Sans"/>
                <a:cs typeface="DM Sans"/>
              </a:rPr>
              <a:t>not applicable</a:t>
            </a:r>
            <a:endParaRPr sz="1100"/>
          </a:p>
        </p:txBody>
      </p:sp>
      <p:sp>
        <p:nvSpPr>
          <p:cNvPr id="47" name="Text 45">
            <a:extLst>
              <a:ext uri="{FF2B5EF4-FFF2-40B4-BE49-F238E27FC236}">
                <a16:creationId xmlns:a16="http://schemas.microsoft.com/office/drawing/2014/main" id="{80C6786E-0C1A-4D17-8FC9-E12758F4DD5C}"/>
              </a:ext>
            </a:extLst>
          </p:cNvPr>
          <p:cNvSpPr>
            <a:spLocks noGrp="1"/>
          </p:cNvSpPr>
          <p:nvPr/>
        </p:nvSpPr>
        <p:spPr>
          <a:xfrm>
            <a:off x="8044147" y="4426700"/>
            <a:ext cx="1320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the subject</a:t>
            </a:r>
            <a:endParaRPr sz="1100"/>
          </a:p>
        </p:txBody>
      </p:sp>
      <p:sp>
        <p:nvSpPr>
          <p:cNvPr id="48" name="Text 46">
            <a:extLst>
              <a:ext uri="{FF2B5EF4-FFF2-40B4-BE49-F238E27FC236}">
                <a16:creationId xmlns:a16="http://schemas.microsoft.com/office/drawing/2014/main" id="{8E2F1089-3564-47E9-B2AA-E3AAEE2FB8B7}"/>
              </a:ext>
            </a:extLst>
          </p:cNvPr>
          <p:cNvSpPr>
            <a:spLocks noGrp="1"/>
          </p:cNvSpPr>
          <p:nvPr/>
        </p:nvSpPr>
        <p:spPr>
          <a:xfrm>
            <a:off x="9441147" y="4426700"/>
            <a:ext cx="1574800" cy="223424"/>
          </a:xfrm>
          <a:prstGeom prst="rect">
            <a:avLst/>
          </a:prstGeom>
          <a:noFill/>
        </p:spPr>
        <p:txBody>
          <a:bodyPr wrap="square" lIns="0" tIns="0" rIns="0" bIns="0" anchor="t">
            <a:normAutofit/>
          </a:bodyPr>
          <a:lstStyle/>
          <a:p>
            <a:pPr marL="0" indent="0" algn="l">
              <a:lnSpc>
                <a:spcPts val="1560"/>
              </a:lnSpc>
              <a:buNone/>
            </a:pPr>
            <a:r>
              <a:rPr sz="1100">
                <a:solidFill>
                  <a:srgbClr val="1E293B"/>
                </a:solidFill>
                <a:latin typeface="DM Sans"/>
                <a:ea typeface="DM Sans"/>
                <a:cs typeface="DM Sans"/>
              </a:rPr>
              <a:t>none</a:t>
            </a:r>
            <a:endParaRPr sz="1100"/>
          </a:p>
        </p:txBody>
      </p:sp>
      <p:sp>
        <p:nvSpPr>
          <p:cNvPr id="49" name="Text 47">
            <a:extLst>
              <a:ext uri="{FF2B5EF4-FFF2-40B4-BE49-F238E27FC236}">
                <a16:creationId xmlns:a16="http://schemas.microsoft.com/office/drawing/2014/main" id="{831BA80C-46D3-4A1F-956E-ABC78BA82D56}"/>
              </a:ext>
            </a:extLst>
          </p:cNvPr>
          <p:cNvSpPr>
            <a:spLocks noGrp="1"/>
          </p:cNvSpPr>
          <p:nvPr/>
        </p:nvSpPr>
        <p:spPr>
          <a:xfrm>
            <a:off x="995825" y="4846765"/>
            <a:ext cx="2940071" cy="223424"/>
          </a:xfrm>
          <a:prstGeom prst="rect">
            <a:avLst/>
          </a:prstGeom>
          <a:noFill/>
        </p:spPr>
        <p:txBody>
          <a:bodyPr wrap="square" lIns="0" tIns="0" rIns="0" bIns="0" anchor="t">
            <a:normAutofit/>
          </a:bodyPr>
          <a:lstStyle/>
          <a:p>
            <a:pPr marL="0" indent="0" algn="l">
              <a:lnSpc>
                <a:spcPts val="1560"/>
              </a:lnSpc>
              <a:buNone/>
            </a:pPr>
            <a:r>
              <a:rPr sz="1100" b="1">
                <a:solidFill>
                  <a:schemeClr val="accent6"/>
                </a:solidFill>
                <a:latin typeface="DM Sans"/>
                <a:ea typeface="DM Sans"/>
                <a:cs typeface="DM Sans"/>
              </a:rPr>
              <a:t>MachineSense</a:t>
            </a:r>
            <a:endParaRPr sz="1100">
              <a:solidFill>
                <a:schemeClr val="accent6"/>
              </a:solidFill>
            </a:endParaRPr>
          </a:p>
        </p:txBody>
      </p:sp>
      <p:sp>
        <p:nvSpPr>
          <p:cNvPr id="50" name="Text 48">
            <a:extLst>
              <a:ext uri="{FF2B5EF4-FFF2-40B4-BE49-F238E27FC236}">
                <a16:creationId xmlns:a16="http://schemas.microsoft.com/office/drawing/2014/main" id="{4ACBEB14-BC34-4F38-B95C-2329FA4CDCB0}"/>
              </a:ext>
            </a:extLst>
          </p:cNvPr>
          <p:cNvSpPr>
            <a:spLocks noGrp="1"/>
          </p:cNvSpPr>
          <p:nvPr/>
        </p:nvSpPr>
        <p:spPr>
          <a:xfrm>
            <a:off x="3853325" y="4899502"/>
            <a:ext cx="1638300" cy="223424"/>
          </a:xfrm>
          <a:prstGeom prst="rect">
            <a:avLst/>
          </a:prstGeom>
          <a:noFill/>
        </p:spPr>
        <p:txBody>
          <a:bodyPr wrap="square" lIns="0" tIns="0" rIns="0" bIns="0" anchor="t">
            <a:normAutofit/>
          </a:bodyPr>
          <a:lstStyle/>
          <a:p>
            <a:pPr marL="0" indent="0" algn="l">
              <a:lnSpc>
                <a:spcPts val="1560"/>
              </a:lnSpc>
              <a:buNone/>
            </a:pPr>
            <a:r>
              <a:rPr sz="1100">
                <a:solidFill>
                  <a:schemeClr val="accent6"/>
                </a:solidFill>
                <a:latin typeface="DM Sans"/>
                <a:ea typeface="DM Sans"/>
                <a:cs typeface="DM Sans"/>
              </a:rPr>
              <a:t>MAFAULDA</a:t>
            </a:r>
            <a:endParaRPr sz="1100">
              <a:solidFill>
                <a:schemeClr val="accent6"/>
              </a:solidFill>
            </a:endParaRPr>
          </a:p>
        </p:txBody>
      </p:sp>
      <p:sp>
        <p:nvSpPr>
          <p:cNvPr id="51" name="Text 49">
            <a:extLst>
              <a:ext uri="{FF2B5EF4-FFF2-40B4-BE49-F238E27FC236}">
                <a16:creationId xmlns:a16="http://schemas.microsoft.com/office/drawing/2014/main" id="{55E967F5-A896-4B74-BF6F-238E6E8A5867}"/>
              </a:ext>
            </a:extLst>
          </p:cNvPr>
          <p:cNvSpPr>
            <a:spLocks noGrp="1"/>
          </p:cNvSpPr>
          <p:nvPr/>
        </p:nvSpPr>
        <p:spPr>
          <a:xfrm>
            <a:off x="5567825" y="4899502"/>
            <a:ext cx="1997896" cy="421448"/>
          </a:xfrm>
          <a:prstGeom prst="rect">
            <a:avLst/>
          </a:prstGeom>
          <a:noFill/>
        </p:spPr>
        <p:txBody>
          <a:bodyPr wrap="square" lIns="0" tIns="0" rIns="0" bIns="0" anchor="t">
            <a:normAutofit/>
          </a:bodyPr>
          <a:lstStyle/>
          <a:p>
            <a:pPr marL="0" indent="0" algn="l">
              <a:lnSpc>
                <a:spcPts val="1560"/>
              </a:lnSpc>
              <a:buNone/>
            </a:pPr>
            <a:r>
              <a:rPr sz="1200">
                <a:solidFill>
                  <a:schemeClr val="accent6"/>
                </a:solidFill>
                <a:latin typeface="DM Sans"/>
                <a:ea typeface="DM Sans"/>
                <a:cs typeface="DM Sans"/>
              </a:rPr>
              <a:t>recording, folder-grouped</a:t>
            </a:r>
            <a:endParaRPr sz="1200">
              <a:solidFill>
                <a:schemeClr val="accent6"/>
              </a:solidFill>
            </a:endParaRPr>
          </a:p>
        </p:txBody>
      </p:sp>
      <p:sp>
        <p:nvSpPr>
          <p:cNvPr id="52" name="Text 50">
            <a:extLst>
              <a:ext uri="{FF2B5EF4-FFF2-40B4-BE49-F238E27FC236}">
                <a16:creationId xmlns:a16="http://schemas.microsoft.com/office/drawing/2014/main" id="{C4E877D9-4068-41C6-A8C8-A693D83FA048}"/>
              </a:ext>
            </a:extLst>
          </p:cNvPr>
          <p:cNvSpPr>
            <a:spLocks noGrp="1"/>
          </p:cNvSpPr>
          <p:nvPr/>
        </p:nvSpPr>
        <p:spPr>
          <a:xfrm>
            <a:off x="8044147" y="4900885"/>
            <a:ext cx="1320800" cy="223424"/>
          </a:xfrm>
          <a:prstGeom prst="rect">
            <a:avLst/>
          </a:prstGeom>
          <a:noFill/>
        </p:spPr>
        <p:txBody>
          <a:bodyPr wrap="square" lIns="0" tIns="0" rIns="0" bIns="0" anchor="t">
            <a:normAutofit/>
          </a:bodyPr>
          <a:lstStyle/>
          <a:p>
            <a:pPr marL="0" indent="0" algn="l">
              <a:lnSpc>
                <a:spcPts val="1560"/>
              </a:lnSpc>
              <a:buNone/>
            </a:pPr>
            <a:r>
              <a:rPr sz="1100">
                <a:solidFill>
                  <a:schemeClr val="accent6"/>
                </a:solidFill>
                <a:latin typeface="DM Sans"/>
                <a:ea typeface="DM Sans"/>
                <a:cs typeface="DM Sans"/>
              </a:rPr>
              <a:t>measured</a:t>
            </a:r>
            <a:endParaRPr sz="1100">
              <a:solidFill>
                <a:schemeClr val="accent6"/>
              </a:solidFill>
            </a:endParaRPr>
          </a:p>
        </p:txBody>
      </p:sp>
      <p:sp>
        <p:nvSpPr>
          <p:cNvPr id="53" name="Text 51">
            <a:extLst>
              <a:ext uri="{FF2B5EF4-FFF2-40B4-BE49-F238E27FC236}">
                <a16:creationId xmlns:a16="http://schemas.microsoft.com/office/drawing/2014/main" id="{835B58DC-C83B-4FB0-B6E9-F84B56D308DD}"/>
              </a:ext>
            </a:extLst>
          </p:cNvPr>
          <p:cNvSpPr>
            <a:spLocks noGrp="1"/>
          </p:cNvSpPr>
          <p:nvPr/>
        </p:nvSpPr>
        <p:spPr>
          <a:xfrm>
            <a:off x="9441147" y="4900885"/>
            <a:ext cx="1574800" cy="421448"/>
          </a:xfrm>
          <a:prstGeom prst="rect">
            <a:avLst/>
          </a:prstGeom>
          <a:noFill/>
        </p:spPr>
        <p:txBody>
          <a:bodyPr wrap="square" lIns="0" tIns="0" rIns="0" bIns="0" anchor="t">
            <a:normAutofit/>
          </a:bodyPr>
          <a:lstStyle/>
          <a:p>
            <a:pPr marL="0" indent="0" algn="l">
              <a:lnSpc>
                <a:spcPts val="1560"/>
              </a:lnSpc>
              <a:buNone/>
            </a:pPr>
            <a:r>
              <a:rPr sz="1200">
                <a:solidFill>
                  <a:schemeClr val="accent6"/>
                </a:solidFill>
                <a:latin typeface="DM Sans"/>
                <a:ea typeface="DM Sans"/>
                <a:cs typeface="DM Sans"/>
              </a:rPr>
              <a:t>per-value provenance</a:t>
            </a:r>
            <a:endParaRPr sz="1200">
              <a:solidFill>
                <a:schemeClr val="accent6"/>
              </a:solidFill>
            </a:endParaRPr>
          </a:p>
        </p:txBody>
      </p:sp>
      <p:sp>
        <p:nvSpPr>
          <p:cNvPr id="54" name="Text 52">
            <a:extLst>
              <a:ext uri="{FF2B5EF4-FFF2-40B4-BE49-F238E27FC236}">
                <a16:creationId xmlns:a16="http://schemas.microsoft.com/office/drawing/2014/main" id="{BBA60EA4-6807-41DE-81B7-61B0629A1D4E}"/>
              </a:ext>
            </a:extLst>
          </p:cNvPr>
          <p:cNvSpPr>
            <a:spLocks noGrp="1"/>
          </p:cNvSpPr>
          <p:nvPr/>
        </p:nvSpPr>
        <p:spPr>
          <a:xfrm>
            <a:off x="812767" y="5449838"/>
            <a:ext cx="10203180" cy="417562"/>
          </a:xfrm>
          <a:prstGeom prst="rect">
            <a:avLst/>
          </a:prstGeom>
          <a:noFill/>
        </p:spPr>
        <p:txBody>
          <a:bodyPr wrap="square" lIns="0" tIns="0" rIns="0" bIns="0" anchor="t">
            <a:normAutofit/>
          </a:bodyPr>
          <a:lstStyle/>
          <a:p>
            <a:pPr>
              <a:lnSpc>
                <a:spcPts val="1561"/>
              </a:lnSpc>
            </a:pPr>
            <a:r>
              <a:rPr sz="1077">
                <a:solidFill>
                  <a:srgbClr val="1E293B"/>
                </a:solidFill>
                <a:latin typeface="DM Sans"/>
                <a:ea typeface="DM Sans"/>
                <a:cs typeface="DM Sans"/>
              </a:rPr>
              <a:t>Published accuracy figures cannot be ranked against MachineSense without </a:t>
            </a:r>
            <a:r>
              <a:rPr sz="1077" b="1">
                <a:solidFill>
                  <a:srgbClr val="1E293B"/>
                </a:solidFill>
                <a:latin typeface="DM Sans"/>
                <a:ea typeface="DM Sans"/>
                <a:cs typeface="DM Sans"/>
              </a:rPr>
              <a:t>matching classes and split</a:t>
            </a:r>
            <a:r>
              <a:rPr lang="en-US" sz="1077" b="1">
                <a:solidFill>
                  <a:srgbClr val="1E293B"/>
                </a:solidFill>
                <a:latin typeface="DM Sans"/>
                <a:ea typeface="DM Sans"/>
                <a:cs typeface="DM Sans"/>
              </a:rPr>
              <a:t>s. </a:t>
            </a:r>
            <a:r>
              <a:rPr lang="en-US" sz="1077" b="1">
                <a:solidFill>
                  <a:schemeClr val="bg1"/>
                </a:solidFill>
                <a:highlight>
                  <a:srgbClr val="0000FF"/>
                </a:highlight>
                <a:latin typeface="DM Sans"/>
                <a:ea typeface="DM Sans"/>
                <a:cs typeface="DM Sans"/>
              </a:rPr>
              <a:t>My contribution is a rigorously evaluated fault-diagnosis system that keeps recordings separate, tests unseen operating settings, and flags unfamiliar faults for further inspection.</a:t>
            </a:r>
            <a:endParaRPr sz="1077" b="1">
              <a:solidFill>
                <a:schemeClr val="bg1"/>
              </a:solidFill>
              <a:highlight>
                <a:srgbClr val="0000FF"/>
              </a:highlight>
            </a:endParaRPr>
          </a:p>
        </p:txBody>
      </p:sp>
      <p:sp>
        <p:nvSpPr>
          <p:cNvPr id="55" name="Text 51">
            <a:extLst>
              <a:ext uri="{FF2B5EF4-FFF2-40B4-BE49-F238E27FC236}">
                <a16:creationId xmlns:a16="http://schemas.microsoft.com/office/drawing/2014/main" id="{0AEFB9EE-7412-DE17-F2C2-D81A04D22FAA}"/>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10</a:t>
            </a:r>
            <a:endParaRPr lang="en-US" sz="1200" dirty="0"/>
          </a:p>
        </p:txBody>
      </p:sp>
    </p:spTree>
    <p:extLst>
      <p:ext uri="{BB962C8B-B14F-4D97-AF65-F5344CB8AC3E}">
        <p14:creationId xmlns:p14="http://schemas.microsoft.com/office/powerpoint/2010/main" val="578737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4922CF3-417B-4C39-B932-62EA5B384785}"/>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4F04D1DB-4FDC-4738-B3D3-61EF930E9B7E}"/>
              </a:ext>
            </a:extLst>
          </p:cNvPr>
          <p:cNvSpPr>
            <a:spLocks noGrp="1"/>
          </p:cNvSpPr>
          <p:nvPr/>
        </p:nvSpPr>
        <p:spPr>
          <a:xfrm>
            <a:off x="812767" y="812763"/>
            <a:ext cx="10883460" cy="430461"/>
          </a:xfrm>
          <a:prstGeom prst="rect">
            <a:avLst/>
          </a:prstGeom>
          <a:noFill/>
        </p:spPr>
        <p:txBody>
          <a:bodyPr wrap="square" lIns="0" tIns="0" rIns="0" bIns="0" anchor="t">
            <a:normAutofit/>
          </a:bodyPr>
          <a:lstStyle/>
          <a:p>
            <a:pPr marL="0" indent="0" algn="l">
              <a:lnSpc>
                <a:spcPts val="3190"/>
              </a:lnSpc>
              <a:buNone/>
            </a:pPr>
            <a:r>
              <a:rPr sz="2900" b="1">
                <a:solidFill>
                  <a:srgbClr val="1007DC"/>
                </a:solidFill>
                <a:latin typeface="Poppins"/>
                <a:ea typeface="Poppins"/>
                <a:cs typeface="Poppins"/>
              </a:rPr>
              <a:t>Project scope</a:t>
            </a:r>
            <a:endParaRPr sz="2900"/>
          </a:p>
        </p:txBody>
      </p:sp>
      <p:sp>
        <p:nvSpPr>
          <p:cNvPr id="4" name="Text 2">
            <a:extLst>
              <a:ext uri="{FF2B5EF4-FFF2-40B4-BE49-F238E27FC236}">
                <a16:creationId xmlns:a16="http://schemas.microsoft.com/office/drawing/2014/main" id="{4FABEB6E-8563-4C1F-BCCA-50BAD3B34069}"/>
              </a:ext>
            </a:extLst>
          </p:cNvPr>
          <p:cNvSpPr>
            <a:spLocks noGrp="1"/>
          </p:cNvSpPr>
          <p:nvPr/>
        </p:nvSpPr>
        <p:spPr>
          <a:xfrm>
            <a:off x="812767" y="1408323"/>
            <a:ext cx="10203180" cy="596239"/>
          </a:xfrm>
          <a:prstGeom prst="rect">
            <a:avLst/>
          </a:prstGeom>
          <a:noFill/>
        </p:spPr>
        <p:txBody>
          <a:bodyPr wrap="square" lIns="0" tIns="0" rIns="0" bIns="0" anchor="t">
            <a:normAutofit/>
          </a:bodyPr>
          <a:lstStyle/>
          <a:p>
            <a:pPr marL="0" indent="0" algn="l">
              <a:lnSpc>
                <a:spcPts val="2248"/>
              </a:lnSpc>
              <a:buNone/>
            </a:pPr>
            <a:r>
              <a:rPr sz="1550">
                <a:solidFill>
                  <a:srgbClr val="1E293B"/>
                </a:solidFill>
                <a:latin typeface="DM Sans"/>
                <a:ea typeface="DM Sans"/>
                <a:cs typeface="DM Sans"/>
              </a:rPr>
              <a:t>MachineSense is a research-demo web application that helps a mechanic interpret machine vibration and sound recordings. It studies when to report a familiar condition and when to say further inspection needed.</a:t>
            </a:r>
            <a:endParaRPr sz="1550"/>
          </a:p>
        </p:txBody>
      </p:sp>
      <p:sp>
        <p:nvSpPr>
          <p:cNvPr id="5" name="Shape 3">
            <a:extLst>
              <a:ext uri="{FF2B5EF4-FFF2-40B4-BE49-F238E27FC236}">
                <a16:creationId xmlns:a16="http://schemas.microsoft.com/office/drawing/2014/main" id="{7C692F61-E486-4F3F-9AB3-52546A860891}"/>
              </a:ext>
            </a:extLst>
          </p:cNvPr>
          <p:cNvSpPr>
            <a:spLocks noGrp="1"/>
          </p:cNvSpPr>
          <p:nvPr/>
        </p:nvSpPr>
        <p:spPr>
          <a:xfrm>
            <a:off x="812767" y="2169665"/>
            <a:ext cx="5194350" cy="3399862"/>
          </a:xfrm>
          <a:custGeom>
            <a:avLst/>
            <a:gdLst/>
            <a:ahLst/>
            <a:cxnLst/>
            <a:rect l="l" t="t" r="r" b="b"/>
            <a:pathLst>
              <a:path w="5194350" h="2805410">
                <a:moveTo>
                  <a:pt x="0" y="0"/>
                </a:moveTo>
                <a:lnTo>
                  <a:pt x="5194350" y="0"/>
                </a:lnTo>
                <a:lnTo>
                  <a:pt x="5194350" y="2703810"/>
                </a:lnTo>
                <a:arcTo wR="101600" hR="101600" stAng="0" swAng="5400000"/>
                <a:lnTo>
                  <a:pt x="101600" y="2805410"/>
                </a:lnTo>
                <a:arcTo wR="101600" hR="101600" stAng="5400000" swAng="5400000"/>
                <a:lnTo>
                  <a:pt x="0" y="0"/>
                </a:lnTo>
                <a:close/>
              </a:path>
            </a:pathLst>
          </a:custGeom>
          <a:solidFill>
            <a:srgbClr val="FFFFFF"/>
          </a:solidFill>
        </p:spPr>
        <p:txBody>
          <a:bodyPr/>
          <a:lstStyle/>
          <a:p>
            <a:endParaRPr/>
          </a:p>
        </p:txBody>
      </p:sp>
      <p:sp>
        <p:nvSpPr>
          <p:cNvPr id="6" name="Shape 4">
            <a:extLst>
              <a:ext uri="{FF2B5EF4-FFF2-40B4-BE49-F238E27FC236}">
                <a16:creationId xmlns:a16="http://schemas.microsoft.com/office/drawing/2014/main" id="{A38CF354-B87D-4B19-A353-49B65166D5F4}"/>
              </a:ext>
            </a:extLst>
          </p:cNvPr>
          <p:cNvSpPr>
            <a:spLocks noGrp="1"/>
          </p:cNvSpPr>
          <p:nvPr/>
        </p:nvSpPr>
        <p:spPr>
          <a:xfrm>
            <a:off x="812767" y="2169666"/>
            <a:ext cx="5194350" cy="2805410"/>
          </a:xfrm>
          <a:custGeom>
            <a:avLst/>
            <a:gdLst/>
            <a:ahLst/>
            <a:cxnLst/>
            <a:rect l="l" t="t" r="r" b="b"/>
            <a:pathLst>
              <a:path w="5194350" h="2805410">
                <a:moveTo>
                  <a:pt x="0" y="50800"/>
                </a:moveTo>
                <a:lnTo>
                  <a:pt x="0" y="0"/>
                </a:lnTo>
                <a:lnTo>
                  <a:pt x="5194350" y="0"/>
                </a:lnTo>
                <a:lnTo>
                  <a:pt x="5194350" y="50800"/>
                </a:lnTo>
                <a:lnTo>
                  <a:pt x="0" y="50800"/>
                </a:lnTo>
                <a:close/>
              </a:path>
            </a:pathLst>
          </a:custGeom>
          <a:solidFill>
            <a:srgbClr val="1007DC"/>
          </a:solidFill>
        </p:spPr>
        <p:txBody>
          <a:bodyPr/>
          <a:lstStyle/>
          <a:p>
            <a:endParaRPr/>
          </a:p>
        </p:txBody>
      </p:sp>
      <p:sp>
        <p:nvSpPr>
          <p:cNvPr id="7" name="Text 5">
            <a:extLst>
              <a:ext uri="{FF2B5EF4-FFF2-40B4-BE49-F238E27FC236}">
                <a16:creationId xmlns:a16="http://schemas.microsoft.com/office/drawing/2014/main" id="{008D8082-92B3-4BF2-BA72-7B4D8637ED8F}"/>
              </a:ext>
            </a:extLst>
          </p:cNvPr>
          <p:cNvSpPr>
            <a:spLocks noGrp="1"/>
          </p:cNvSpPr>
          <p:nvPr/>
        </p:nvSpPr>
        <p:spPr>
          <a:xfrm>
            <a:off x="1041301" y="2471291"/>
            <a:ext cx="4879400" cy="229791"/>
          </a:xfrm>
          <a:prstGeom prst="rect">
            <a:avLst/>
          </a:prstGeom>
          <a:noFill/>
        </p:spPr>
        <p:txBody>
          <a:bodyPr wrap="square" lIns="0" tIns="0" rIns="0" bIns="0" anchor="t">
            <a:normAutofit/>
          </a:bodyPr>
          <a:lstStyle/>
          <a:p>
            <a:pPr marL="0" indent="0" algn="l">
              <a:lnSpc>
                <a:spcPts val="1610"/>
              </a:lnSpc>
              <a:buNone/>
            </a:pPr>
            <a:r>
              <a:rPr sz="1150" b="1" spc="100">
                <a:solidFill>
                  <a:srgbClr val="1007DC"/>
                </a:solidFill>
                <a:latin typeface="DM Sans"/>
                <a:ea typeface="DM Sans"/>
                <a:cs typeface="DM Sans"/>
              </a:rPr>
              <a:t>IN SCOPE</a:t>
            </a:r>
            <a:endParaRPr sz="1150" b="1"/>
          </a:p>
        </p:txBody>
      </p:sp>
      <p:sp>
        <p:nvSpPr>
          <p:cNvPr id="8" name="Text 6">
            <a:extLst>
              <a:ext uri="{FF2B5EF4-FFF2-40B4-BE49-F238E27FC236}">
                <a16:creationId xmlns:a16="http://schemas.microsoft.com/office/drawing/2014/main" id="{897B7675-AE69-44D5-9DCC-DED5925BC566}"/>
              </a:ext>
            </a:extLst>
          </p:cNvPr>
          <p:cNvSpPr>
            <a:spLocks noGrp="1"/>
          </p:cNvSpPr>
          <p:nvPr/>
        </p:nvSpPr>
        <p:spPr>
          <a:xfrm>
            <a:off x="1041301" y="2777213"/>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Preparing and checking sensor recordings</a:t>
            </a:r>
            <a:endParaRPr sz="1300"/>
          </a:p>
        </p:txBody>
      </p:sp>
      <p:sp>
        <p:nvSpPr>
          <p:cNvPr id="9" name="Text 7">
            <a:extLst>
              <a:ext uri="{FF2B5EF4-FFF2-40B4-BE49-F238E27FC236}">
                <a16:creationId xmlns:a16="http://schemas.microsoft.com/office/drawing/2014/main" id="{1E1C62B3-9AF5-46C8-9127-53960B37617C}"/>
              </a:ext>
            </a:extLst>
          </p:cNvPr>
          <p:cNvSpPr>
            <a:spLocks noGrp="1"/>
          </p:cNvSpPr>
          <p:nvPr/>
        </p:nvSpPr>
        <p:spPr>
          <a:xfrm>
            <a:off x="1041301" y="3118110"/>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Detecting healthy versus faulty operation</a:t>
            </a:r>
            <a:endParaRPr sz="1300"/>
          </a:p>
        </p:txBody>
      </p:sp>
      <p:sp>
        <p:nvSpPr>
          <p:cNvPr id="10" name="Text 8">
            <a:extLst>
              <a:ext uri="{FF2B5EF4-FFF2-40B4-BE49-F238E27FC236}">
                <a16:creationId xmlns:a16="http://schemas.microsoft.com/office/drawing/2014/main" id="{4C6A1233-816B-4BBE-8E66-E86BA3D67CC6}"/>
              </a:ext>
            </a:extLst>
          </p:cNvPr>
          <p:cNvSpPr>
            <a:spLocks noGrp="1"/>
          </p:cNvSpPr>
          <p:nvPr/>
        </p:nvSpPr>
        <p:spPr>
          <a:xfrm>
            <a:off x="1041301" y="3459014"/>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Naming familiar machine conditions</a:t>
            </a:r>
            <a:endParaRPr sz="1300"/>
          </a:p>
        </p:txBody>
      </p:sp>
      <p:sp>
        <p:nvSpPr>
          <p:cNvPr id="11" name="Text 9">
            <a:extLst>
              <a:ext uri="{FF2B5EF4-FFF2-40B4-BE49-F238E27FC236}">
                <a16:creationId xmlns:a16="http://schemas.microsoft.com/office/drawing/2014/main" id="{CE6DAB38-5C83-45DD-804B-DFA2627EE015}"/>
              </a:ext>
            </a:extLst>
          </p:cNvPr>
          <p:cNvSpPr>
            <a:spLocks noGrp="1"/>
          </p:cNvSpPr>
          <p:nvPr/>
        </p:nvSpPr>
        <p:spPr>
          <a:xfrm>
            <a:off x="1041301" y="3799911"/>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Flagging unfamiliar patterns for inspection</a:t>
            </a:r>
            <a:endParaRPr sz="1300"/>
          </a:p>
        </p:txBody>
      </p:sp>
      <p:sp>
        <p:nvSpPr>
          <p:cNvPr id="12" name="Text 10">
            <a:extLst>
              <a:ext uri="{FF2B5EF4-FFF2-40B4-BE49-F238E27FC236}">
                <a16:creationId xmlns:a16="http://schemas.microsoft.com/office/drawing/2014/main" id="{9B6B1FC7-4D17-495B-AFC1-33D1526194F1}"/>
              </a:ext>
            </a:extLst>
          </p:cNvPr>
          <p:cNvSpPr>
            <a:spLocks noGrp="1"/>
          </p:cNvSpPr>
          <p:nvPr/>
        </p:nvSpPr>
        <p:spPr>
          <a:xfrm>
            <a:off x="1041301" y="4140808"/>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Showing the evidence behind each result</a:t>
            </a:r>
            <a:endParaRPr sz="1300"/>
          </a:p>
        </p:txBody>
      </p:sp>
      <p:sp>
        <p:nvSpPr>
          <p:cNvPr id="13" name="Text 11">
            <a:extLst>
              <a:ext uri="{FF2B5EF4-FFF2-40B4-BE49-F238E27FC236}">
                <a16:creationId xmlns:a16="http://schemas.microsoft.com/office/drawing/2014/main" id="{85033157-60E2-4426-880B-E6C11AED993E}"/>
              </a:ext>
            </a:extLst>
          </p:cNvPr>
          <p:cNvSpPr>
            <a:spLocks noGrp="1"/>
          </p:cNvSpPr>
          <p:nvPr/>
        </p:nvSpPr>
        <p:spPr>
          <a:xfrm>
            <a:off x="1041301" y="4481711"/>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A preview of a bounded investigation assistant</a:t>
            </a:r>
            <a:r>
              <a:rPr lang="en-US" sz="1300">
                <a:solidFill>
                  <a:srgbClr val="64748B"/>
                </a:solidFill>
                <a:latin typeface="DM Sans"/>
                <a:ea typeface="DM Sans"/>
                <a:cs typeface="DM Sans"/>
              </a:rPr>
              <a:t> agent</a:t>
            </a:r>
            <a:endParaRPr sz="1300"/>
          </a:p>
        </p:txBody>
      </p:sp>
      <p:sp>
        <p:nvSpPr>
          <p:cNvPr id="14" name="Shape 12">
            <a:extLst>
              <a:ext uri="{FF2B5EF4-FFF2-40B4-BE49-F238E27FC236}">
                <a16:creationId xmlns:a16="http://schemas.microsoft.com/office/drawing/2014/main" id="{031CF3C4-4EC5-4921-95EB-89078D0EA40C}"/>
              </a:ext>
            </a:extLst>
          </p:cNvPr>
          <p:cNvSpPr>
            <a:spLocks noGrp="1"/>
          </p:cNvSpPr>
          <p:nvPr/>
        </p:nvSpPr>
        <p:spPr>
          <a:xfrm>
            <a:off x="6184883" y="2169666"/>
            <a:ext cx="5624094" cy="2805410"/>
          </a:xfrm>
          <a:custGeom>
            <a:avLst/>
            <a:gdLst/>
            <a:ahLst/>
            <a:cxnLst/>
            <a:rect l="l" t="t" r="r" b="b"/>
            <a:pathLst>
              <a:path w="5194350" h="2805410">
                <a:moveTo>
                  <a:pt x="0" y="0"/>
                </a:moveTo>
                <a:lnTo>
                  <a:pt x="5194350" y="0"/>
                </a:lnTo>
                <a:lnTo>
                  <a:pt x="5194350" y="2703810"/>
                </a:lnTo>
                <a:arcTo wR="101600" hR="101600" stAng="0" swAng="5400000"/>
                <a:lnTo>
                  <a:pt x="101600" y="2805410"/>
                </a:lnTo>
                <a:arcTo wR="101600" hR="101600" stAng="5400000" swAng="5400000"/>
                <a:lnTo>
                  <a:pt x="0" y="0"/>
                </a:lnTo>
                <a:close/>
              </a:path>
            </a:pathLst>
          </a:custGeom>
          <a:solidFill>
            <a:srgbClr val="FFFFFF"/>
          </a:solidFill>
        </p:spPr>
        <p:txBody>
          <a:bodyPr/>
          <a:lstStyle/>
          <a:p>
            <a:endParaRPr/>
          </a:p>
        </p:txBody>
      </p:sp>
      <p:sp>
        <p:nvSpPr>
          <p:cNvPr id="15" name="Shape 13">
            <a:extLst>
              <a:ext uri="{FF2B5EF4-FFF2-40B4-BE49-F238E27FC236}">
                <a16:creationId xmlns:a16="http://schemas.microsoft.com/office/drawing/2014/main" id="{FB6E32AF-4991-48FD-A6F3-658922175C90}"/>
              </a:ext>
            </a:extLst>
          </p:cNvPr>
          <p:cNvSpPr>
            <a:spLocks noGrp="1"/>
          </p:cNvSpPr>
          <p:nvPr/>
        </p:nvSpPr>
        <p:spPr>
          <a:xfrm>
            <a:off x="6184883" y="2169666"/>
            <a:ext cx="5624094" cy="2805410"/>
          </a:xfrm>
          <a:custGeom>
            <a:avLst/>
            <a:gdLst/>
            <a:ahLst/>
            <a:cxnLst/>
            <a:rect l="l" t="t" r="r" b="b"/>
            <a:pathLst>
              <a:path w="5194350" h="2805410">
                <a:moveTo>
                  <a:pt x="0" y="50800"/>
                </a:moveTo>
                <a:lnTo>
                  <a:pt x="0" y="0"/>
                </a:lnTo>
                <a:lnTo>
                  <a:pt x="5194350" y="0"/>
                </a:lnTo>
                <a:lnTo>
                  <a:pt x="5194350" y="50800"/>
                </a:lnTo>
                <a:lnTo>
                  <a:pt x="0" y="50800"/>
                </a:lnTo>
                <a:close/>
              </a:path>
            </a:pathLst>
          </a:custGeom>
          <a:solidFill>
            <a:srgbClr val="64748B"/>
          </a:solidFill>
        </p:spPr>
        <p:txBody>
          <a:bodyPr/>
          <a:lstStyle/>
          <a:p>
            <a:endParaRPr/>
          </a:p>
        </p:txBody>
      </p:sp>
      <p:sp>
        <p:nvSpPr>
          <p:cNvPr id="16" name="Text 14">
            <a:extLst>
              <a:ext uri="{FF2B5EF4-FFF2-40B4-BE49-F238E27FC236}">
                <a16:creationId xmlns:a16="http://schemas.microsoft.com/office/drawing/2014/main" id="{8CB7FD11-4958-4A9B-9427-D8649FF1FA77}"/>
              </a:ext>
            </a:extLst>
          </p:cNvPr>
          <p:cNvSpPr>
            <a:spLocks noGrp="1"/>
          </p:cNvSpPr>
          <p:nvPr/>
        </p:nvSpPr>
        <p:spPr>
          <a:xfrm>
            <a:off x="6413417" y="2471291"/>
            <a:ext cx="4879400" cy="229791"/>
          </a:xfrm>
          <a:prstGeom prst="rect">
            <a:avLst/>
          </a:prstGeom>
          <a:noFill/>
        </p:spPr>
        <p:txBody>
          <a:bodyPr wrap="square" lIns="0" tIns="0" rIns="0" bIns="0" anchor="t">
            <a:normAutofit/>
          </a:bodyPr>
          <a:lstStyle/>
          <a:p>
            <a:pPr marL="0" indent="0" algn="l">
              <a:lnSpc>
                <a:spcPts val="1610"/>
              </a:lnSpc>
              <a:buNone/>
            </a:pPr>
            <a:r>
              <a:rPr sz="1150" b="1" spc="100">
                <a:solidFill>
                  <a:srgbClr val="64748B"/>
                </a:solidFill>
                <a:latin typeface="DM Sans"/>
                <a:ea typeface="DM Sans"/>
                <a:cs typeface="DM Sans"/>
              </a:rPr>
              <a:t>OUT OF SCOPE</a:t>
            </a:r>
            <a:endParaRPr sz="1150" b="1"/>
          </a:p>
        </p:txBody>
      </p:sp>
      <p:sp>
        <p:nvSpPr>
          <p:cNvPr id="17" name="Text 15">
            <a:extLst>
              <a:ext uri="{FF2B5EF4-FFF2-40B4-BE49-F238E27FC236}">
                <a16:creationId xmlns:a16="http://schemas.microsoft.com/office/drawing/2014/main" id="{E72B68D1-8AD5-4C88-AA8A-B38BD123AD43}"/>
              </a:ext>
            </a:extLst>
          </p:cNvPr>
          <p:cNvSpPr>
            <a:spLocks noGrp="1"/>
          </p:cNvSpPr>
          <p:nvPr/>
        </p:nvSpPr>
        <p:spPr>
          <a:xfrm>
            <a:off x="6413417" y="2777213"/>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Predicting remaining useful life</a:t>
            </a:r>
            <a:endParaRPr sz="1300"/>
          </a:p>
        </p:txBody>
      </p:sp>
      <p:sp>
        <p:nvSpPr>
          <p:cNvPr id="18" name="Text 16">
            <a:extLst>
              <a:ext uri="{FF2B5EF4-FFF2-40B4-BE49-F238E27FC236}">
                <a16:creationId xmlns:a16="http://schemas.microsoft.com/office/drawing/2014/main" id="{026B5919-8174-4CC7-9DB4-0C84D4A16C29}"/>
              </a:ext>
            </a:extLst>
          </p:cNvPr>
          <p:cNvSpPr>
            <a:spLocks noGrp="1"/>
          </p:cNvSpPr>
          <p:nvPr/>
        </p:nvSpPr>
        <p:spPr>
          <a:xfrm>
            <a:off x="6413417" y="3118110"/>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Confirming that a repair fixes the problem</a:t>
            </a:r>
            <a:endParaRPr sz="1300"/>
          </a:p>
        </p:txBody>
      </p:sp>
      <p:sp>
        <p:nvSpPr>
          <p:cNvPr id="19" name="Text 17">
            <a:extLst>
              <a:ext uri="{FF2B5EF4-FFF2-40B4-BE49-F238E27FC236}">
                <a16:creationId xmlns:a16="http://schemas.microsoft.com/office/drawing/2014/main" id="{6519D8A5-2A8A-4177-A2A4-F3B7DC5BC581}"/>
              </a:ext>
            </a:extLst>
          </p:cNvPr>
          <p:cNvSpPr>
            <a:spLocks noGrp="1"/>
          </p:cNvSpPr>
          <p:nvPr/>
        </p:nvSpPr>
        <p:spPr>
          <a:xfrm>
            <a:off x="6413417" y="3459014"/>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Streaming live machine data or controlling equipment</a:t>
            </a:r>
            <a:endParaRPr sz="1300"/>
          </a:p>
        </p:txBody>
      </p:sp>
      <p:sp>
        <p:nvSpPr>
          <p:cNvPr id="20" name="Text 18">
            <a:extLst>
              <a:ext uri="{FF2B5EF4-FFF2-40B4-BE49-F238E27FC236}">
                <a16:creationId xmlns:a16="http://schemas.microsoft.com/office/drawing/2014/main" id="{746D2851-47DC-4E7F-8920-7CBCA2C11B44}"/>
              </a:ext>
            </a:extLst>
          </p:cNvPr>
          <p:cNvSpPr>
            <a:spLocks noGrp="1"/>
          </p:cNvSpPr>
          <p:nvPr/>
        </p:nvSpPr>
        <p:spPr>
          <a:xfrm>
            <a:off x="6413417" y="3799911"/>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Establishing reliability on machines other than this rig</a:t>
            </a:r>
            <a:endParaRPr sz="1300"/>
          </a:p>
        </p:txBody>
      </p:sp>
      <p:sp>
        <p:nvSpPr>
          <p:cNvPr id="21" name="Text 19">
            <a:extLst>
              <a:ext uri="{FF2B5EF4-FFF2-40B4-BE49-F238E27FC236}">
                <a16:creationId xmlns:a16="http://schemas.microsoft.com/office/drawing/2014/main" id="{890E9CEC-4E42-4006-9B9E-E93FDC091BBC}"/>
              </a:ext>
            </a:extLst>
          </p:cNvPr>
          <p:cNvSpPr>
            <a:spLocks noGrp="1"/>
          </p:cNvSpPr>
          <p:nvPr/>
        </p:nvSpPr>
        <p:spPr>
          <a:xfrm>
            <a:off x="6413417" y="4140808"/>
            <a:ext cx="4879400" cy="26476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Replacing the mechanic's judgement</a:t>
            </a:r>
            <a:endParaRPr sz="1300"/>
          </a:p>
        </p:txBody>
      </p:sp>
      <p:sp>
        <p:nvSpPr>
          <p:cNvPr id="22" name="Text 20">
            <a:extLst>
              <a:ext uri="{FF2B5EF4-FFF2-40B4-BE49-F238E27FC236}">
                <a16:creationId xmlns:a16="http://schemas.microsoft.com/office/drawing/2014/main" id="{6988B5E9-0F2C-410A-855C-5B040C080FF4}"/>
              </a:ext>
            </a:extLst>
          </p:cNvPr>
          <p:cNvSpPr>
            <a:spLocks noGrp="1"/>
          </p:cNvSpPr>
          <p:nvPr/>
        </p:nvSpPr>
        <p:spPr>
          <a:xfrm>
            <a:off x="812767" y="5986568"/>
            <a:ext cx="10203180" cy="522651"/>
          </a:xfrm>
          <a:prstGeom prst="rect">
            <a:avLst/>
          </a:prstGeom>
          <a:noFill/>
        </p:spPr>
        <p:txBody>
          <a:bodyPr wrap="square" lIns="0" tIns="0" rIns="0" bIns="0" anchor="t">
            <a:normAutofit/>
          </a:bodyPr>
          <a:lstStyle/>
          <a:p>
            <a:pPr marL="0" indent="0" algn="l">
              <a:lnSpc>
                <a:spcPts val="1958"/>
              </a:lnSpc>
              <a:buNone/>
            </a:pPr>
            <a:r>
              <a:rPr sz="1350">
                <a:solidFill>
                  <a:srgbClr val="1E293B"/>
                </a:solidFill>
                <a:latin typeface="DM Sans"/>
                <a:ea typeface="DM Sans"/>
                <a:cs typeface="DM Sans"/>
              </a:rPr>
              <a:t>MachineSense supports human inspection. Further inspection needed is an uncertainty verdict, not confirmation of a new fault.</a:t>
            </a:r>
            <a:endParaRPr sz="1350"/>
          </a:p>
        </p:txBody>
      </p:sp>
      <p:sp>
        <p:nvSpPr>
          <p:cNvPr id="24" name="Text 19">
            <a:extLst>
              <a:ext uri="{FF2B5EF4-FFF2-40B4-BE49-F238E27FC236}">
                <a16:creationId xmlns:a16="http://schemas.microsoft.com/office/drawing/2014/main" id="{186C2D6D-F6A6-CA06-0D22-4D37D5452FC1}"/>
              </a:ext>
            </a:extLst>
          </p:cNvPr>
          <p:cNvSpPr>
            <a:spLocks noGrp="1"/>
          </p:cNvSpPr>
          <p:nvPr/>
        </p:nvSpPr>
        <p:spPr>
          <a:xfrm>
            <a:off x="6413416" y="4463690"/>
            <a:ext cx="5624095" cy="408935"/>
          </a:xfrm>
          <a:prstGeom prst="rect">
            <a:avLst/>
          </a:prstGeom>
          <a:noFill/>
        </p:spPr>
        <p:txBody>
          <a:bodyPr wrap="square" lIns="0" tIns="0" rIns="0" bIns="0" anchor="t">
            <a:normAutofit/>
          </a:bodyPr>
          <a:lstStyle/>
          <a:p>
            <a:pPr marL="0" indent="0" algn="l">
              <a:lnSpc>
                <a:spcPts val="1885"/>
              </a:lnSpc>
              <a:buNone/>
            </a:pPr>
            <a:r>
              <a:rPr sz="1300">
                <a:solidFill>
                  <a:srgbClr val="64748B"/>
                </a:solidFill>
                <a:latin typeface="DM Sans"/>
                <a:ea typeface="DM Sans"/>
                <a:cs typeface="DM Sans"/>
              </a:rPr>
              <a:t>Independent diagnosis of simultaneous faults</a:t>
            </a:r>
            <a:endParaRPr sz="1300"/>
          </a:p>
        </p:txBody>
      </p:sp>
      <p:sp>
        <p:nvSpPr>
          <p:cNvPr id="23" name="Text 11">
            <a:extLst>
              <a:ext uri="{FF2B5EF4-FFF2-40B4-BE49-F238E27FC236}">
                <a16:creationId xmlns:a16="http://schemas.microsoft.com/office/drawing/2014/main" id="{D1DC1F13-D6CD-ADA9-28E0-58956FB35DB5}"/>
              </a:ext>
            </a:extLst>
          </p:cNvPr>
          <p:cNvSpPr>
            <a:spLocks noGrp="1"/>
          </p:cNvSpPr>
          <p:nvPr/>
        </p:nvSpPr>
        <p:spPr>
          <a:xfrm>
            <a:off x="1034957" y="4822614"/>
            <a:ext cx="4879400" cy="264765"/>
          </a:xfrm>
          <a:prstGeom prst="rect">
            <a:avLst/>
          </a:prstGeom>
          <a:noFill/>
        </p:spPr>
        <p:txBody>
          <a:bodyPr wrap="square" lIns="0" tIns="0" rIns="0" bIns="0" anchor="t">
            <a:normAutofit/>
          </a:bodyPr>
          <a:lstStyle/>
          <a:p>
            <a:pPr marL="0" indent="0" algn="l">
              <a:lnSpc>
                <a:spcPts val="1885"/>
              </a:lnSpc>
              <a:buNone/>
            </a:pPr>
            <a:r>
              <a:rPr lang="en-US" sz="1300">
                <a:solidFill>
                  <a:srgbClr val="64748B"/>
                </a:solidFill>
                <a:latin typeface="DM Sans"/>
                <a:ea typeface="DM Sans"/>
                <a:cs typeface="DM Sans"/>
              </a:rPr>
              <a:t>Interactive report</a:t>
            </a:r>
            <a:endParaRPr sz="1300"/>
          </a:p>
        </p:txBody>
      </p:sp>
      <p:sp>
        <p:nvSpPr>
          <p:cNvPr id="25" name="Text 11">
            <a:extLst>
              <a:ext uri="{FF2B5EF4-FFF2-40B4-BE49-F238E27FC236}">
                <a16:creationId xmlns:a16="http://schemas.microsoft.com/office/drawing/2014/main" id="{D0AA0515-14A4-92FF-DE1B-5E2BAC2896B6}"/>
              </a:ext>
            </a:extLst>
          </p:cNvPr>
          <p:cNvSpPr>
            <a:spLocks noGrp="1"/>
          </p:cNvSpPr>
          <p:nvPr/>
        </p:nvSpPr>
        <p:spPr>
          <a:xfrm>
            <a:off x="1034957" y="5127352"/>
            <a:ext cx="4879400" cy="264765"/>
          </a:xfrm>
          <a:prstGeom prst="rect">
            <a:avLst/>
          </a:prstGeom>
          <a:noFill/>
        </p:spPr>
        <p:txBody>
          <a:bodyPr wrap="square" lIns="0" tIns="0" rIns="0" bIns="0" anchor="t">
            <a:normAutofit/>
          </a:bodyPr>
          <a:lstStyle/>
          <a:p>
            <a:pPr marL="0" indent="0" algn="l">
              <a:lnSpc>
                <a:spcPts val="1885"/>
              </a:lnSpc>
              <a:buNone/>
            </a:pPr>
            <a:r>
              <a:rPr lang="en-US" sz="1300">
                <a:solidFill>
                  <a:srgbClr val="64748B"/>
                </a:solidFill>
                <a:latin typeface="DM Sans"/>
                <a:ea typeface="DM Sans"/>
                <a:cs typeface="DM Sans"/>
              </a:rPr>
              <a:t>Mechanic vs Developer view (UI/UX preferences and research)</a:t>
            </a:r>
            <a:endParaRPr sz="1300"/>
          </a:p>
        </p:txBody>
      </p:sp>
      <p:sp>
        <p:nvSpPr>
          <p:cNvPr id="26" name="Text 51">
            <a:extLst>
              <a:ext uri="{FF2B5EF4-FFF2-40B4-BE49-F238E27FC236}">
                <a16:creationId xmlns:a16="http://schemas.microsoft.com/office/drawing/2014/main" id="{A07BD9DE-9D8B-CE6D-1113-0AB8F5C09D21}"/>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11</a:t>
            </a:r>
            <a:endParaRPr lang="en-US" sz="1200" dirty="0"/>
          </a:p>
        </p:txBody>
      </p:sp>
    </p:spTree>
    <p:extLst>
      <p:ext uri="{BB962C8B-B14F-4D97-AF65-F5344CB8AC3E}">
        <p14:creationId xmlns:p14="http://schemas.microsoft.com/office/powerpoint/2010/main" val="435697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61F6446-6810-490F-A339-ECE150277766}"/>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C30351C3-9C13-488C-A154-972028CF2D47}"/>
              </a:ext>
            </a:extLst>
          </p:cNvPr>
          <p:cNvSpPr>
            <a:spLocks noGrp="1"/>
          </p:cNvSpPr>
          <p:nvPr/>
        </p:nvSpPr>
        <p:spPr>
          <a:xfrm>
            <a:off x="812767" y="812763"/>
            <a:ext cx="10883460" cy="402514"/>
          </a:xfrm>
          <a:prstGeom prst="rect">
            <a:avLst/>
          </a:prstGeom>
          <a:noFill/>
        </p:spPr>
        <p:txBody>
          <a:bodyPr wrap="square" lIns="0" tIns="0" rIns="0" bIns="0" anchor="t">
            <a:normAutofit/>
          </a:bodyPr>
          <a:lstStyle/>
          <a:p>
            <a:pPr marL="0" indent="0" algn="l">
              <a:lnSpc>
                <a:spcPts val="2970"/>
              </a:lnSpc>
              <a:buNone/>
            </a:pPr>
            <a:r>
              <a:rPr sz="2700" b="1">
                <a:solidFill>
                  <a:srgbClr val="1007DC"/>
                </a:solidFill>
                <a:latin typeface="Poppins"/>
                <a:ea typeface="Poppins"/>
                <a:cs typeface="Poppins"/>
              </a:rPr>
              <a:t>Techniques, limitations and constraints</a:t>
            </a:r>
            <a:endParaRPr sz="2700"/>
          </a:p>
        </p:txBody>
      </p:sp>
      <p:sp>
        <p:nvSpPr>
          <p:cNvPr id="4" name="Shape 2">
            <a:extLst>
              <a:ext uri="{FF2B5EF4-FFF2-40B4-BE49-F238E27FC236}">
                <a16:creationId xmlns:a16="http://schemas.microsoft.com/office/drawing/2014/main" id="{3C67CE77-0D8C-4E76-9E45-15CCCA2338B9}"/>
              </a:ext>
            </a:extLst>
          </p:cNvPr>
          <p:cNvSpPr>
            <a:spLocks noGrp="1"/>
          </p:cNvSpPr>
          <p:nvPr/>
        </p:nvSpPr>
        <p:spPr>
          <a:xfrm>
            <a:off x="812767" y="1354913"/>
            <a:ext cx="3429000" cy="4690324"/>
          </a:xfrm>
          <a:custGeom>
            <a:avLst/>
            <a:gdLst/>
            <a:ahLst/>
            <a:cxnLst/>
            <a:rect l="l" t="t" r="r" b="b"/>
            <a:pathLst>
              <a:path w="3429000" h="4220600">
                <a:moveTo>
                  <a:pt x="0" y="0"/>
                </a:moveTo>
                <a:lnTo>
                  <a:pt x="3429000" y="0"/>
                </a:lnTo>
                <a:lnTo>
                  <a:pt x="3429000" y="4119000"/>
                </a:lnTo>
                <a:arcTo wR="101600" hR="101600" stAng="0" swAng="5400000"/>
                <a:lnTo>
                  <a:pt x="101600" y="4220600"/>
                </a:lnTo>
                <a:arcTo wR="101600" hR="101600" stAng="5400000" swAng="5400000"/>
                <a:lnTo>
                  <a:pt x="0" y="0"/>
                </a:lnTo>
                <a:close/>
              </a:path>
            </a:pathLst>
          </a:custGeom>
          <a:solidFill>
            <a:srgbClr val="FFFFFF"/>
          </a:solidFill>
        </p:spPr>
        <p:txBody>
          <a:bodyPr/>
          <a:lstStyle/>
          <a:p>
            <a:endParaRPr/>
          </a:p>
        </p:txBody>
      </p:sp>
      <p:sp>
        <p:nvSpPr>
          <p:cNvPr id="5" name="Shape 3">
            <a:extLst>
              <a:ext uri="{FF2B5EF4-FFF2-40B4-BE49-F238E27FC236}">
                <a16:creationId xmlns:a16="http://schemas.microsoft.com/office/drawing/2014/main" id="{9E6AFDC6-0D7C-4806-8958-7A0E557E6DA9}"/>
              </a:ext>
            </a:extLst>
          </p:cNvPr>
          <p:cNvSpPr>
            <a:spLocks noGrp="1"/>
          </p:cNvSpPr>
          <p:nvPr/>
        </p:nvSpPr>
        <p:spPr>
          <a:xfrm>
            <a:off x="812767" y="1354913"/>
            <a:ext cx="3429000" cy="4220600"/>
          </a:xfrm>
          <a:custGeom>
            <a:avLst/>
            <a:gdLst/>
            <a:ahLst/>
            <a:cxnLst/>
            <a:rect l="l" t="t" r="r" b="b"/>
            <a:pathLst>
              <a:path w="3429000" h="4220600">
                <a:moveTo>
                  <a:pt x="0" y="38100"/>
                </a:moveTo>
                <a:lnTo>
                  <a:pt x="0" y="0"/>
                </a:lnTo>
                <a:lnTo>
                  <a:pt x="3429000" y="0"/>
                </a:lnTo>
                <a:lnTo>
                  <a:pt x="3429000" y="38100"/>
                </a:lnTo>
                <a:lnTo>
                  <a:pt x="0" y="38100"/>
                </a:lnTo>
                <a:close/>
              </a:path>
            </a:pathLst>
          </a:custGeom>
          <a:solidFill>
            <a:srgbClr val="1007DC"/>
          </a:solidFill>
        </p:spPr>
        <p:txBody>
          <a:bodyPr/>
          <a:lstStyle/>
          <a:p>
            <a:endParaRPr/>
          </a:p>
        </p:txBody>
      </p:sp>
      <p:sp>
        <p:nvSpPr>
          <p:cNvPr id="6" name="Text 4">
            <a:extLst>
              <a:ext uri="{FF2B5EF4-FFF2-40B4-BE49-F238E27FC236}">
                <a16:creationId xmlns:a16="http://schemas.microsoft.com/office/drawing/2014/main" id="{68F8309C-5D42-4E8E-971F-B85A8451DA37}"/>
              </a:ext>
            </a:extLst>
          </p:cNvPr>
          <p:cNvSpPr>
            <a:spLocks noGrp="1"/>
          </p:cNvSpPr>
          <p:nvPr/>
        </p:nvSpPr>
        <p:spPr>
          <a:xfrm>
            <a:off x="1003267" y="1607840"/>
            <a:ext cx="3139440" cy="221026"/>
          </a:xfrm>
          <a:prstGeom prst="rect">
            <a:avLst/>
          </a:prstGeom>
          <a:noFill/>
        </p:spPr>
        <p:txBody>
          <a:bodyPr wrap="square" lIns="0" tIns="0" rIns="0" bIns="0" anchor="t">
            <a:normAutofit/>
          </a:bodyPr>
          <a:lstStyle/>
          <a:p>
            <a:pPr marL="0" indent="0" algn="l">
              <a:lnSpc>
                <a:spcPts val="1540"/>
              </a:lnSpc>
              <a:buNone/>
            </a:pPr>
            <a:r>
              <a:rPr sz="1100" spc="100">
                <a:solidFill>
                  <a:srgbClr val="1007DC"/>
                </a:solidFill>
                <a:latin typeface="DM Sans"/>
                <a:ea typeface="DM Sans"/>
                <a:cs typeface="DM Sans"/>
              </a:rPr>
              <a:t>TECHNIQUES</a:t>
            </a:r>
            <a:endParaRPr sz="1100"/>
          </a:p>
        </p:txBody>
      </p:sp>
      <p:sp>
        <p:nvSpPr>
          <p:cNvPr id="7" name="Text 5">
            <a:extLst>
              <a:ext uri="{FF2B5EF4-FFF2-40B4-BE49-F238E27FC236}">
                <a16:creationId xmlns:a16="http://schemas.microsoft.com/office/drawing/2014/main" id="{9CF395EF-EB73-464F-B0C1-F1C464107B82}"/>
              </a:ext>
            </a:extLst>
          </p:cNvPr>
          <p:cNvSpPr>
            <a:spLocks noGrp="1"/>
          </p:cNvSpPr>
          <p:nvPr/>
        </p:nvSpPr>
        <p:spPr>
          <a:xfrm>
            <a:off x="1003267" y="1892350"/>
            <a:ext cx="3139440" cy="743496"/>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Supervised</a:t>
            </a:r>
            <a:r>
              <a:rPr sz="1300">
                <a:solidFill>
                  <a:srgbClr val="64748B"/>
                </a:solidFill>
                <a:latin typeface="DM Sans"/>
                <a:ea typeface="DM Sans"/>
                <a:cs typeface="DM Sans"/>
              </a:rPr>
              <a:t>: a convolutional network on order spectrograms, and logistic regression on physics features</a:t>
            </a:r>
            <a:endParaRPr sz="1300"/>
          </a:p>
        </p:txBody>
      </p:sp>
      <p:sp>
        <p:nvSpPr>
          <p:cNvPr id="8" name="Text 6">
            <a:extLst>
              <a:ext uri="{FF2B5EF4-FFF2-40B4-BE49-F238E27FC236}">
                <a16:creationId xmlns:a16="http://schemas.microsoft.com/office/drawing/2014/main" id="{D4A11AB8-235A-4087-89FC-FB7D99413B69}"/>
              </a:ext>
            </a:extLst>
          </p:cNvPr>
          <p:cNvSpPr>
            <a:spLocks noGrp="1"/>
          </p:cNvSpPr>
          <p:nvPr/>
        </p:nvSpPr>
        <p:spPr>
          <a:xfrm>
            <a:off x="1003267" y="2699327"/>
            <a:ext cx="3139440" cy="743496"/>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Unsupervised</a:t>
            </a:r>
            <a:r>
              <a:rPr sz="1300">
                <a:solidFill>
                  <a:srgbClr val="64748B"/>
                </a:solidFill>
                <a:latin typeface="DM Sans"/>
                <a:ea typeface="DM Sans"/>
                <a:cs typeface="DM Sans"/>
              </a:rPr>
              <a:t>: an autoencoder and a speed-aware baseline fitted on healthy recordings only</a:t>
            </a:r>
            <a:endParaRPr sz="1300"/>
          </a:p>
        </p:txBody>
      </p:sp>
      <p:sp>
        <p:nvSpPr>
          <p:cNvPr id="9" name="Text 7">
            <a:extLst>
              <a:ext uri="{FF2B5EF4-FFF2-40B4-BE49-F238E27FC236}">
                <a16:creationId xmlns:a16="http://schemas.microsoft.com/office/drawing/2014/main" id="{F64D76EA-AE37-4A9D-8A0E-4BA64AC00367}"/>
              </a:ext>
            </a:extLst>
          </p:cNvPr>
          <p:cNvSpPr>
            <a:spLocks noGrp="1"/>
          </p:cNvSpPr>
          <p:nvPr/>
        </p:nvSpPr>
        <p:spPr>
          <a:xfrm>
            <a:off x="1003267" y="3506304"/>
            <a:ext cx="3139440" cy="504130"/>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Open set: </a:t>
            </a:r>
            <a:r>
              <a:rPr sz="1300">
                <a:solidFill>
                  <a:srgbClr val="64748B"/>
                </a:solidFill>
                <a:latin typeface="DM Sans"/>
                <a:ea typeface="DM Sans"/>
                <a:cs typeface="DM Sans"/>
              </a:rPr>
              <a:t>Mahalanobis distance on the network's own embeddings</a:t>
            </a:r>
            <a:endParaRPr sz="1300"/>
          </a:p>
        </p:txBody>
      </p:sp>
      <p:sp>
        <p:nvSpPr>
          <p:cNvPr id="10" name="Text 8">
            <a:extLst>
              <a:ext uri="{FF2B5EF4-FFF2-40B4-BE49-F238E27FC236}">
                <a16:creationId xmlns:a16="http://schemas.microsoft.com/office/drawing/2014/main" id="{14B65518-3D17-4EFC-852A-6A0EB0214F5B}"/>
              </a:ext>
            </a:extLst>
          </p:cNvPr>
          <p:cNvSpPr>
            <a:spLocks noGrp="1"/>
          </p:cNvSpPr>
          <p:nvPr/>
        </p:nvSpPr>
        <p:spPr>
          <a:xfrm>
            <a:off x="1003267" y="4174506"/>
            <a:ext cx="3139440" cy="887015"/>
          </a:xfrm>
          <a:prstGeom prst="rect">
            <a:avLst/>
          </a:prstGeom>
          <a:noFill/>
        </p:spPr>
        <p:txBody>
          <a:bodyPr wrap="square" lIns="0" tIns="0" rIns="0" bIns="0" anchor="t">
            <a:normAutofit fontScale="98709"/>
          </a:bodyPr>
          <a:lstStyle/>
          <a:p>
            <a:pPr marL="0" indent="0" algn="l">
              <a:lnSpc>
                <a:spcPts val="1885"/>
              </a:lnSpc>
              <a:buNone/>
            </a:pPr>
            <a:r>
              <a:rPr sz="1300" b="1">
                <a:solidFill>
                  <a:srgbClr val="64748B"/>
                </a:solidFill>
                <a:latin typeface="DM Sans"/>
                <a:ea typeface="DM Sans"/>
                <a:cs typeface="DM Sans"/>
              </a:rPr>
              <a:t>Hybrid: </a:t>
            </a:r>
            <a:r>
              <a:rPr sz="1300">
                <a:solidFill>
                  <a:srgbClr val="64748B"/>
                </a:solidFill>
                <a:latin typeface="DM Sans"/>
                <a:ea typeface="DM Sans"/>
                <a:cs typeface="DM Sans"/>
              </a:rPr>
              <a:t>a calibrated rule combines classifier confidence, embedding distance and healthy checks</a:t>
            </a:r>
            <a:endParaRPr sz="1300"/>
          </a:p>
        </p:txBody>
      </p:sp>
      <p:sp>
        <p:nvSpPr>
          <p:cNvPr id="11" name="Text 9">
            <a:extLst>
              <a:ext uri="{FF2B5EF4-FFF2-40B4-BE49-F238E27FC236}">
                <a16:creationId xmlns:a16="http://schemas.microsoft.com/office/drawing/2014/main" id="{08AC80C4-BD00-40FE-8F52-2C1D84A62F47}"/>
              </a:ext>
            </a:extLst>
          </p:cNvPr>
          <p:cNvSpPr>
            <a:spLocks noGrp="1"/>
          </p:cNvSpPr>
          <p:nvPr/>
        </p:nvSpPr>
        <p:spPr>
          <a:xfrm>
            <a:off x="1003267" y="5131339"/>
            <a:ext cx="3139440" cy="743496"/>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Intelligent sensing</a:t>
            </a:r>
            <a:r>
              <a:rPr sz="1300">
                <a:solidFill>
                  <a:srgbClr val="64748B"/>
                </a:solidFill>
                <a:latin typeface="DM Sans"/>
                <a:ea typeface="DM Sans"/>
                <a:cs typeface="DM Sans"/>
              </a:rPr>
              <a:t>: fusion across six vibration axes, a tachometer and a microphone</a:t>
            </a:r>
            <a:endParaRPr sz="1300"/>
          </a:p>
        </p:txBody>
      </p:sp>
      <p:sp>
        <p:nvSpPr>
          <p:cNvPr id="12" name="Shape 10">
            <a:extLst>
              <a:ext uri="{FF2B5EF4-FFF2-40B4-BE49-F238E27FC236}">
                <a16:creationId xmlns:a16="http://schemas.microsoft.com/office/drawing/2014/main" id="{B643F418-45DD-40E8-8909-1485ABE52783}"/>
              </a:ext>
            </a:extLst>
          </p:cNvPr>
          <p:cNvSpPr>
            <a:spLocks noGrp="1"/>
          </p:cNvSpPr>
          <p:nvPr/>
        </p:nvSpPr>
        <p:spPr>
          <a:xfrm>
            <a:off x="4381417" y="1354913"/>
            <a:ext cx="3429083" cy="4220600"/>
          </a:xfrm>
          <a:custGeom>
            <a:avLst/>
            <a:gdLst/>
            <a:ahLst/>
            <a:cxnLst/>
            <a:rect l="l" t="t" r="r" b="b"/>
            <a:pathLst>
              <a:path w="3429083" h="4220600">
                <a:moveTo>
                  <a:pt x="0" y="0"/>
                </a:moveTo>
                <a:lnTo>
                  <a:pt x="3429083" y="0"/>
                </a:lnTo>
                <a:lnTo>
                  <a:pt x="3429083" y="4119000"/>
                </a:lnTo>
                <a:arcTo wR="101600" hR="101600" stAng="0" swAng="5400000"/>
                <a:lnTo>
                  <a:pt x="101600" y="4220600"/>
                </a:lnTo>
                <a:arcTo wR="101600" hR="101600" stAng="5400000" swAng="5400000"/>
                <a:lnTo>
                  <a:pt x="0" y="0"/>
                </a:lnTo>
                <a:close/>
              </a:path>
            </a:pathLst>
          </a:custGeom>
          <a:solidFill>
            <a:srgbClr val="FFFFFF"/>
          </a:solidFill>
        </p:spPr>
        <p:txBody>
          <a:bodyPr/>
          <a:lstStyle/>
          <a:p>
            <a:endParaRPr/>
          </a:p>
        </p:txBody>
      </p:sp>
      <p:sp>
        <p:nvSpPr>
          <p:cNvPr id="13" name="Shape 11">
            <a:extLst>
              <a:ext uri="{FF2B5EF4-FFF2-40B4-BE49-F238E27FC236}">
                <a16:creationId xmlns:a16="http://schemas.microsoft.com/office/drawing/2014/main" id="{2B4F54A9-C599-4246-92C6-D15D8E397F03}"/>
              </a:ext>
            </a:extLst>
          </p:cNvPr>
          <p:cNvSpPr>
            <a:spLocks noGrp="1"/>
          </p:cNvSpPr>
          <p:nvPr/>
        </p:nvSpPr>
        <p:spPr>
          <a:xfrm>
            <a:off x="4381417" y="1354913"/>
            <a:ext cx="3429083" cy="4220600"/>
          </a:xfrm>
          <a:custGeom>
            <a:avLst/>
            <a:gdLst/>
            <a:ahLst/>
            <a:cxnLst/>
            <a:rect l="l" t="t" r="r" b="b"/>
            <a:pathLst>
              <a:path w="3429083" h="4220600">
                <a:moveTo>
                  <a:pt x="0" y="38100"/>
                </a:moveTo>
                <a:lnTo>
                  <a:pt x="0" y="0"/>
                </a:lnTo>
                <a:lnTo>
                  <a:pt x="3429083" y="0"/>
                </a:lnTo>
                <a:lnTo>
                  <a:pt x="3429083" y="38100"/>
                </a:lnTo>
                <a:lnTo>
                  <a:pt x="0" y="38100"/>
                </a:lnTo>
                <a:close/>
              </a:path>
            </a:pathLst>
          </a:custGeom>
          <a:solidFill>
            <a:srgbClr val="F59E0B"/>
          </a:solidFill>
        </p:spPr>
        <p:txBody>
          <a:bodyPr/>
          <a:lstStyle/>
          <a:p>
            <a:endParaRPr/>
          </a:p>
        </p:txBody>
      </p:sp>
      <p:sp>
        <p:nvSpPr>
          <p:cNvPr id="14" name="Text 12">
            <a:extLst>
              <a:ext uri="{FF2B5EF4-FFF2-40B4-BE49-F238E27FC236}">
                <a16:creationId xmlns:a16="http://schemas.microsoft.com/office/drawing/2014/main" id="{78A54C87-DB5F-4EFA-9AF5-8F6AD5DE807F}"/>
              </a:ext>
            </a:extLst>
          </p:cNvPr>
          <p:cNvSpPr>
            <a:spLocks noGrp="1"/>
          </p:cNvSpPr>
          <p:nvPr/>
        </p:nvSpPr>
        <p:spPr>
          <a:xfrm>
            <a:off x="4571917" y="1607840"/>
            <a:ext cx="3139525" cy="221026"/>
          </a:xfrm>
          <a:prstGeom prst="rect">
            <a:avLst/>
          </a:prstGeom>
          <a:noFill/>
        </p:spPr>
        <p:txBody>
          <a:bodyPr wrap="square" lIns="0" tIns="0" rIns="0" bIns="0" anchor="t">
            <a:normAutofit/>
          </a:bodyPr>
          <a:lstStyle/>
          <a:p>
            <a:pPr marL="0" indent="0" algn="l">
              <a:lnSpc>
                <a:spcPts val="1540"/>
              </a:lnSpc>
              <a:buNone/>
            </a:pPr>
            <a:r>
              <a:rPr sz="1100" spc="100">
                <a:solidFill>
                  <a:srgbClr val="F59E0B"/>
                </a:solidFill>
                <a:latin typeface="DM Sans"/>
                <a:ea typeface="DM Sans"/>
                <a:cs typeface="DM Sans"/>
              </a:rPr>
              <a:t>LIMITATIONS</a:t>
            </a:r>
            <a:endParaRPr sz="1100"/>
          </a:p>
        </p:txBody>
      </p:sp>
      <p:sp>
        <p:nvSpPr>
          <p:cNvPr id="15" name="Text 13">
            <a:extLst>
              <a:ext uri="{FF2B5EF4-FFF2-40B4-BE49-F238E27FC236}">
                <a16:creationId xmlns:a16="http://schemas.microsoft.com/office/drawing/2014/main" id="{3EB216AF-F4FF-4382-A542-124A01A70D83}"/>
              </a:ext>
            </a:extLst>
          </p:cNvPr>
          <p:cNvSpPr>
            <a:spLocks noGrp="1"/>
          </p:cNvSpPr>
          <p:nvPr/>
        </p:nvSpPr>
        <p:spPr>
          <a:xfrm>
            <a:off x="4571917" y="1892350"/>
            <a:ext cx="3139525" cy="504130"/>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One test rig</a:t>
            </a:r>
            <a:r>
              <a:rPr sz="1300">
                <a:solidFill>
                  <a:srgbClr val="64748B"/>
                </a:solidFill>
                <a:latin typeface="DM Sans"/>
                <a:ea typeface="DM Sans"/>
                <a:cs typeface="DM Sans"/>
              </a:rPr>
              <a:t>: results cannot establish reliability on other machines</a:t>
            </a:r>
            <a:endParaRPr sz="1300"/>
          </a:p>
        </p:txBody>
      </p:sp>
      <p:sp>
        <p:nvSpPr>
          <p:cNvPr id="16" name="Text 14">
            <a:extLst>
              <a:ext uri="{FF2B5EF4-FFF2-40B4-BE49-F238E27FC236}">
                <a16:creationId xmlns:a16="http://schemas.microsoft.com/office/drawing/2014/main" id="{538B0BCC-DEA5-4664-9E64-39D30A9A8EAE}"/>
              </a:ext>
            </a:extLst>
          </p:cNvPr>
          <p:cNvSpPr>
            <a:spLocks noGrp="1"/>
          </p:cNvSpPr>
          <p:nvPr/>
        </p:nvSpPr>
        <p:spPr>
          <a:xfrm>
            <a:off x="4571917" y="2459961"/>
            <a:ext cx="3139525" cy="743496"/>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Healthy recordings are scarce, </a:t>
            </a:r>
            <a:r>
              <a:rPr sz="1300">
                <a:solidFill>
                  <a:srgbClr val="64748B"/>
                </a:solidFill>
                <a:latin typeface="DM Sans"/>
                <a:ea typeface="DM Sans"/>
                <a:cs typeface="DM Sans"/>
              </a:rPr>
              <a:t>so any false-alarm rate is known only to a wide interval</a:t>
            </a:r>
            <a:endParaRPr sz="1300"/>
          </a:p>
        </p:txBody>
      </p:sp>
      <p:sp>
        <p:nvSpPr>
          <p:cNvPr id="17" name="Text 15">
            <a:extLst>
              <a:ext uri="{FF2B5EF4-FFF2-40B4-BE49-F238E27FC236}">
                <a16:creationId xmlns:a16="http://schemas.microsoft.com/office/drawing/2014/main" id="{80D0EFA5-673A-451C-9EC5-A3EA963178E9}"/>
              </a:ext>
            </a:extLst>
          </p:cNvPr>
          <p:cNvSpPr>
            <a:spLocks noGrp="1"/>
          </p:cNvSpPr>
          <p:nvPr/>
        </p:nvSpPr>
        <p:spPr>
          <a:xfrm>
            <a:off x="4571917" y="3266939"/>
            <a:ext cx="3139525" cy="1864400"/>
          </a:xfrm>
          <a:prstGeom prst="rect">
            <a:avLst/>
          </a:prstGeom>
          <a:noFill/>
        </p:spPr>
        <p:txBody>
          <a:bodyPr wrap="square" lIns="0" tIns="0" rIns="0" bIns="0" anchor="t">
            <a:normAutofit/>
          </a:bodyPr>
          <a:lstStyle/>
          <a:p>
            <a:pPr marL="0" indent="0" algn="l">
              <a:lnSpc>
                <a:spcPts val="1885"/>
              </a:lnSpc>
              <a:buNone/>
            </a:pPr>
            <a:r>
              <a:rPr lang="en-SG" sz="1300" b="1">
                <a:solidFill>
                  <a:srgbClr val="64748B"/>
                </a:solidFill>
                <a:latin typeface="DM Sans"/>
                <a:ea typeface="DM Sans"/>
                <a:cs typeface="DM Sans"/>
              </a:rPr>
              <a:t>Open-set trade-off: </a:t>
            </a:r>
            <a:r>
              <a:rPr lang="en-SG" sz="1300">
                <a:solidFill>
                  <a:srgbClr val="64748B"/>
                </a:solidFill>
                <a:latin typeface="DM Sans"/>
                <a:ea typeface="DM Sans"/>
                <a:cs typeface="DM Sans"/>
              </a:rPr>
              <a:t>Catching more unfamiliar faults also risks rejecting more known faults. We show performance across decision thresholds, as well as the chosen operating point.</a:t>
            </a:r>
            <a:endParaRPr sz="1300"/>
          </a:p>
        </p:txBody>
      </p:sp>
      <p:sp>
        <p:nvSpPr>
          <p:cNvPr id="19" name="Shape 17">
            <a:extLst>
              <a:ext uri="{FF2B5EF4-FFF2-40B4-BE49-F238E27FC236}">
                <a16:creationId xmlns:a16="http://schemas.microsoft.com/office/drawing/2014/main" id="{C182176A-A80C-48D5-A179-A4B1A6684038}"/>
              </a:ext>
            </a:extLst>
          </p:cNvPr>
          <p:cNvSpPr>
            <a:spLocks noGrp="1"/>
          </p:cNvSpPr>
          <p:nvPr/>
        </p:nvSpPr>
        <p:spPr>
          <a:xfrm>
            <a:off x="7950150" y="1354913"/>
            <a:ext cx="3429083" cy="4220600"/>
          </a:xfrm>
          <a:custGeom>
            <a:avLst/>
            <a:gdLst/>
            <a:ahLst/>
            <a:cxnLst/>
            <a:rect l="l" t="t" r="r" b="b"/>
            <a:pathLst>
              <a:path w="3429083" h="4220600">
                <a:moveTo>
                  <a:pt x="0" y="0"/>
                </a:moveTo>
                <a:lnTo>
                  <a:pt x="3429083" y="0"/>
                </a:lnTo>
                <a:lnTo>
                  <a:pt x="3429083" y="4119000"/>
                </a:lnTo>
                <a:arcTo wR="101600" hR="101600" stAng="0" swAng="5400000"/>
                <a:lnTo>
                  <a:pt x="101600" y="4220600"/>
                </a:lnTo>
                <a:arcTo wR="101600" hR="101600" stAng="5400000" swAng="5400000"/>
                <a:lnTo>
                  <a:pt x="0" y="0"/>
                </a:lnTo>
                <a:close/>
              </a:path>
            </a:pathLst>
          </a:custGeom>
          <a:solidFill>
            <a:srgbClr val="FFFFFF"/>
          </a:solidFill>
        </p:spPr>
        <p:txBody>
          <a:bodyPr/>
          <a:lstStyle/>
          <a:p>
            <a:endParaRPr/>
          </a:p>
        </p:txBody>
      </p:sp>
      <p:sp>
        <p:nvSpPr>
          <p:cNvPr id="20" name="Shape 18">
            <a:extLst>
              <a:ext uri="{FF2B5EF4-FFF2-40B4-BE49-F238E27FC236}">
                <a16:creationId xmlns:a16="http://schemas.microsoft.com/office/drawing/2014/main" id="{6CD88C32-4386-4CCB-BE0A-C6A14C209CE9}"/>
              </a:ext>
            </a:extLst>
          </p:cNvPr>
          <p:cNvSpPr>
            <a:spLocks noGrp="1"/>
          </p:cNvSpPr>
          <p:nvPr/>
        </p:nvSpPr>
        <p:spPr>
          <a:xfrm>
            <a:off x="7950150" y="1354913"/>
            <a:ext cx="3429083" cy="4220600"/>
          </a:xfrm>
          <a:custGeom>
            <a:avLst/>
            <a:gdLst/>
            <a:ahLst/>
            <a:cxnLst/>
            <a:rect l="l" t="t" r="r" b="b"/>
            <a:pathLst>
              <a:path w="3429083" h="4220600">
                <a:moveTo>
                  <a:pt x="0" y="38100"/>
                </a:moveTo>
                <a:lnTo>
                  <a:pt x="0" y="0"/>
                </a:lnTo>
                <a:lnTo>
                  <a:pt x="3429083" y="0"/>
                </a:lnTo>
                <a:lnTo>
                  <a:pt x="3429083" y="38100"/>
                </a:lnTo>
                <a:lnTo>
                  <a:pt x="0" y="38100"/>
                </a:lnTo>
                <a:close/>
              </a:path>
            </a:pathLst>
          </a:custGeom>
          <a:solidFill>
            <a:srgbClr val="64748B"/>
          </a:solidFill>
        </p:spPr>
        <p:txBody>
          <a:bodyPr/>
          <a:lstStyle/>
          <a:p>
            <a:endParaRPr/>
          </a:p>
        </p:txBody>
      </p:sp>
      <p:sp>
        <p:nvSpPr>
          <p:cNvPr id="21" name="Text 19">
            <a:extLst>
              <a:ext uri="{FF2B5EF4-FFF2-40B4-BE49-F238E27FC236}">
                <a16:creationId xmlns:a16="http://schemas.microsoft.com/office/drawing/2014/main" id="{225E3457-F116-4B7F-9BE6-B8FA2D83338B}"/>
              </a:ext>
            </a:extLst>
          </p:cNvPr>
          <p:cNvSpPr>
            <a:spLocks noGrp="1"/>
          </p:cNvSpPr>
          <p:nvPr/>
        </p:nvSpPr>
        <p:spPr>
          <a:xfrm>
            <a:off x="8140650" y="1607840"/>
            <a:ext cx="3139525" cy="221026"/>
          </a:xfrm>
          <a:prstGeom prst="rect">
            <a:avLst/>
          </a:prstGeom>
          <a:noFill/>
        </p:spPr>
        <p:txBody>
          <a:bodyPr wrap="square" lIns="0" tIns="0" rIns="0" bIns="0" anchor="t">
            <a:normAutofit/>
          </a:bodyPr>
          <a:lstStyle/>
          <a:p>
            <a:pPr marL="0" indent="0" algn="l">
              <a:lnSpc>
                <a:spcPts val="1540"/>
              </a:lnSpc>
              <a:buNone/>
            </a:pPr>
            <a:r>
              <a:rPr sz="1100" spc="100">
                <a:solidFill>
                  <a:srgbClr val="64748B"/>
                </a:solidFill>
                <a:latin typeface="DM Sans"/>
                <a:ea typeface="DM Sans"/>
                <a:cs typeface="DM Sans"/>
              </a:rPr>
              <a:t>CONSTRAINTS</a:t>
            </a:r>
            <a:endParaRPr sz="1100"/>
          </a:p>
        </p:txBody>
      </p:sp>
      <p:sp>
        <p:nvSpPr>
          <p:cNvPr id="22" name="Text 20">
            <a:extLst>
              <a:ext uri="{FF2B5EF4-FFF2-40B4-BE49-F238E27FC236}">
                <a16:creationId xmlns:a16="http://schemas.microsoft.com/office/drawing/2014/main" id="{9B942A58-2E15-425D-A9B1-0AC27B322ED1}"/>
              </a:ext>
            </a:extLst>
          </p:cNvPr>
          <p:cNvSpPr>
            <a:spLocks noGrp="1"/>
          </p:cNvSpPr>
          <p:nvPr/>
        </p:nvSpPr>
        <p:spPr>
          <a:xfrm>
            <a:off x="8140650" y="1892350"/>
            <a:ext cx="3139525" cy="743496"/>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Input format: </a:t>
            </a:r>
            <a:r>
              <a:rPr sz="1300">
                <a:solidFill>
                  <a:srgbClr val="64748B"/>
                </a:solidFill>
                <a:latin typeface="DM Sans"/>
                <a:ea typeface="DM Sans"/>
                <a:cs typeface="DM Sans"/>
              </a:rPr>
              <a:t>eight-channel, five-second recordings sampled at 50 kHz, in the MAFAULDA layout</a:t>
            </a:r>
            <a:endParaRPr sz="1300"/>
          </a:p>
        </p:txBody>
      </p:sp>
      <p:sp>
        <p:nvSpPr>
          <p:cNvPr id="23" name="Text 21">
            <a:extLst>
              <a:ext uri="{FF2B5EF4-FFF2-40B4-BE49-F238E27FC236}">
                <a16:creationId xmlns:a16="http://schemas.microsoft.com/office/drawing/2014/main" id="{144F1401-D6E8-4114-BC8C-4EF2EA11507C}"/>
              </a:ext>
            </a:extLst>
          </p:cNvPr>
          <p:cNvSpPr>
            <a:spLocks noGrp="1"/>
          </p:cNvSpPr>
          <p:nvPr/>
        </p:nvSpPr>
        <p:spPr>
          <a:xfrm>
            <a:off x="8140650" y="2699327"/>
            <a:ext cx="3139525" cy="982861"/>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Signal quality: </a:t>
            </a:r>
            <a:r>
              <a:rPr sz="1300">
                <a:solidFill>
                  <a:srgbClr val="64748B"/>
                </a:solidFill>
                <a:latin typeface="DM Sans"/>
                <a:ea typeface="DM Sans"/>
                <a:cs typeface="DM Sans"/>
              </a:rPr>
              <a:t>unreliable speed estimates or sensor readings weaken interpretation, and the application shows a warning</a:t>
            </a:r>
            <a:endParaRPr sz="1300"/>
          </a:p>
        </p:txBody>
      </p:sp>
      <p:sp>
        <p:nvSpPr>
          <p:cNvPr id="24" name="Text 22">
            <a:extLst>
              <a:ext uri="{FF2B5EF4-FFF2-40B4-BE49-F238E27FC236}">
                <a16:creationId xmlns:a16="http://schemas.microsoft.com/office/drawing/2014/main" id="{79D28DFF-4B60-4917-A189-F0DB8762B115}"/>
              </a:ext>
            </a:extLst>
          </p:cNvPr>
          <p:cNvSpPr>
            <a:spLocks noGrp="1"/>
          </p:cNvSpPr>
          <p:nvPr/>
        </p:nvSpPr>
        <p:spPr>
          <a:xfrm>
            <a:off x="8140650" y="3745669"/>
            <a:ext cx="3139525" cy="982861"/>
          </a:xfrm>
          <a:prstGeom prst="rect">
            <a:avLst/>
          </a:prstGeom>
          <a:noFill/>
        </p:spPr>
        <p:txBody>
          <a:bodyPr wrap="square" lIns="0" tIns="0" rIns="0" bIns="0" anchor="t">
            <a:normAutofit/>
          </a:bodyPr>
          <a:lstStyle/>
          <a:p>
            <a:pPr marL="0" indent="0" algn="l">
              <a:lnSpc>
                <a:spcPts val="1885"/>
              </a:lnSpc>
              <a:buNone/>
            </a:pPr>
            <a:r>
              <a:rPr sz="1300" b="1">
                <a:solidFill>
                  <a:srgbClr val="64748B"/>
                </a:solidFill>
                <a:latin typeface="DM Sans"/>
                <a:ea typeface="DM Sans"/>
                <a:cs typeface="DM Sans"/>
              </a:rPr>
              <a:t>Deployment: </a:t>
            </a:r>
            <a:r>
              <a:rPr sz="1300">
                <a:solidFill>
                  <a:srgbClr val="64748B"/>
                </a:solidFill>
                <a:latin typeface="DM Sans"/>
                <a:ea typeface="DM Sans"/>
                <a:cs typeface="DM Sans"/>
              </a:rPr>
              <a:t>the demo accepts prepared recordings and CSV uploads; it does not stream live data or control equipment</a:t>
            </a:r>
            <a:endParaRPr sz="1300"/>
          </a:p>
        </p:txBody>
      </p:sp>
      <p:pic>
        <p:nvPicPr>
          <p:cNvPr id="27" name="Graphic 26" descr="Spinning Plates with solid fill">
            <a:extLst>
              <a:ext uri="{FF2B5EF4-FFF2-40B4-BE49-F238E27FC236}">
                <a16:creationId xmlns:a16="http://schemas.microsoft.com/office/drawing/2014/main" id="{664A195F-ECA8-1D52-C600-27F69E35CA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56186" y="4534490"/>
            <a:ext cx="914400" cy="914400"/>
          </a:xfrm>
          <a:prstGeom prst="rect">
            <a:avLst/>
          </a:prstGeom>
        </p:spPr>
      </p:pic>
      <p:sp>
        <p:nvSpPr>
          <p:cNvPr id="18" name="Text 51">
            <a:extLst>
              <a:ext uri="{FF2B5EF4-FFF2-40B4-BE49-F238E27FC236}">
                <a16:creationId xmlns:a16="http://schemas.microsoft.com/office/drawing/2014/main" id="{3730A38E-DBC7-73EB-AA1D-0400D1AA22BB}"/>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12</a:t>
            </a:r>
            <a:endParaRPr lang="en-US" sz="1200" dirty="0"/>
          </a:p>
        </p:txBody>
      </p:sp>
    </p:spTree>
    <p:extLst>
      <p:ext uri="{BB962C8B-B14F-4D97-AF65-F5344CB8AC3E}">
        <p14:creationId xmlns:p14="http://schemas.microsoft.com/office/powerpoint/2010/main" val="759990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pic>
        <p:nvPicPr>
          <p:cNvPr id="21" name="Picture 2"/>
          <p:cNvPicPr>
            <a:picLocks noChangeAspect="1"/>
          </p:cNvPicPr>
          <p:nvPr/>
        </p:nvPicPr>
        <p:blipFill>
          <a:blip r:embed="rId3"/>
          <a:stretch>
            <a:fillRect/>
          </a:stretch>
        </p:blipFill>
        <p:spPr>
          <a:xfrm>
            <a:off x="812767" y="1798830"/>
            <a:ext cx="3889702" cy="3737958"/>
          </a:xfrm>
          <a:prstGeom prst="roundRect">
            <a:avLst>
              <a:gd name="adj" fmla="val 4933"/>
            </a:avLst>
          </a:prstGeom>
        </p:spPr>
      </p:pic>
      <p:pic>
        <p:nvPicPr>
          <p:cNvPr id="22" name="Picture 4"/>
          <p:cNvPicPr>
            <a:picLocks noChangeAspect="1"/>
          </p:cNvPicPr>
          <p:nvPr/>
        </p:nvPicPr>
        <p:blipFill>
          <a:blip r:embed="rId4"/>
          <a:stretch>
            <a:fillRect/>
          </a:stretch>
        </p:blipFill>
        <p:spPr>
          <a:xfrm>
            <a:off x="5090619" y="1798830"/>
            <a:ext cx="4960560" cy="3737957"/>
          </a:xfrm>
          <a:prstGeom prst="roundRect">
            <a:avLst>
              <a:gd name="adj" fmla="val 4933"/>
            </a:avLst>
          </a:prstGeom>
        </p:spPr>
      </p:pic>
      <p:sp>
        <p:nvSpPr>
          <p:cNvPr id="7" name="Text 0">
            <a:extLst>
              <a:ext uri="{FF2B5EF4-FFF2-40B4-BE49-F238E27FC236}">
                <a16:creationId xmlns:a16="http://schemas.microsoft.com/office/drawing/2014/main" id="{F29202A4-1D2C-502C-1BD5-B1FB4D886067}"/>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8" name="Text 1">
            <a:extLst>
              <a:ext uri="{FF2B5EF4-FFF2-40B4-BE49-F238E27FC236}">
                <a16:creationId xmlns:a16="http://schemas.microsoft.com/office/drawing/2014/main" id="{8106ADFA-3953-64D7-A2A1-1326DD0B5610}"/>
              </a:ext>
            </a:extLst>
          </p:cNvPr>
          <p:cNvSpPr>
            <a:spLocks noGrp="1"/>
          </p:cNvSpPr>
          <p:nvPr/>
        </p:nvSpPr>
        <p:spPr>
          <a:xfrm>
            <a:off x="812767" y="812763"/>
            <a:ext cx="3584075" cy="388623"/>
          </a:xfrm>
          <a:prstGeom prst="rect">
            <a:avLst/>
          </a:prstGeom>
          <a:noFill/>
        </p:spPr>
        <p:txBody>
          <a:bodyPr wrap="square" lIns="0" tIns="0" rIns="0" bIns="0" anchor="t">
            <a:normAutofit/>
          </a:bodyPr>
          <a:lstStyle/>
          <a:p>
            <a:pPr marL="0" indent="0" algn="l">
              <a:lnSpc>
                <a:spcPts val="2860"/>
              </a:lnSpc>
              <a:buNone/>
            </a:pPr>
            <a:r>
              <a:rPr sz="2600" b="1">
                <a:solidFill>
                  <a:srgbClr val="1007DC"/>
                </a:solidFill>
                <a:latin typeface="Poppins"/>
                <a:ea typeface="Poppins"/>
                <a:cs typeface="Poppins"/>
              </a:rPr>
              <a:t>What arrives on disk</a:t>
            </a:r>
            <a:endParaRPr sz="2600"/>
          </a:p>
        </p:txBody>
      </p:sp>
      <p:sp>
        <p:nvSpPr>
          <p:cNvPr id="9" name="Text 2">
            <a:extLst>
              <a:ext uri="{FF2B5EF4-FFF2-40B4-BE49-F238E27FC236}">
                <a16:creationId xmlns:a16="http://schemas.microsoft.com/office/drawing/2014/main" id="{F79D22C2-6A6C-B1A4-4308-6E84895486FA}"/>
              </a:ext>
            </a:extLst>
          </p:cNvPr>
          <p:cNvSpPr>
            <a:spLocks noGrp="1"/>
          </p:cNvSpPr>
          <p:nvPr/>
        </p:nvSpPr>
        <p:spPr>
          <a:xfrm>
            <a:off x="812767" y="1189358"/>
            <a:ext cx="7240484" cy="523147"/>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One archive, six top-level folders, 1,951 CSV files, no index and no label file.</a:t>
            </a:r>
            <a:endParaRPr sz="1400"/>
          </a:p>
        </p:txBody>
      </p:sp>
      <p:pic>
        <p:nvPicPr>
          <p:cNvPr id="26" name="Picture 11"/>
          <p:cNvPicPr>
            <a:picLocks noChangeAspect="1"/>
          </p:cNvPicPr>
          <p:nvPr/>
        </p:nvPicPr>
        <p:blipFill>
          <a:blip r:embed="rId5"/>
          <a:stretch>
            <a:fillRect/>
          </a:stretch>
        </p:blipFill>
        <p:spPr>
          <a:xfrm>
            <a:off x="812767" y="5793511"/>
            <a:ext cx="9284822" cy="427628"/>
          </a:xfrm>
          <a:prstGeom prst="roundRect">
            <a:avLst>
              <a:gd name="adj" fmla="val 29894"/>
            </a:avLst>
          </a:prstGeom>
        </p:spPr>
      </p:pic>
      <p:pic>
        <p:nvPicPr>
          <p:cNvPr id="27" name="Picture 13"/>
          <p:cNvPicPr>
            <a:picLocks noChangeAspect="1"/>
          </p:cNvPicPr>
          <p:nvPr/>
        </p:nvPicPr>
        <p:blipFill>
          <a:blip r:embed="rId6"/>
          <a:stretch>
            <a:fillRect/>
          </a:stretch>
        </p:blipFill>
        <p:spPr>
          <a:xfrm>
            <a:off x="8677435" y="1254682"/>
            <a:ext cx="1373744" cy="392498"/>
          </a:xfrm>
          <a:prstGeom prst="roundRect">
            <a:avLst>
              <a:gd name="adj" fmla="val 29894"/>
            </a:avLst>
          </a:prstGeom>
        </p:spPr>
      </p:pic>
      <p:cxnSp>
        <p:nvCxnSpPr>
          <p:cNvPr id="28" name="Straight Arrow Connector 15"/>
          <p:cNvCxnSpPr/>
          <p:nvPr/>
        </p:nvCxnSpPr>
        <p:spPr>
          <a:xfrm>
            <a:off x="4698967" y="3667809"/>
            <a:ext cx="376412" cy="0"/>
          </a:xfrm>
          <a:prstGeom prst="straightConnector1">
            <a:avLst/>
          </a:prstGeom>
          <a:ln w="57150">
            <a:solidFill>
              <a:schemeClr val="bg1">
                <a:lumMod val="65000"/>
              </a:schemeClr>
            </a:solidFill>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09D8D792-A325-D4E8-7BFF-8B550920D51E}"/>
              </a:ext>
            </a:extLst>
          </p:cNvPr>
          <p:cNvSpPr txBox="1"/>
          <p:nvPr/>
        </p:nvSpPr>
        <p:spPr>
          <a:xfrm>
            <a:off x="729639" y="1400174"/>
            <a:ext cx="6097384" cy="307777"/>
          </a:xfrm>
          <a:prstGeom prst="rect">
            <a:avLst/>
          </a:prstGeom>
          <a:noFill/>
        </p:spPr>
        <p:txBody>
          <a:bodyPr wrap="square">
            <a:spAutoFit/>
          </a:bodyPr>
          <a:lstStyle/>
          <a:p>
            <a:r>
              <a:rPr lang="en-US" sz="1400"/>
              <a:t>https://www.kaggle.com/datasets/vuxuancu/mafaulda-full</a:t>
            </a:r>
          </a:p>
        </p:txBody>
      </p:sp>
      <p:sp>
        <p:nvSpPr>
          <p:cNvPr id="2" name="Text 51">
            <a:extLst>
              <a:ext uri="{FF2B5EF4-FFF2-40B4-BE49-F238E27FC236}">
                <a16:creationId xmlns:a16="http://schemas.microsoft.com/office/drawing/2014/main" id="{891E118F-899E-237F-E0D0-EAD635A54044}"/>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13</a:t>
            </a:r>
            <a:endParaRPr lang="en-US" sz="1200" dirty="0"/>
          </a:p>
        </p:txBody>
      </p:sp>
    </p:spTree>
    <p:extLst>
      <p:ext uri="{BB962C8B-B14F-4D97-AF65-F5344CB8AC3E}">
        <p14:creationId xmlns:p14="http://schemas.microsoft.com/office/powerpoint/2010/main" val="2830698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904C852-1421-49EC-A584-49537616A361}"/>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BBE807B5-FC72-43F6-9A69-58EA3FD70ED5}"/>
              </a:ext>
            </a:extLst>
          </p:cNvPr>
          <p:cNvSpPr>
            <a:spLocks noGrp="1"/>
          </p:cNvSpPr>
          <p:nvPr/>
        </p:nvSpPr>
        <p:spPr>
          <a:xfrm>
            <a:off x="812767" y="812763"/>
            <a:ext cx="7210730" cy="402514"/>
          </a:xfrm>
          <a:prstGeom prst="rect">
            <a:avLst/>
          </a:prstGeom>
          <a:noFill/>
        </p:spPr>
        <p:txBody>
          <a:bodyPr wrap="square" lIns="0" tIns="0" rIns="0" bIns="0" anchor="t">
            <a:normAutofit/>
          </a:bodyPr>
          <a:lstStyle/>
          <a:p>
            <a:pPr marL="0" indent="0" algn="l">
              <a:lnSpc>
                <a:spcPts val="2970"/>
              </a:lnSpc>
              <a:buNone/>
            </a:pPr>
            <a:r>
              <a:rPr sz="2700" b="1">
                <a:solidFill>
                  <a:srgbClr val="1007DC"/>
                </a:solidFill>
                <a:latin typeface="Poppins"/>
                <a:ea typeface="Poppins"/>
                <a:cs typeface="Poppins"/>
              </a:rPr>
              <a:t>Imbalance: one clean peak at shaft rate</a:t>
            </a:r>
            <a:endParaRPr sz="2700"/>
          </a:p>
        </p:txBody>
      </p:sp>
      <p:sp>
        <p:nvSpPr>
          <p:cNvPr id="4" name="Text 2">
            <a:extLst>
              <a:ext uri="{FF2B5EF4-FFF2-40B4-BE49-F238E27FC236}">
                <a16:creationId xmlns:a16="http://schemas.microsoft.com/office/drawing/2014/main" id="{B5295746-1A49-4AAE-AB4D-F3A90C33A19F}"/>
              </a:ext>
            </a:extLst>
          </p:cNvPr>
          <p:cNvSpPr>
            <a:spLocks noGrp="1"/>
          </p:cNvSpPr>
          <p:nvPr/>
        </p:nvSpPr>
        <p:spPr>
          <a:xfrm>
            <a:off x="8475762" y="950348"/>
            <a:ext cx="2990575" cy="256497"/>
          </a:xfrm>
          <a:prstGeom prst="rect">
            <a:avLst/>
          </a:prstGeom>
          <a:noFill/>
        </p:spPr>
        <p:txBody>
          <a:bodyPr wrap="square" lIns="0" tIns="0" rIns="0" bIns="0" anchor="t">
            <a:normAutofit/>
          </a:bodyPr>
          <a:lstStyle/>
          <a:p>
            <a:pPr marL="0" indent="0" algn="l">
              <a:lnSpc>
                <a:spcPts val="1820"/>
              </a:lnSpc>
              <a:buNone/>
            </a:pPr>
            <a:r>
              <a:rPr sz="1300">
                <a:solidFill>
                  <a:srgbClr val="64748B"/>
                </a:solidFill>
                <a:latin typeface="DM Sans"/>
                <a:ea typeface="DM Sans"/>
                <a:cs typeface="DM Sans"/>
              </a:rPr>
              <a:t>imbalance / 35 g / 25.08 Hz measured</a:t>
            </a:r>
            <a:endParaRPr sz="1300"/>
          </a:p>
        </p:txBody>
      </p:sp>
      <p:sp>
        <p:nvSpPr>
          <p:cNvPr id="5" name="Shape 3">
            <a:extLst>
              <a:ext uri="{FF2B5EF4-FFF2-40B4-BE49-F238E27FC236}">
                <a16:creationId xmlns:a16="http://schemas.microsoft.com/office/drawing/2014/main" id="{8641DC11-2A11-49AA-A5A9-F75B2359B202}"/>
              </a:ext>
            </a:extLst>
          </p:cNvPr>
          <p:cNvSpPr>
            <a:spLocks noGrp="1"/>
          </p:cNvSpPr>
          <p:nvPr/>
        </p:nvSpPr>
        <p:spPr>
          <a:xfrm>
            <a:off x="815942" y="1258869"/>
            <a:ext cx="10560116" cy="1313011"/>
          </a:xfrm>
          <a:prstGeom prst="roundRect">
            <a:avLst>
              <a:gd name="adj" fmla="val 7496"/>
            </a:avLst>
          </a:prstGeom>
          <a:solidFill>
            <a:srgbClr val="FFFFFF"/>
          </a:solidFill>
          <a:ln w="6350">
            <a:solidFill>
              <a:srgbClr val="E2E8F0"/>
            </a:solidFill>
            <a:prstDash val="solid"/>
          </a:ln>
        </p:spPr>
        <p:txBody>
          <a:bodyPr/>
          <a:lstStyle/>
          <a:p>
            <a:endParaRPr/>
          </a:p>
        </p:txBody>
      </p:sp>
      <p:sp>
        <p:nvSpPr>
          <p:cNvPr id="6" name="Text 4">
            <a:extLst>
              <a:ext uri="{FF2B5EF4-FFF2-40B4-BE49-F238E27FC236}">
                <a16:creationId xmlns:a16="http://schemas.microsoft.com/office/drawing/2014/main" id="{073DF4F7-3C51-4485-BF66-FF4B7E899AA8}"/>
              </a:ext>
            </a:extLst>
          </p:cNvPr>
          <p:cNvSpPr>
            <a:spLocks noGrp="1"/>
          </p:cNvSpPr>
          <p:nvPr/>
        </p:nvSpPr>
        <p:spPr>
          <a:xfrm>
            <a:off x="995825" y="1400634"/>
            <a:ext cx="3423628" cy="1054877"/>
          </a:xfrm>
          <a:prstGeom prst="rect">
            <a:avLst/>
          </a:prstGeom>
          <a:noFill/>
        </p:spPr>
        <p:txBody>
          <a:bodyPr wrap="square" lIns="0" tIns="0" rIns="0" bIns="0" anchor="t">
            <a:normAutofit/>
          </a:bodyPr>
          <a:lstStyle/>
          <a:p>
            <a:pPr marL="0" indent="0" algn="l">
              <a:lnSpc>
                <a:spcPts val="1680"/>
              </a:lnSpc>
              <a:buNone/>
            </a:pPr>
            <a:r>
              <a:rPr sz="1200" b="1">
                <a:solidFill>
                  <a:srgbClr val="64748B"/>
                </a:solidFill>
                <a:latin typeface="DM Sans"/>
                <a:ea typeface="DM Sans"/>
                <a:cs typeface="DM Sans"/>
              </a:rPr>
              <a:t>Left chart.</a:t>
            </a:r>
            <a:r>
              <a:rPr sz="1200">
                <a:solidFill>
                  <a:srgbClr val="64748B"/>
                </a:solidFill>
                <a:latin typeface="DM Sans"/>
                <a:ea typeface="DM Sans"/>
                <a:cs typeface="DM Sans"/>
              </a:rPr>
              <a:t> The sensor voltage over time. One horizontal unit is a fraction of a second. Its shape tells you whether the machine is swaying smoothly or being struck.</a:t>
            </a:r>
            <a:endParaRPr sz="1200"/>
          </a:p>
        </p:txBody>
      </p:sp>
      <p:sp>
        <p:nvSpPr>
          <p:cNvPr id="7" name="Text 5">
            <a:extLst>
              <a:ext uri="{FF2B5EF4-FFF2-40B4-BE49-F238E27FC236}">
                <a16:creationId xmlns:a16="http://schemas.microsoft.com/office/drawing/2014/main" id="{B1284AA6-9817-4AF2-9FDD-3B83ACB2CDFB}"/>
              </a:ext>
            </a:extLst>
          </p:cNvPr>
          <p:cNvSpPr>
            <a:spLocks noGrp="1"/>
          </p:cNvSpPr>
          <p:nvPr/>
        </p:nvSpPr>
        <p:spPr>
          <a:xfrm>
            <a:off x="4434003" y="1400634"/>
            <a:ext cx="3423713" cy="1054877"/>
          </a:xfrm>
          <a:prstGeom prst="rect">
            <a:avLst/>
          </a:prstGeom>
          <a:noFill/>
        </p:spPr>
        <p:txBody>
          <a:bodyPr wrap="square" lIns="0" tIns="0" rIns="0" bIns="0" anchor="t">
            <a:normAutofit fontScale="77500" lnSpcReduction="20000"/>
          </a:bodyPr>
          <a:lstStyle/>
          <a:p>
            <a:pPr marL="0" indent="0" algn="l">
              <a:lnSpc>
                <a:spcPts val="1680"/>
              </a:lnSpc>
              <a:buNone/>
            </a:pPr>
            <a:r>
              <a:rPr sz="1200" b="1">
                <a:solidFill>
                  <a:srgbClr val="64748B"/>
                </a:solidFill>
                <a:latin typeface="DM Sans"/>
                <a:ea typeface="DM Sans"/>
                <a:cs typeface="DM Sans"/>
              </a:rPr>
              <a:t>Right chart.</a:t>
            </a:r>
            <a:r>
              <a:rPr sz="1200">
                <a:solidFill>
                  <a:srgbClr val="64748B"/>
                </a:solidFill>
                <a:latin typeface="DM Sans"/>
                <a:ea typeface="DM Sans"/>
                <a:cs typeface="DM Sans"/>
              </a:rPr>
              <a:t> The same signal split into frequencies, but the axis is divided by the measured shaft speed. </a:t>
            </a:r>
            <a:r>
              <a:rPr sz="1200" b="1">
                <a:solidFill>
                  <a:srgbClr val="64748B"/>
                </a:solidFill>
                <a:latin typeface="DM Sans"/>
                <a:ea typeface="DM Sans"/>
                <a:cs typeface="DM Sans"/>
              </a:rPr>
              <a:t>1×</a:t>
            </a:r>
            <a:r>
              <a:rPr sz="1200">
                <a:solidFill>
                  <a:srgbClr val="64748B"/>
                </a:solidFill>
                <a:latin typeface="DM Sans"/>
                <a:ea typeface="DM Sans"/>
                <a:cs typeface="DM Sans"/>
              </a:rPr>
              <a:t> means once per turn of the shaft, </a:t>
            </a:r>
            <a:r>
              <a:rPr sz="1200" b="1">
                <a:solidFill>
                  <a:srgbClr val="64748B"/>
                </a:solidFill>
                <a:latin typeface="DM Sans"/>
                <a:ea typeface="DM Sans"/>
                <a:cs typeface="DM Sans"/>
              </a:rPr>
              <a:t>2×</a:t>
            </a:r>
            <a:r>
              <a:rPr sz="1200">
                <a:solidFill>
                  <a:srgbClr val="64748B"/>
                </a:solidFill>
                <a:latin typeface="DM Sans"/>
                <a:ea typeface="DM Sans"/>
                <a:cs typeface="DM Sans"/>
              </a:rPr>
              <a:t> twice per turn, and so on. A peak at a whole number means something happens at that rate every revolution.</a:t>
            </a:r>
            <a:endParaRPr sz="1200"/>
          </a:p>
        </p:txBody>
      </p:sp>
      <p:sp>
        <p:nvSpPr>
          <p:cNvPr id="8" name="Text 6">
            <a:extLst>
              <a:ext uri="{FF2B5EF4-FFF2-40B4-BE49-F238E27FC236}">
                <a16:creationId xmlns:a16="http://schemas.microsoft.com/office/drawing/2014/main" id="{9E3D8378-7741-4636-A5FB-DB4F5406BAC2}"/>
              </a:ext>
            </a:extLst>
          </p:cNvPr>
          <p:cNvSpPr>
            <a:spLocks noGrp="1"/>
          </p:cNvSpPr>
          <p:nvPr/>
        </p:nvSpPr>
        <p:spPr>
          <a:xfrm>
            <a:off x="7872264" y="1400634"/>
            <a:ext cx="3423628" cy="1054877"/>
          </a:xfrm>
          <a:prstGeom prst="rect">
            <a:avLst/>
          </a:prstGeom>
          <a:noFill/>
        </p:spPr>
        <p:txBody>
          <a:bodyPr wrap="square" lIns="0" tIns="0" rIns="0" bIns="0" anchor="t">
            <a:normAutofit/>
          </a:bodyPr>
          <a:lstStyle/>
          <a:p>
            <a:pPr marL="0" indent="0" algn="l">
              <a:lnSpc>
                <a:spcPts val="1680"/>
              </a:lnSpc>
              <a:buNone/>
            </a:pPr>
            <a:r>
              <a:rPr sz="1200" b="1">
                <a:solidFill>
                  <a:srgbClr val="64748B"/>
                </a:solidFill>
                <a:latin typeface="DM Sans"/>
                <a:ea typeface="DM Sans"/>
                <a:cs typeface="DM Sans"/>
              </a:rPr>
              <a:t>Why divide by speed.</a:t>
            </a:r>
            <a:r>
              <a:rPr sz="1200">
                <a:solidFill>
                  <a:srgbClr val="64748B"/>
                </a:solidFill>
                <a:latin typeface="DM Sans"/>
                <a:ea typeface="DM Sans"/>
                <a:cs typeface="DM Sans"/>
              </a:rPr>
              <a:t> A fault at 3× sits in the same place whether the shaft turns at 15 Hz or 60 Hz, so one picture serves every speed in the dataset.</a:t>
            </a:r>
            <a:endParaRPr sz="1200"/>
          </a:p>
        </p:txBody>
      </p:sp>
      <p:sp>
        <p:nvSpPr>
          <p:cNvPr id="9" name="Text 7">
            <a:extLst>
              <a:ext uri="{FF2B5EF4-FFF2-40B4-BE49-F238E27FC236}">
                <a16:creationId xmlns:a16="http://schemas.microsoft.com/office/drawing/2014/main" id="{000F6883-8F16-4B81-9599-1A27EB3EDC7D}"/>
              </a:ext>
            </a:extLst>
          </p:cNvPr>
          <p:cNvSpPr>
            <a:spLocks noGrp="1"/>
          </p:cNvSpPr>
          <p:nvPr/>
        </p:nvSpPr>
        <p:spPr>
          <a:xfrm>
            <a:off x="812767" y="2714706"/>
            <a:ext cx="5297805" cy="201183"/>
          </a:xfrm>
          <a:prstGeom prst="rect">
            <a:avLst/>
          </a:prstGeom>
          <a:noFill/>
        </p:spPr>
        <p:txBody>
          <a:bodyPr wrap="square" lIns="0" tIns="0" rIns="0" bIns="0" anchor="t">
            <a:normAutofit/>
          </a:bodyPr>
          <a:lstStyle/>
          <a:p>
            <a:pPr marL="0" indent="0" algn="l">
              <a:lnSpc>
                <a:spcPts val="1422"/>
              </a:lnSpc>
              <a:buNone/>
            </a:pPr>
            <a:r>
              <a:rPr sz="1016">
                <a:solidFill>
                  <a:srgbClr val="64748B"/>
                </a:solidFill>
                <a:latin typeface="DM Sans"/>
                <a:ea typeface="DM Sans"/>
                <a:cs typeface="DM Sans"/>
              </a:rPr>
              <a:t>Raw vibration, 80 ms of the five seconds</a:t>
            </a:r>
            <a:endParaRPr sz="1016"/>
          </a:p>
        </p:txBody>
      </p:sp>
      <p:pic>
        <p:nvPicPr>
          <p:cNvPr id="43" name="Image 0"/>
          <p:cNvPicPr>
            <a:picLocks noChangeAspect="1"/>
          </p:cNvPicPr>
          <p:nvPr/>
        </p:nvPicPr>
        <p:blipFill>
          <a:blip r:embed="rId3"/>
          <a:srcRect l="-13235" r="-13235"/>
          <a:stretch/>
        </p:blipFill>
        <p:spPr>
          <a:xfrm>
            <a:off x="812767" y="2953990"/>
            <a:ext cx="4445000" cy="953988"/>
          </a:xfrm>
          <a:prstGeom prst="rect">
            <a:avLst/>
          </a:prstGeom>
        </p:spPr>
      </p:pic>
      <p:sp>
        <p:nvSpPr>
          <p:cNvPr id="11" name="Text 8">
            <a:extLst>
              <a:ext uri="{FF2B5EF4-FFF2-40B4-BE49-F238E27FC236}">
                <a16:creationId xmlns:a16="http://schemas.microsoft.com/office/drawing/2014/main" id="{F16C2B72-C67D-4D4E-ADCE-F14C57564417}"/>
              </a:ext>
            </a:extLst>
          </p:cNvPr>
          <p:cNvSpPr>
            <a:spLocks noGrp="1"/>
          </p:cNvSpPr>
          <p:nvPr/>
        </p:nvSpPr>
        <p:spPr>
          <a:xfrm>
            <a:off x="812767" y="3971479"/>
            <a:ext cx="5297805" cy="350755"/>
          </a:xfrm>
          <a:prstGeom prst="rect">
            <a:avLst/>
          </a:prstGeom>
          <a:noFill/>
        </p:spPr>
        <p:txBody>
          <a:bodyPr wrap="square" lIns="0" tIns="0" rIns="0" bIns="0" anchor="t">
            <a:normAutofit/>
          </a:bodyPr>
          <a:lstStyle/>
          <a:p>
            <a:pPr marL="0" indent="0" algn="l">
              <a:lnSpc>
                <a:spcPts val="1448"/>
              </a:lnSpc>
              <a:buNone/>
            </a:pPr>
            <a:r>
              <a:rPr sz="1073">
                <a:solidFill>
                  <a:srgbClr val="1E293B"/>
                </a:solidFill>
                <a:latin typeface="DM Sans"/>
                <a:ea typeface="DM Sans"/>
                <a:cs typeface="DM Sans"/>
              </a:rPr>
              <a:t>A smooth wave that rises and falls once per revolution. No sharp edges anywhere.</a:t>
            </a:r>
            <a:endParaRPr sz="1073"/>
          </a:p>
        </p:txBody>
      </p:sp>
      <p:sp>
        <p:nvSpPr>
          <p:cNvPr id="12" name="Text 9">
            <a:extLst>
              <a:ext uri="{FF2B5EF4-FFF2-40B4-BE49-F238E27FC236}">
                <a16:creationId xmlns:a16="http://schemas.microsoft.com/office/drawing/2014/main" id="{0B3C8C32-C123-4903-B21C-979D085BE404}"/>
              </a:ext>
            </a:extLst>
          </p:cNvPr>
          <p:cNvSpPr>
            <a:spLocks noGrp="1"/>
          </p:cNvSpPr>
          <p:nvPr/>
        </p:nvSpPr>
        <p:spPr>
          <a:xfrm>
            <a:off x="6235650" y="2714706"/>
            <a:ext cx="5297890" cy="225987"/>
          </a:xfrm>
          <a:prstGeom prst="rect">
            <a:avLst/>
          </a:prstGeom>
          <a:noFill/>
        </p:spPr>
        <p:txBody>
          <a:bodyPr wrap="square" lIns="0" tIns="0" rIns="0" bIns="0" anchor="t">
            <a:normAutofit/>
          </a:bodyPr>
          <a:lstStyle/>
          <a:p>
            <a:pPr marL="0" indent="0" algn="l">
              <a:lnSpc>
                <a:spcPts val="1624"/>
              </a:lnSpc>
              <a:buNone/>
            </a:pPr>
            <a:r>
              <a:rPr sz="1160">
                <a:solidFill>
                  <a:srgbClr val="64748B"/>
                </a:solidFill>
                <a:latin typeface="DM Sans"/>
                <a:ea typeface="DM Sans"/>
                <a:cs typeface="DM Sans"/>
              </a:rPr>
              <a:t>Energy against multiples of shaft speed</a:t>
            </a:r>
            <a:endParaRPr sz="1160"/>
          </a:p>
        </p:txBody>
      </p:sp>
      <p:pic>
        <p:nvPicPr>
          <p:cNvPr id="46" name="Image 1"/>
          <p:cNvPicPr>
            <a:picLocks noChangeAspect="1"/>
          </p:cNvPicPr>
          <p:nvPr/>
        </p:nvPicPr>
        <p:blipFill>
          <a:blip r:embed="rId4"/>
          <a:srcRect l="-5404" r="-5404"/>
          <a:stretch/>
        </p:blipFill>
        <p:spPr>
          <a:xfrm>
            <a:off x="6235650" y="2978795"/>
            <a:ext cx="4445000" cy="1318038"/>
          </a:xfrm>
          <a:prstGeom prst="rect">
            <a:avLst/>
          </a:prstGeom>
        </p:spPr>
      </p:pic>
      <p:sp>
        <p:nvSpPr>
          <p:cNvPr id="14" name="Text 10">
            <a:extLst>
              <a:ext uri="{FF2B5EF4-FFF2-40B4-BE49-F238E27FC236}">
                <a16:creationId xmlns:a16="http://schemas.microsoft.com/office/drawing/2014/main" id="{B34417D6-D631-489D-9697-295628ABDA0B}"/>
              </a:ext>
            </a:extLst>
          </p:cNvPr>
          <p:cNvSpPr>
            <a:spLocks noGrp="1"/>
          </p:cNvSpPr>
          <p:nvPr/>
        </p:nvSpPr>
        <p:spPr>
          <a:xfrm>
            <a:off x="6359459" y="4842584"/>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1×</a:t>
            </a:r>
            <a:endParaRPr sz="1200"/>
          </a:p>
        </p:txBody>
      </p:sp>
      <p:sp>
        <p:nvSpPr>
          <p:cNvPr id="15" name="Text 11">
            <a:extLst>
              <a:ext uri="{FF2B5EF4-FFF2-40B4-BE49-F238E27FC236}">
                <a16:creationId xmlns:a16="http://schemas.microsoft.com/office/drawing/2014/main" id="{718D3264-2DB9-4B3E-B3B9-CB6107543B0A}"/>
              </a:ext>
            </a:extLst>
          </p:cNvPr>
          <p:cNvSpPr>
            <a:spLocks noGrp="1"/>
          </p:cNvSpPr>
          <p:nvPr/>
        </p:nvSpPr>
        <p:spPr>
          <a:xfrm>
            <a:off x="6816609" y="4842584"/>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2×</a:t>
            </a:r>
            <a:endParaRPr sz="1200"/>
          </a:p>
        </p:txBody>
      </p:sp>
      <p:sp>
        <p:nvSpPr>
          <p:cNvPr id="16" name="Text 12">
            <a:extLst>
              <a:ext uri="{FF2B5EF4-FFF2-40B4-BE49-F238E27FC236}">
                <a16:creationId xmlns:a16="http://schemas.microsoft.com/office/drawing/2014/main" id="{771EC77F-D334-4BDD-898C-87D23FEAB98F}"/>
              </a:ext>
            </a:extLst>
          </p:cNvPr>
          <p:cNvSpPr>
            <a:spLocks noGrp="1"/>
          </p:cNvSpPr>
          <p:nvPr/>
        </p:nvSpPr>
        <p:spPr>
          <a:xfrm>
            <a:off x="7267476" y="4842584"/>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3×</a:t>
            </a:r>
            <a:endParaRPr sz="1200"/>
          </a:p>
        </p:txBody>
      </p:sp>
      <p:sp>
        <p:nvSpPr>
          <p:cNvPr id="17" name="Text 13">
            <a:extLst>
              <a:ext uri="{FF2B5EF4-FFF2-40B4-BE49-F238E27FC236}">
                <a16:creationId xmlns:a16="http://schemas.microsoft.com/office/drawing/2014/main" id="{27B09A81-4785-45A4-AF3A-B1704099AFA7}"/>
              </a:ext>
            </a:extLst>
          </p:cNvPr>
          <p:cNvSpPr>
            <a:spLocks noGrp="1"/>
          </p:cNvSpPr>
          <p:nvPr/>
        </p:nvSpPr>
        <p:spPr>
          <a:xfrm>
            <a:off x="8181859" y="4842584"/>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5×</a:t>
            </a:r>
            <a:endParaRPr sz="1200"/>
          </a:p>
        </p:txBody>
      </p:sp>
      <p:sp>
        <p:nvSpPr>
          <p:cNvPr id="18" name="Text 14">
            <a:extLst>
              <a:ext uri="{FF2B5EF4-FFF2-40B4-BE49-F238E27FC236}">
                <a16:creationId xmlns:a16="http://schemas.microsoft.com/office/drawing/2014/main" id="{E00AAA6D-B1F8-4050-B2F5-B61F0ECA094B}"/>
              </a:ext>
            </a:extLst>
          </p:cNvPr>
          <p:cNvSpPr>
            <a:spLocks noGrp="1"/>
          </p:cNvSpPr>
          <p:nvPr/>
        </p:nvSpPr>
        <p:spPr>
          <a:xfrm>
            <a:off x="10461575" y="4842584"/>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10×</a:t>
            </a:r>
            <a:endParaRPr sz="1200"/>
          </a:p>
        </p:txBody>
      </p:sp>
      <p:sp>
        <p:nvSpPr>
          <p:cNvPr id="19" name="Text 15">
            <a:extLst>
              <a:ext uri="{FF2B5EF4-FFF2-40B4-BE49-F238E27FC236}">
                <a16:creationId xmlns:a16="http://schemas.microsoft.com/office/drawing/2014/main" id="{396B67A3-513D-4F86-81E7-8A268B280030}"/>
              </a:ext>
            </a:extLst>
          </p:cNvPr>
          <p:cNvSpPr>
            <a:spLocks noGrp="1"/>
          </p:cNvSpPr>
          <p:nvPr/>
        </p:nvSpPr>
        <p:spPr>
          <a:xfrm>
            <a:off x="6526794" y="4343996"/>
            <a:ext cx="4578350" cy="436827"/>
          </a:xfrm>
          <a:prstGeom prst="rect">
            <a:avLst/>
          </a:prstGeom>
          <a:noFill/>
        </p:spPr>
        <p:txBody>
          <a:bodyPr wrap="square" lIns="0" tIns="0" rIns="0" bIns="0" anchor="t">
            <a:normAutofit/>
          </a:bodyPr>
          <a:lstStyle/>
          <a:p>
            <a:pPr marL="0" indent="0" algn="l">
              <a:lnSpc>
                <a:spcPts val="1620"/>
              </a:lnSpc>
              <a:buNone/>
            </a:pPr>
            <a:r>
              <a:rPr sz="1200">
                <a:solidFill>
                  <a:srgbClr val="1E293B"/>
                </a:solidFill>
                <a:latin typeface="DM Sans"/>
                <a:ea typeface="DM Sans"/>
                <a:cs typeface="DM Sans"/>
              </a:rPr>
              <a:t>Almost all the energy sits at 1×. The higher orders are close to the floor.</a:t>
            </a:r>
            <a:endParaRPr sz="1200"/>
          </a:p>
        </p:txBody>
      </p:sp>
      <p:sp>
        <p:nvSpPr>
          <p:cNvPr id="20" name="Shape 16">
            <a:extLst>
              <a:ext uri="{FF2B5EF4-FFF2-40B4-BE49-F238E27FC236}">
                <a16:creationId xmlns:a16="http://schemas.microsoft.com/office/drawing/2014/main" id="{1649FBA4-313F-488D-8856-24223848D166}"/>
              </a:ext>
            </a:extLst>
          </p:cNvPr>
          <p:cNvSpPr>
            <a:spLocks noGrp="1"/>
          </p:cNvSpPr>
          <p:nvPr/>
        </p:nvSpPr>
        <p:spPr>
          <a:xfrm>
            <a:off x="809592" y="4754608"/>
            <a:ext cx="3445950" cy="1405516"/>
          </a:xfrm>
          <a:custGeom>
            <a:avLst/>
            <a:gdLst/>
            <a:ahLst/>
            <a:cxnLst/>
            <a:rect l="l" t="t" r="r" b="b"/>
            <a:pathLst>
              <a:path w="3445950" h="1405516">
                <a:moveTo>
                  <a:pt x="0" y="0"/>
                </a:moveTo>
                <a:lnTo>
                  <a:pt x="3445950" y="0"/>
                </a:lnTo>
                <a:lnTo>
                  <a:pt x="3445950" y="1303916"/>
                </a:lnTo>
                <a:arcTo wR="101600" hR="101600" stAng="0" swAng="5400000"/>
                <a:lnTo>
                  <a:pt x="101600" y="1405516"/>
                </a:lnTo>
                <a:arcTo wR="101600" hR="101600" stAng="5400000" swAng="5400000"/>
                <a:lnTo>
                  <a:pt x="0" y="0"/>
                </a:lnTo>
                <a:close/>
              </a:path>
            </a:pathLst>
          </a:custGeom>
          <a:solidFill>
            <a:srgbClr val="FFFFFF"/>
          </a:solidFill>
        </p:spPr>
        <p:txBody>
          <a:bodyPr/>
          <a:lstStyle/>
          <a:p>
            <a:endParaRPr/>
          </a:p>
        </p:txBody>
      </p:sp>
      <p:sp>
        <p:nvSpPr>
          <p:cNvPr id="21" name="Shape 17">
            <a:extLst>
              <a:ext uri="{FF2B5EF4-FFF2-40B4-BE49-F238E27FC236}">
                <a16:creationId xmlns:a16="http://schemas.microsoft.com/office/drawing/2014/main" id="{DE29D3F3-2F23-4A01-B2B3-3853F59D06D7}"/>
              </a:ext>
            </a:extLst>
          </p:cNvPr>
          <p:cNvSpPr>
            <a:spLocks noGrp="1"/>
          </p:cNvSpPr>
          <p:nvPr/>
        </p:nvSpPr>
        <p:spPr>
          <a:xfrm>
            <a:off x="809592" y="4754608"/>
            <a:ext cx="3445950" cy="1405516"/>
          </a:xfrm>
          <a:custGeom>
            <a:avLst/>
            <a:gdLst/>
            <a:ahLst/>
            <a:cxnLst/>
            <a:rect l="l" t="t" r="r" b="b"/>
            <a:pathLst>
              <a:path w="3445950" h="1405516">
                <a:moveTo>
                  <a:pt x="0" y="38100"/>
                </a:moveTo>
                <a:lnTo>
                  <a:pt x="0" y="0"/>
                </a:lnTo>
                <a:lnTo>
                  <a:pt x="3445950" y="0"/>
                </a:lnTo>
                <a:lnTo>
                  <a:pt x="3445950" y="38100"/>
                </a:lnTo>
                <a:lnTo>
                  <a:pt x="0" y="38100"/>
                </a:lnTo>
                <a:close/>
              </a:path>
            </a:pathLst>
          </a:custGeom>
          <a:solidFill>
            <a:srgbClr val="1007DC"/>
          </a:solidFill>
        </p:spPr>
        <p:txBody>
          <a:bodyPr/>
          <a:lstStyle/>
          <a:p>
            <a:endParaRPr/>
          </a:p>
        </p:txBody>
      </p:sp>
      <p:sp>
        <p:nvSpPr>
          <p:cNvPr id="22" name="Text 18">
            <a:extLst>
              <a:ext uri="{FF2B5EF4-FFF2-40B4-BE49-F238E27FC236}">
                <a16:creationId xmlns:a16="http://schemas.microsoft.com/office/drawing/2014/main" id="{705E9C3F-9FA5-4D93-83C4-4E4274B9BE8E}"/>
              </a:ext>
            </a:extLst>
          </p:cNvPr>
          <p:cNvSpPr>
            <a:spLocks noGrp="1"/>
          </p:cNvSpPr>
          <p:nvPr/>
        </p:nvSpPr>
        <p:spPr>
          <a:xfrm>
            <a:off x="1038126" y="5020185"/>
            <a:ext cx="3078549" cy="197545"/>
          </a:xfrm>
          <a:prstGeom prst="rect">
            <a:avLst/>
          </a:prstGeom>
          <a:noFill/>
        </p:spPr>
        <p:txBody>
          <a:bodyPr wrap="square" lIns="0" tIns="0" rIns="0" bIns="0" anchor="t">
            <a:normAutofit/>
          </a:bodyPr>
          <a:lstStyle/>
          <a:p>
            <a:pPr marL="0" indent="0" algn="l">
              <a:lnSpc>
                <a:spcPts val="1374"/>
              </a:lnSpc>
              <a:buNone/>
            </a:pPr>
            <a:r>
              <a:rPr sz="1145" b="1">
                <a:solidFill>
                  <a:srgbClr val="1E293B"/>
                </a:solidFill>
                <a:latin typeface="Poppins"/>
                <a:ea typeface="Poppins"/>
                <a:cs typeface="Poppins"/>
              </a:rPr>
              <a:t>What causes it</a:t>
            </a:r>
            <a:endParaRPr sz="1145"/>
          </a:p>
        </p:txBody>
      </p:sp>
      <p:sp>
        <p:nvSpPr>
          <p:cNvPr id="23" name="Text 19">
            <a:extLst>
              <a:ext uri="{FF2B5EF4-FFF2-40B4-BE49-F238E27FC236}">
                <a16:creationId xmlns:a16="http://schemas.microsoft.com/office/drawing/2014/main" id="{96EC5D45-48EA-46F6-BB91-E74906455398}"/>
              </a:ext>
            </a:extLst>
          </p:cNvPr>
          <p:cNvSpPr>
            <a:spLocks noGrp="1"/>
          </p:cNvSpPr>
          <p:nvPr/>
        </p:nvSpPr>
        <p:spPr>
          <a:xfrm>
            <a:off x="1038126" y="5281211"/>
            <a:ext cx="3078549" cy="675779"/>
          </a:xfrm>
          <a:prstGeom prst="rect">
            <a:avLst/>
          </a:prstGeom>
          <a:noFill/>
        </p:spPr>
        <p:txBody>
          <a:bodyPr wrap="square" lIns="0" tIns="0" rIns="0" bIns="0" anchor="t">
            <a:normAutofit/>
          </a:bodyPr>
          <a:lstStyle/>
          <a:p>
            <a:pPr marL="0" indent="0" algn="l">
              <a:lnSpc>
                <a:spcPts val="1546"/>
              </a:lnSpc>
              <a:buNone/>
            </a:pPr>
            <a:r>
              <a:rPr sz="1066">
                <a:solidFill>
                  <a:srgbClr val="64748B"/>
                </a:solidFill>
                <a:latin typeface="DM Sans"/>
                <a:ea typeface="DM Sans"/>
                <a:cs typeface="DM Sans"/>
              </a:rPr>
              <a:t>Extra mass on one side of the rotor pulls the shaft off centre. That pull rotates with the shaft, so it loads the bearings once per revolution.</a:t>
            </a:r>
            <a:endParaRPr sz="1066"/>
          </a:p>
        </p:txBody>
      </p:sp>
      <p:sp>
        <p:nvSpPr>
          <p:cNvPr id="24" name="Shape 20">
            <a:extLst>
              <a:ext uri="{FF2B5EF4-FFF2-40B4-BE49-F238E27FC236}">
                <a16:creationId xmlns:a16="http://schemas.microsoft.com/office/drawing/2014/main" id="{F6E833AF-63C1-473C-8DB7-5AFC6FA44D73}"/>
              </a:ext>
            </a:extLst>
          </p:cNvPr>
          <p:cNvSpPr>
            <a:spLocks noGrp="1"/>
          </p:cNvSpPr>
          <p:nvPr/>
        </p:nvSpPr>
        <p:spPr>
          <a:xfrm>
            <a:off x="4369808" y="4754608"/>
            <a:ext cx="3446032" cy="1405516"/>
          </a:xfrm>
          <a:custGeom>
            <a:avLst/>
            <a:gdLst/>
            <a:ahLst/>
            <a:cxnLst/>
            <a:rect l="l" t="t" r="r" b="b"/>
            <a:pathLst>
              <a:path w="3446032" h="1405516">
                <a:moveTo>
                  <a:pt x="0" y="0"/>
                </a:moveTo>
                <a:lnTo>
                  <a:pt x="3446032" y="0"/>
                </a:lnTo>
                <a:lnTo>
                  <a:pt x="3446032" y="1303916"/>
                </a:lnTo>
                <a:arcTo wR="101600" hR="101600" stAng="0" swAng="5400000"/>
                <a:lnTo>
                  <a:pt x="101600" y="1405516"/>
                </a:lnTo>
                <a:arcTo wR="101600" hR="101600" stAng="5400000" swAng="5400000"/>
                <a:lnTo>
                  <a:pt x="0" y="0"/>
                </a:lnTo>
                <a:close/>
              </a:path>
            </a:pathLst>
          </a:custGeom>
          <a:solidFill>
            <a:srgbClr val="FFFFFF"/>
          </a:solidFill>
        </p:spPr>
        <p:txBody>
          <a:bodyPr/>
          <a:lstStyle/>
          <a:p>
            <a:endParaRPr/>
          </a:p>
        </p:txBody>
      </p:sp>
      <p:sp>
        <p:nvSpPr>
          <p:cNvPr id="25" name="Shape 21">
            <a:extLst>
              <a:ext uri="{FF2B5EF4-FFF2-40B4-BE49-F238E27FC236}">
                <a16:creationId xmlns:a16="http://schemas.microsoft.com/office/drawing/2014/main" id="{77EE6B0D-A95F-4FAB-96B1-73A55A67627E}"/>
              </a:ext>
            </a:extLst>
          </p:cNvPr>
          <p:cNvSpPr>
            <a:spLocks noGrp="1"/>
          </p:cNvSpPr>
          <p:nvPr/>
        </p:nvSpPr>
        <p:spPr>
          <a:xfrm>
            <a:off x="4369808" y="4754608"/>
            <a:ext cx="3446032" cy="1405516"/>
          </a:xfrm>
          <a:custGeom>
            <a:avLst/>
            <a:gdLst/>
            <a:ahLst/>
            <a:cxnLst/>
            <a:rect l="l" t="t" r="r" b="b"/>
            <a:pathLst>
              <a:path w="3446032" h="1405516">
                <a:moveTo>
                  <a:pt x="0" y="38100"/>
                </a:moveTo>
                <a:lnTo>
                  <a:pt x="0" y="0"/>
                </a:lnTo>
                <a:lnTo>
                  <a:pt x="3446032" y="0"/>
                </a:lnTo>
                <a:lnTo>
                  <a:pt x="3446032" y="38100"/>
                </a:lnTo>
                <a:lnTo>
                  <a:pt x="0" y="38100"/>
                </a:lnTo>
                <a:close/>
              </a:path>
            </a:pathLst>
          </a:custGeom>
          <a:solidFill>
            <a:srgbClr val="1007DC"/>
          </a:solidFill>
        </p:spPr>
        <p:txBody>
          <a:bodyPr/>
          <a:lstStyle/>
          <a:p>
            <a:endParaRPr/>
          </a:p>
        </p:txBody>
      </p:sp>
      <p:sp>
        <p:nvSpPr>
          <p:cNvPr id="26" name="Text 22">
            <a:extLst>
              <a:ext uri="{FF2B5EF4-FFF2-40B4-BE49-F238E27FC236}">
                <a16:creationId xmlns:a16="http://schemas.microsoft.com/office/drawing/2014/main" id="{47146B76-C6E3-41E3-9D11-12D4760B4C54}"/>
              </a:ext>
            </a:extLst>
          </p:cNvPr>
          <p:cNvSpPr>
            <a:spLocks noGrp="1"/>
          </p:cNvSpPr>
          <p:nvPr/>
        </p:nvSpPr>
        <p:spPr>
          <a:xfrm>
            <a:off x="4598343" y="5020185"/>
            <a:ext cx="3078634" cy="197545"/>
          </a:xfrm>
          <a:prstGeom prst="rect">
            <a:avLst/>
          </a:prstGeom>
          <a:noFill/>
        </p:spPr>
        <p:txBody>
          <a:bodyPr wrap="square" lIns="0" tIns="0" rIns="0" bIns="0" anchor="t">
            <a:normAutofit/>
          </a:bodyPr>
          <a:lstStyle/>
          <a:p>
            <a:pPr marL="0" indent="0" algn="l">
              <a:lnSpc>
                <a:spcPts val="1374"/>
              </a:lnSpc>
              <a:buNone/>
            </a:pPr>
            <a:r>
              <a:rPr sz="1145" b="1">
                <a:solidFill>
                  <a:srgbClr val="1E293B"/>
                </a:solidFill>
                <a:latin typeface="Poppins"/>
                <a:ea typeface="Poppins"/>
                <a:cs typeface="Poppins"/>
              </a:rPr>
              <a:t>What it looks like in numbers</a:t>
            </a:r>
            <a:endParaRPr sz="1145"/>
          </a:p>
        </p:txBody>
      </p:sp>
      <p:sp>
        <p:nvSpPr>
          <p:cNvPr id="27" name="Text 23">
            <a:extLst>
              <a:ext uri="{FF2B5EF4-FFF2-40B4-BE49-F238E27FC236}">
                <a16:creationId xmlns:a16="http://schemas.microsoft.com/office/drawing/2014/main" id="{A0525F09-5178-4817-9FBC-554A2AE5E1AA}"/>
              </a:ext>
            </a:extLst>
          </p:cNvPr>
          <p:cNvSpPr>
            <a:spLocks noGrp="1"/>
          </p:cNvSpPr>
          <p:nvPr/>
        </p:nvSpPr>
        <p:spPr>
          <a:xfrm>
            <a:off x="4598343" y="5281211"/>
            <a:ext cx="3078634" cy="675779"/>
          </a:xfrm>
          <a:prstGeom prst="rect">
            <a:avLst/>
          </a:prstGeom>
          <a:noFill/>
        </p:spPr>
        <p:txBody>
          <a:bodyPr wrap="square" lIns="0" tIns="0" rIns="0" bIns="0" anchor="t">
            <a:normAutofit/>
          </a:bodyPr>
          <a:lstStyle/>
          <a:p>
            <a:pPr marL="0" indent="0" algn="l">
              <a:lnSpc>
                <a:spcPts val="1518"/>
              </a:lnSpc>
              <a:buNone/>
            </a:pPr>
            <a:r>
              <a:rPr sz="1047">
                <a:solidFill>
                  <a:srgbClr val="64748B"/>
                </a:solidFill>
                <a:latin typeface="DM Sans"/>
                <a:ea typeface="DM Sans"/>
                <a:cs typeface="DM Sans"/>
              </a:rPr>
              <a:t>High overall level, a dominant 1× peak, a low 2× to 1× ratio, and negative excess kurtosis because the signal is smoother than random noise.</a:t>
            </a:r>
            <a:endParaRPr sz="1047"/>
          </a:p>
        </p:txBody>
      </p:sp>
      <p:sp>
        <p:nvSpPr>
          <p:cNvPr id="28" name="Shape 24">
            <a:extLst>
              <a:ext uri="{FF2B5EF4-FFF2-40B4-BE49-F238E27FC236}">
                <a16:creationId xmlns:a16="http://schemas.microsoft.com/office/drawing/2014/main" id="{B35B02BB-2CAD-46FC-B8B9-9D8012267A81}"/>
              </a:ext>
            </a:extLst>
          </p:cNvPr>
          <p:cNvSpPr>
            <a:spLocks noGrp="1"/>
          </p:cNvSpPr>
          <p:nvPr/>
        </p:nvSpPr>
        <p:spPr>
          <a:xfrm>
            <a:off x="7930108" y="4754608"/>
            <a:ext cx="3445950" cy="1405516"/>
          </a:xfrm>
          <a:custGeom>
            <a:avLst/>
            <a:gdLst/>
            <a:ahLst/>
            <a:cxnLst/>
            <a:rect l="l" t="t" r="r" b="b"/>
            <a:pathLst>
              <a:path w="3445950" h="1405516">
                <a:moveTo>
                  <a:pt x="0" y="0"/>
                </a:moveTo>
                <a:lnTo>
                  <a:pt x="3445950" y="0"/>
                </a:lnTo>
                <a:lnTo>
                  <a:pt x="3445950" y="1303916"/>
                </a:lnTo>
                <a:arcTo wR="101600" hR="101600" stAng="0" swAng="5400000"/>
                <a:lnTo>
                  <a:pt x="101600" y="1405516"/>
                </a:lnTo>
                <a:arcTo wR="101600" hR="101600" stAng="5400000" swAng="5400000"/>
                <a:lnTo>
                  <a:pt x="0" y="0"/>
                </a:lnTo>
                <a:close/>
              </a:path>
            </a:pathLst>
          </a:custGeom>
          <a:solidFill>
            <a:srgbClr val="FFFFFF"/>
          </a:solidFill>
        </p:spPr>
        <p:txBody>
          <a:bodyPr/>
          <a:lstStyle/>
          <a:p>
            <a:endParaRPr/>
          </a:p>
        </p:txBody>
      </p:sp>
      <p:sp>
        <p:nvSpPr>
          <p:cNvPr id="29" name="Shape 25">
            <a:extLst>
              <a:ext uri="{FF2B5EF4-FFF2-40B4-BE49-F238E27FC236}">
                <a16:creationId xmlns:a16="http://schemas.microsoft.com/office/drawing/2014/main" id="{FE7F421A-6411-4487-B000-72B4A7F58C0D}"/>
              </a:ext>
            </a:extLst>
          </p:cNvPr>
          <p:cNvSpPr>
            <a:spLocks noGrp="1"/>
          </p:cNvSpPr>
          <p:nvPr/>
        </p:nvSpPr>
        <p:spPr>
          <a:xfrm>
            <a:off x="7930108" y="4754608"/>
            <a:ext cx="3445950" cy="1405516"/>
          </a:xfrm>
          <a:custGeom>
            <a:avLst/>
            <a:gdLst/>
            <a:ahLst/>
            <a:cxnLst/>
            <a:rect l="l" t="t" r="r" b="b"/>
            <a:pathLst>
              <a:path w="3445950" h="1405516">
                <a:moveTo>
                  <a:pt x="0" y="38100"/>
                </a:moveTo>
                <a:lnTo>
                  <a:pt x="0" y="0"/>
                </a:lnTo>
                <a:lnTo>
                  <a:pt x="3445950" y="0"/>
                </a:lnTo>
                <a:lnTo>
                  <a:pt x="3445950" y="38100"/>
                </a:lnTo>
                <a:lnTo>
                  <a:pt x="0" y="38100"/>
                </a:lnTo>
                <a:close/>
              </a:path>
            </a:pathLst>
          </a:custGeom>
          <a:solidFill>
            <a:srgbClr val="64748B"/>
          </a:solidFill>
        </p:spPr>
        <p:txBody>
          <a:bodyPr/>
          <a:lstStyle/>
          <a:p>
            <a:endParaRPr/>
          </a:p>
        </p:txBody>
      </p:sp>
      <p:sp>
        <p:nvSpPr>
          <p:cNvPr id="30" name="Text 26">
            <a:extLst>
              <a:ext uri="{FF2B5EF4-FFF2-40B4-BE49-F238E27FC236}">
                <a16:creationId xmlns:a16="http://schemas.microsoft.com/office/drawing/2014/main" id="{2C3F6D61-437A-47A5-B1CA-FA2AF2078752}"/>
              </a:ext>
            </a:extLst>
          </p:cNvPr>
          <p:cNvSpPr>
            <a:spLocks noGrp="1"/>
          </p:cNvSpPr>
          <p:nvPr/>
        </p:nvSpPr>
        <p:spPr>
          <a:xfrm>
            <a:off x="8158642" y="5020185"/>
            <a:ext cx="3078549" cy="197545"/>
          </a:xfrm>
          <a:prstGeom prst="rect">
            <a:avLst/>
          </a:prstGeom>
          <a:noFill/>
        </p:spPr>
        <p:txBody>
          <a:bodyPr wrap="square" lIns="0" tIns="0" rIns="0" bIns="0" anchor="t">
            <a:normAutofit/>
          </a:bodyPr>
          <a:lstStyle/>
          <a:p>
            <a:pPr marL="0" indent="0" algn="l">
              <a:lnSpc>
                <a:spcPts val="1374"/>
              </a:lnSpc>
              <a:buNone/>
            </a:pPr>
            <a:r>
              <a:rPr sz="1145" b="1">
                <a:solidFill>
                  <a:srgbClr val="1E293B"/>
                </a:solidFill>
                <a:latin typeface="Poppins"/>
                <a:ea typeface="Poppins"/>
                <a:cs typeface="Poppins"/>
              </a:rPr>
              <a:t>Why it is the easy case</a:t>
            </a:r>
            <a:endParaRPr sz="1145"/>
          </a:p>
        </p:txBody>
      </p:sp>
      <p:sp>
        <p:nvSpPr>
          <p:cNvPr id="31" name="Text 27">
            <a:extLst>
              <a:ext uri="{FF2B5EF4-FFF2-40B4-BE49-F238E27FC236}">
                <a16:creationId xmlns:a16="http://schemas.microsoft.com/office/drawing/2014/main" id="{BB471E0D-BAD5-4BF5-BF28-FA408E480FE9}"/>
              </a:ext>
            </a:extLst>
          </p:cNvPr>
          <p:cNvSpPr>
            <a:spLocks noGrp="1"/>
          </p:cNvSpPr>
          <p:nvPr/>
        </p:nvSpPr>
        <p:spPr>
          <a:xfrm>
            <a:off x="8158642" y="5281211"/>
            <a:ext cx="3078549" cy="675779"/>
          </a:xfrm>
          <a:prstGeom prst="rect">
            <a:avLst/>
          </a:prstGeom>
          <a:noFill/>
        </p:spPr>
        <p:txBody>
          <a:bodyPr wrap="square" lIns="0" tIns="0" rIns="0" bIns="0" anchor="t">
            <a:normAutofit/>
          </a:bodyPr>
          <a:lstStyle/>
          <a:p>
            <a:pPr marL="0" indent="0" algn="l">
              <a:lnSpc>
                <a:spcPts val="1575"/>
              </a:lnSpc>
              <a:buNone/>
            </a:pPr>
            <a:r>
              <a:rPr sz="1086">
                <a:solidFill>
                  <a:srgbClr val="64748B"/>
                </a:solidFill>
                <a:latin typeface="DM Sans"/>
                <a:ea typeface="DM Sans"/>
                <a:cs typeface="DM Sans"/>
              </a:rPr>
              <a:t>The signature is one number in one place. Both the classical model and the network separate it with almost no error on development folds.</a:t>
            </a:r>
            <a:endParaRPr sz="1086"/>
          </a:p>
        </p:txBody>
      </p:sp>
      <p:sp>
        <p:nvSpPr>
          <p:cNvPr id="10" name="Text 51">
            <a:extLst>
              <a:ext uri="{FF2B5EF4-FFF2-40B4-BE49-F238E27FC236}">
                <a16:creationId xmlns:a16="http://schemas.microsoft.com/office/drawing/2014/main" id="{313D9BBE-6502-11E1-DFB6-FD48AA71CC6A}"/>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14</a:t>
            </a:r>
            <a:endParaRPr lang="en-US" sz="1200" dirty="0"/>
          </a:p>
        </p:txBody>
      </p:sp>
    </p:spTree>
    <p:extLst>
      <p:ext uri="{BB962C8B-B14F-4D97-AF65-F5344CB8AC3E}">
        <p14:creationId xmlns:p14="http://schemas.microsoft.com/office/powerpoint/2010/main" val="25918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D85E3E4-D0A5-4082-8605-1C0D56F37B33}"/>
              </a:ext>
            </a:extLst>
          </p:cNvPr>
          <p:cNvSpPr>
            <a:spLocks noGrp="1"/>
          </p:cNvSpPr>
          <p:nvPr/>
        </p:nvSpPr>
        <p:spPr>
          <a:xfrm>
            <a:off x="812767" y="406381"/>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9D7F9282-D76F-4DE6-867A-284E26A7A03E}"/>
              </a:ext>
            </a:extLst>
          </p:cNvPr>
          <p:cNvSpPr>
            <a:spLocks noGrp="1"/>
          </p:cNvSpPr>
          <p:nvPr/>
        </p:nvSpPr>
        <p:spPr>
          <a:xfrm>
            <a:off x="812767" y="812763"/>
            <a:ext cx="7495430" cy="779628"/>
          </a:xfrm>
          <a:prstGeom prst="rect">
            <a:avLst/>
          </a:prstGeom>
          <a:noFill/>
        </p:spPr>
        <p:txBody>
          <a:bodyPr wrap="square" lIns="0" tIns="0" rIns="0" bIns="0" anchor="t">
            <a:normAutofit/>
          </a:bodyPr>
          <a:lstStyle/>
          <a:p>
            <a:pPr marL="0" indent="0" algn="l">
              <a:lnSpc>
                <a:spcPts val="2970"/>
              </a:lnSpc>
              <a:buNone/>
            </a:pPr>
            <a:r>
              <a:rPr sz="2700" b="1">
                <a:solidFill>
                  <a:srgbClr val="EF4444"/>
                </a:solidFill>
                <a:latin typeface="Poppins"/>
                <a:ea typeface="Poppins"/>
                <a:cs typeface="Poppins"/>
              </a:rPr>
              <a:t>Bearing fault: impacts across several orders</a:t>
            </a:r>
            <a:endParaRPr sz="2700"/>
          </a:p>
        </p:txBody>
      </p:sp>
      <p:sp>
        <p:nvSpPr>
          <p:cNvPr id="4" name="Text 2">
            <a:extLst>
              <a:ext uri="{FF2B5EF4-FFF2-40B4-BE49-F238E27FC236}">
                <a16:creationId xmlns:a16="http://schemas.microsoft.com/office/drawing/2014/main" id="{EFBE4F80-A1B9-411C-AEE5-D7423EC95047}"/>
              </a:ext>
            </a:extLst>
          </p:cNvPr>
          <p:cNvSpPr>
            <a:spLocks noGrp="1"/>
          </p:cNvSpPr>
          <p:nvPr/>
        </p:nvSpPr>
        <p:spPr>
          <a:xfrm>
            <a:off x="8394650" y="950348"/>
            <a:ext cx="3074120" cy="487594"/>
          </a:xfrm>
          <a:prstGeom prst="rect">
            <a:avLst/>
          </a:prstGeom>
          <a:noFill/>
        </p:spPr>
        <p:txBody>
          <a:bodyPr wrap="square" lIns="0" tIns="0" rIns="0" bIns="0" anchor="t">
            <a:normAutofit/>
          </a:bodyPr>
          <a:lstStyle/>
          <a:p>
            <a:pPr marL="0" indent="0" algn="l">
              <a:lnSpc>
                <a:spcPts val="1820"/>
              </a:lnSpc>
              <a:buNone/>
            </a:pPr>
            <a:r>
              <a:rPr sz="1300">
                <a:solidFill>
                  <a:srgbClr val="64748B"/>
                </a:solidFill>
                <a:latin typeface="DM Sans"/>
                <a:ea typeface="DM Sans"/>
                <a:cs typeface="DM Sans"/>
              </a:rPr>
              <a:t>overhang / ball_fault / 0 g / 25.20 Hz measured</a:t>
            </a:r>
            <a:endParaRPr sz="1300"/>
          </a:p>
        </p:txBody>
      </p:sp>
      <p:sp>
        <p:nvSpPr>
          <p:cNvPr id="5" name="Text 3">
            <a:extLst>
              <a:ext uri="{FF2B5EF4-FFF2-40B4-BE49-F238E27FC236}">
                <a16:creationId xmlns:a16="http://schemas.microsoft.com/office/drawing/2014/main" id="{57B321A9-0B44-4D97-91C2-DC0CC059E14D}"/>
              </a:ext>
            </a:extLst>
          </p:cNvPr>
          <p:cNvSpPr>
            <a:spLocks noGrp="1"/>
          </p:cNvSpPr>
          <p:nvPr/>
        </p:nvSpPr>
        <p:spPr>
          <a:xfrm>
            <a:off x="812767" y="1677206"/>
            <a:ext cx="5297805" cy="238390"/>
          </a:xfrm>
          <a:prstGeom prst="rect">
            <a:avLst/>
          </a:prstGeom>
          <a:noFill/>
        </p:spPr>
        <p:txBody>
          <a:bodyPr wrap="square" lIns="0" tIns="0" rIns="0" bIns="0" anchor="t">
            <a:normAutofit/>
          </a:bodyPr>
          <a:lstStyle/>
          <a:p>
            <a:pPr marL="0" indent="0" algn="l">
              <a:lnSpc>
                <a:spcPts val="1723"/>
              </a:lnSpc>
              <a:buNone/>
            </a:pPr>
            <a:r>
              <a:rPr sz="1230">
                <a:solidFill>
                  <a:srgbClr val="64748B"/>
                </a:solidFill>
                <a:latin typeface="DM Sans"/>
                <a:ea typeface="DM Sans"/>
                <a:cs typeface="DM Sans"/>
              </a:rPr>
              <a:t>Raw vibration, 80 ms of the five seconds</a:t>
            </a:r>
            <a:endParaRPr sz="1230"/>
          </a:p>
        </p:txBody>
      </p:sp>
      <p:pic>
        <p:nvPicPr>
          <p:cNvPr id="35" name="Image 0"/>
          <p:cNvPicPr>
            <a:picLocks noChangeAspect="1"/>
          </p:cNvPicPr>
          <p:nvPr/>
        </p:nvPicPr>
        <p:blipFill>
          <a:blip r:embed="rId3"/>
          <a:srcRect l="-2181" r="-2181"/>
          <a:stretch/>
        </p:blipFill>
        <p:spPr>
          <a:xfrm>
            <a:off x="812767" y="1953692"/>
            <a:ext cx="4445000" cy="1156064"/>
          </a:xfrm>
          <a:prstGeom prst="rect">
            <a:avLst/>
          </a:prstGeom>
        </p:spPr>
      </p:pic>
      <p:sp>
        <p:nvSpPr>
          <p:cNvPr id="7" name="Text 4">
            <a:extLst>
              <a:ext uri="{FF2B5EF4-FFF2-40B4-BE49-F238E27FC236}">
                <a16:creationId xmlns:a16="http://schemas.microsoft.com/office/drawing/2014/main" id="{DDDA19C1-A8BE-4517-B124-819784CE0B81}"/>
              </a:ext>
            </a:extLst>
          </p:cNvPr>
          <p:cNvSpPr>
            <a:spLocks noGrp="1"/>
          </p:cNvSpPr>
          <p:nvPr/>
        </p:nvSpPr>
        <p:spPr>
          <a:xfrm>
            <a:off x="812767" y="3173264"/>
            <a:ext cx="5297805" cy="419629"/>
          </a:xfrm>
          <a:prstGeom prst="rect">
            <a:avLst/>
          </a:prstGeom>
          <a:noFill/>
        </p:spPr>
        <p:txBody>
          <a:bodyPr wrap="square" lIns="0" tIns="0" rIns="0" bIns="0" anchor="t">
            <a:normAutofit/>
          </a:bodyPr>
          <a:lstStyle/>
          <a:p>
            <a:pPr marL="0" indent="0" algn="l">
              <a:lnSpc>
                <a:spcPts val="1559"/>
              </a:lnSpc>
              <a:buNone/>
            </a:pPr>
            <a:r>
              <a:rPr sz="1155">
                <a:solidFill>
                  <a:srgbClr val="1E293B"/>
                </a:solidFill>
                <a:latin typeface="DM Sans"/>
                <a:ea typeface="DM Sans"/>
                <a:cs typeface="DM Sans"/>
              </a:rPr>
              <a:t>Sharp spikes appear on the background. They are consistent with repeated contact involving the defect.</a:t>
            </a:r>
            <a:endParaRPr sz="1155"/>
          </a:p>
        </p:txBody>
      </p:sp>
      <p:sp>
        <p:nvSpPr>
          <p:cNvPr id="8" name="Text 5">
            <a:extLst>
              <a:ext uri="{FF2B5EF4-FFF2-40B4-BE49-F238E27FC236}">
                <a16:creationId xmlns:a16="http://schemas.microsoft.com/office/drawing/2014/main" id="{A6CA921F-E0F8-4D61-9D96-89E12F513683}"/>
              </a:ext>
            </a:extLst>
          </p:cNvPr>
          <p:cNvSpPr>
            <a:spLocks noGrp="1"/>
          </p:cNvSpPr>
          <p:nvPr/>
        </p:nvSpPr>
        <p:spPr>
          <a:xfrm>
            <a:off x="6235650" y="1677206"/>
            <a:ext cx="5297890" cy="247650"/>
          </a:xfrm>
          <a:prstGeom prst="rect">
            <a:avLst/>
          </a:prstGeom>
          <a:noFill/>
        </p:spPr>
        <p:txBody>
          <a:bodyPr wrap="square" lIns="0" tIns="0" rIns="0" bIns="0" anchor="t">
            <a:normAutofit/>
          </a:bodyPr>
          <a:lstStyle/>
          <a:p>
            <a:pPr marL="0" indent="0" algn="l">
              <a:lnSpc>
                <a:spcPts val="1750"/>
              </a:lnSpc>
              <a:buNone/>
            </a:pPr>
            <a:r>
              <a:rPr sz="1250">
                <a:solidFill>
                  <a:srgbClr val="64748B"/>
                </a:solidFill>
                <a:latin typeface="DM Sans"/>
                <a:ea typeface="DM Sans"/>
                <a:cs typeface="DM Sans"/>
              </a:rPr>
              <a:t>Energy against multiples of shaft speed</a:t>
            </a:r>
            <a:endParaRPr sz="1250"/>
          </a:p>
        </p:txBody>
      </p:sp>
      <p:pic>
        <p:nvPicPr>
          <p:cNvPr id="38" name="Image 1"/>
          <p:cNvPicPr>
            <a:picLocks noChangeAspect="1"/>
          </p:cNvPicPr>
          <p:nvPr/>
        </p:nvPicPr>
        <p:blipFill>
          <a:blip r:embed="rId4"/>
          <a:srcRect/>
          <a:stretch/>
        </p:blipFill>
        <p:spPr>
          <a:xfrm>
            <a:off x="6235650" y="1962956"/>
            <a:ext cx="4445000" cy="1460500"/>
          </a:xfrm>
          <a:prstGeom prst="rect">
            <a:avLst/>
          </a:prstGeom>
        </p:spPr>
      </p:pic>
      <p:sp>
        <p:nvSpPr>
          <p:cNvPr id="10" name="Text 6">
            <a:extLst>
              <a:ext uri="{FF2B5EF4-FFF2-40B4-BE49-F238E27FC236}">
                <a16:creationId xmlns:a16="http://schemas.microsoft.com/office/drawing/2014/main" id="{2FE44C43-6093-483C-8093-A31FECFAA3EA}"/>
              </a:ext>
            </a:extLst>
          </p:cNvPr>
          <p:cNvSpPr>
            <a:spLocks noGrp="1"/>
          </p:cNvSpPr>
          <p:nvPr/>
        </p:nvSpPr>
        <p:spPr>
          <a:xfrm>
            <a:off x="6362634" y="3486956"/>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1×</a:t>
            </a:r>
            <a:endParaRPr sz="1200"/>
          </a:p>
        </p:txBody>
      </p:sp>
      <p:sp>
        <p:nvSpPr>
          <p:cNvPr id="11" name="Text 7">
            <a:extLst>
              <a:ext uri="{FF2B5EF4-FFF2-40B4-BE49-F238E27FC236}">
                <a16:creationId xmlns:a16="http://schemas.microsoft.com/office/drawing/2014/main" id="{D451851F-B113-475D-A46D-675F0490DAC2}"/>
              </a:ext>
            </a:extLst>
          </p:cNvPr>
          <p:cNvSpPr>
            <a:spLocks noGrp="1"/>
          </p:cNvSpPr>
          <p:nvPr/>
        </p:nvSpPr>
        <p:spPr>
          <a:xfrm>
            <a:off x="6819784" y="3486956"/>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2×</a:t>
            </a:r>
            <a:endParaRPr sz="1200"/>
          </a:p>
        </p:txBody>
      </p:sp>
      <p:sp>
        <p:nvSpPr>
          <p:cNvPr id="12" name="Text 8">
            <a:extLst>
              <a:ext uri="{FF2B5EF4-FFF2-40B4-BE49-F238E27FC236}">
                <a16:creationId xmlns:a16="http://schemas.microsoft.com/office/drawing/2014/main" id="{68527CE5-708E-4AA0-B2CF-BD93CD2A5B7A}"/>
              </a:ext>
            </a:extLst>
          </p:cNvPr>
          <p:cNvSpPr>
            <a:spLocks noGrp="1"/>
          </p:cNvSpPr>
          <p:nvPr/>
        </p:nvSpPr>
        <p:spPr>
          <a:xfrm>
            <a:off x="7270651" y="3486956"/>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3×</a:t>
            </a:r>
            <a:endParaRPr sz="1200"/>
          </a:p>
        </p:txBody>
      </p:sp>
      <p:sp>
        <p:nvSpPr>
          <p:cNvPr id="13" name="Text 9">
            <a:extLst>
              <a:ext uri="{FF2B5EF4-FFF2-40B4-BE49-F238E27FC236}">
                <a16:creationId xmlns:a16="http://schemas.microsoft.com/office/drawing/2014/main" id="{594BC7BB-8E09-4954-89A8-B87299EC0AD7}"/>
              </a:ext>
            </a:extLst>
          </p:cNvPr>
          <p:cNvSpPr>
            <a:spLocks noGrp="1"/>
          </p:cNvSpPr>
          <p:nvPr/>
        </p:nvSpPr>
        <p:spPr>
          <a:xfrm>
            <a:off x="8185034" y="3486956"/>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5×</a:t>
            </a:r>
            <a:endParaRPr sz="1200"/>
          </a:p>
        </p:txBody>
      </p:sp>
      <p:sp>
        <p:nvSpPr>
          <p:cNvPr id="14" name="Text 10">
            <a:extLst>
              <a:ext uri="{FF2B5EF4-FFF2-40B4-BE49-F238E27FC236}">
                <a16:creationId xmlns:a16="http://schemas.microsoft.com/office/drawing/2014/main" id="{C463251E-D699-430E-A384-5207D5EE49EC}"/>
              </a:ext>
            </a:extLst>
          </p:cNvPr>
          <p:cNvSpPr>
            <a:spLocks noGrp="1"/>
          </p:cNvSpPr>
          <p:nvPr/>
        </p:nvSpPr>
        <p:spPr>
          <a:xfrm>
            <a:off x="10464750" y="3486956"/>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10×</a:t>
            </a:r>
            <a:endParaRPr sz="1200"/>
          </a:p>
        </p:txBody>
      </p:sp>
      <p:sp>
        <p:nvSpPr>
          <p:cNvPr id="15" name="Text 11">
            <a:extLst>
              <a:ext uri="{FF2B5EF4-FFF2-40B4-BE49-F238E27FC236}">
                <a16:creationId xmlns:a16="http://schemas.microsoft.com/office/drawing/2014/main" id="{F07DAA44-766A-48F3-A951-C06C5EA93EB2}"/>
              </a:ext>
            </a:extLst>
          </p:cNvPr>
          <p:cNvSpPr>
            <a:spLocks noGrp="1"/>
          </p:cNvSpPr>
          <p:nvPr/>
        </p:nvSpPr>
        <p:spPr>
          <a:xfrm>
            <a:off x="6318200" y="3729309"/>
            <a:ext cx="4578350" cy="436827"/>
          </a:xfrm>
          <a:prstGeom prst="rect">
            <a:avLst/>
          </a:prstGeom>
          <a:noFill/>
        </p:spPr>
        <p:txBody>
          <a:bodyPr wrap="square" lIns="0" tIns="0" rIns="0" bIns="0" anchor="t">
            <a:normAutofit/>
          </a:bodyPr>
          <a:lstStyle/>
          <a:p>
            <a:pPr marL="0" indent="0" algn="l">
              <a:lnSpc>
                <a:spcPts val="1620"/>
              </a:lnSpc>
              <a:buNone/>
            </a:pPr>
            <a:r>
              <a:rPr sz="1200">
                <a:solidFill>
                  <a:srgbClr val="1E293B"/>
                </a:solidFill>
                <a:latin typeface="DM Sans"/>
                <a:ea typeface="DM Sans"/>
                <a:cs typeface="DM Sans"/>
              </a:rPr>
              <a:t>Energy spread across many orders and rising toward the top, rather than concentrated anywhere.</a:t>
            </a:r>
            <a:endParaRPr sz="1200"/>
          </a:p>
        </p:txBody>
      </p:sp>
      <p:sp>
        <p:nvSpPr>
          <p:cNvPr id="16" name="Shape 12">
            <a:extLst>
              <a:ext uri="{FF2B5EF4-FFF2-40B4-BE49-F238E27FC236}">
                <a16:creationId xmlns:a16="http://schemas.microsoft.com/office/drawing/2014/main" id="{30DE6864-EA7F-4058-A645-C0DA2168042D}"/>
              </a:ext>
            </a:extLst>
          </p:cNvPr>
          <p:cNvSpPr>
            <a:spLocks noGrp="1"/>
          </p:cNvSpPr>
          <p:nvPr/>
        </p:nvSpPr>
        <p:spPr>
          <a:xfrm>
            <a:off x="812767" y="4220347"/>
            <a:ext cx="3445950" cy="2134857"/>
          </a:xfrm>
          <a:custGeom>
            <a:avLst/>
            <a:gdLst/>
            <a:ahLst/>
            <a:cxnLst/>
            <a:rect l="l" t="t" r="r" b="b"/>
            <a:pathLst>
              <a:path w="3445950" h="2134857">
                <a:moveTo>
                  <a:pt x="0" y="0"/>
                </a:moveTo>
                <a:lnTo>
                  <a:pt x="3445950" y="0"/>
                </a:lnTo>
                <a:lnTo>
                  <a:pt x="3445950" y="2033257"/>
                </a:lnTo>
                <a:arcTo wR="101600" hR="101600" stAng="0" swAng="5400000"/>
                <a:lnTo>
                  <a:pt x="101600" y="2134857"/>
                </a:lnTo>
                <a:arcTo wR="101600" hR="101600" stAng="5400000" swAng="5400000"/>
                <a:lnTo>
                  <a:pt x="0" y="0"/>
                </a:lnTo>
                <a:close/>
              </a:path>
            </a:pathLst>
          </a:custGeom>
          <a:solidFill>
            <a:srgbClr val="FFFFFF"/>
          </a:solidFill>
        </p:spPr>
        <p:txBody>
          <a:bodyPr/>
          <a:lstStyle/>
          <a:p>
            <a:endParaRPr/>
          </a:p>
        </p:txBody>
      </p:sp>
      <p:sp>
        <p:nvSpPr>
          <p:cNvPr id="17" name="Shape 13">
            <a:extLst>
              <a:ext uri="{FF2B5EF4-FFF2-40B4-BE49-F238E27FC236}">
                <a16:creationId xmlns:a16="http://schemas.microsoft.com/office/drawing/2014/main" id="{C26BFB65-ED03-4B43-A616-A4B73B7A4164}"/>
              </a:ext>
            </a:extLst>
          </p:cNvPr>
          <p:cNvSpPr>
            <a:spLocks noGrp="1"/>
          </p:cNvSpPr>
          <p:nvPr/>
        </p:nvSpPr>
        <p:spPr>
          <a:xfrm>
            <a:off x="812767" y="4220347"/>
            <a:ext cx="3445950" cy="2134857"/>
          </a:xfrm>
          <a:custGeom>
            <a:avLst/>
            <a:gdLst/>
            <a:ahLst/>
            <a:cxnLst/>
            <a:rect l="l" t="t" r="r" b="b"/>
            <a:pathLst>
              <a:path w="3445950" h="2134857">
                <a:moveTo>
                  <a:pt x="0" y="38100"/>
                </a:moveTo>
                <a:lnTo>
                  <a:pt x="0" y="0"/>
                </a:lnTo>
                <a:lnTo>
                  <a:pt x="3445950" y="0"/>
                </a:lnTo>
                <a:lnTo>
                  <a:pt x="3445950" y="38100"/>
                </a:lnTo>
                <a:lnTo>
                  <a:pt x="0" y="38100"/>
                </a:lnTo>
                <a:close/>
              </a:path>
            </a:pathLst>
          </a:custGeom>
          <a:solidFill>
            <a:srgbClr val="EF4444"/>
          </a:solidFill>
        </p:spPr>
        <p:txBody>
          <a:bodyPr/>
          <a:lstStyle/>
          <a:p>
            <a:endParaRPr/>
          </a:p>
        </p:txBody>
      </p:sp>
      <p:sp>
        <p:nvSpPr>
          <p:cNvPr id="18" name="Text 14">
            <a:extLst>
              <a:ext uri="{FF2B5EF4-FFF2-40B4-BE49-F238E27FC236}">
                <a16:creationId xmlns:a16="http://schemas.microsoft.com/office/drawing/2014/main" id="{8588334C-CB67-467B-A635-868776286F6E}"/>
              </a:ext>
            </a:extLst>
          </p:cNvPr>
          <p:cNvSpPr>
            <a:spLocks noGrp="1"/>
          </p:cNvSpPr>
          <p:nvPr/>
        </p:nvSpPr>
        <p:spPr>
          <a:xfrm>
            <a:off x="1041301" y="4485931"/>
            <a:ext cx="3078549"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What causes it</a:t>
            </a:r>
            <a:endParaRPr sz="1600"/>
          </a:p>
        </p:txBody>
      </p:sp>
      <p:sp>
        <p:nvSpPr>
          <p:cNvPr id="19" name="Text 15">
            <a:extLst>
              <a:ext uri="{FF2B5EF4-FFF2-40B4-BE49-F238E27FC236}">
                <a16:creationId xmlns:a16="http://schemas.microsoft.com/office/drawing/2014/main" id="{A776503D-2C0F-4BB8-903F-C6666AF878CF}"/>
              </a:ext>
            </a:extLst>
          </p:cNvPr>
          <p:cNvSpPr>
            <a:spLocks noGrp="1"/>
          </p:cNvSpPr>
          <p:nvPr/>
        </p:nvSpPr>
        <p:spPr>
          <a:xfrm>
            <a:off x="1041301" y="4818636"/>
            <a:ext cx="3078549" cy="946150"/>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A pit or spall on a rolling element, a raceway or the cage. Every time it passes through the loaded zone it strikes, and the bearing rings.</a:t>
            </a:r>
            <a:endParaRPr sz="1250"/>
          </a:p>
        </p:txBody>
      </p:sp>
      <p:sp>
        <p:nvSpPr>
          <p:cNvPr id="20" name="Shape 16">
            <a:extLst>
              <a:ext uri="{FF2B5EF4-FFF2-40B4-BE49-F238E27FC236}">
                <a16:creationId xmlns:a16="http://schemas.microsoft.com/office/drawing/2014/main" id="{BB1368DC-2C9C-4EDD-B817-D2EADD0BEED1}"/>
              </a:ext>
            </a:extLst>
          </p:cNvPr>
          <p:cNvSpPr>
            <a:spLocks noGrp="1"/>
          </p:cNvSpPr>
          <p:nvPr/>
        </p:nvSpPr>
        <p:spPr>
          <a:xfrm>
            <a:off x="4372983" y="4220347"/>
            <a:ext cx="3446032" cy="2134857"/>
          </a:xfrm>
          <a:custGeom>
            <a:avLst/>
            <a:gdLst/>
            <a:ahLst/>
            <a:cxnLst/>
            <a:rect l="l" t="t" r="r" b="b"/>
            <a:pathLst>
              <a:path w="3446032" h="2134857">
                <a:moveTo>
                  <a:pt x="0" y="0"/>
                </a:moveTo>
                <a:lnTo>
                  <a:pt x="3446032" y="0"/>
                </a:lnTo>
                <a:lnTo>
                  <a:pt x="3446032" y="2033257"/>
                </a:lnTo>
                <a:arcTo wR="101600" hR="101600" stAng="0" swAng="5400000"/>
                <a:lnTo>
                  <a:pt x="101600" y="2134857"/>
                </a:lnTo>
                <a:arcTo wR="101600" hR="101600" stAng="5400000" swAng="5400000"/>
                <a:lnTo>
                  <a:pt x="0" y="0"/>
                </a:lnTo>
                <a:close/>
              </a:path>
            </a:pathLst>
          </a:custGeom>
          <a:solidFill>
            <a:srgbClr val="FFFFFF"/>
          </a:solidFill>
        </p:spPr>
        <p:txBody>
          <a:bodyPr/>
          <a:lstStyle/>
          <a:p>
            <a:endParaRPr/>
          </a:p>
        </p:txBody>
      </p:sp>
      <p:sp>
        <p:nvSpPr>
          <p:cNvPr id="21" name="Shape 17">
            <a:extLst>
              <a:ext uri="{FF2B5EF4-FFF2-40B4-BE49-F238E27FC236}">
                <a16:creationId xmlns:a16="http://schemas.microsoft.com/office/drawing/2014/main" id="{4A026641-886B-4303-884F-6412F9DD74C3}"/>
              </a:ext>
            </a:extLst>
          </p:cNvPr>
          <p:cNvSpPr>
            <a:spLocks noGrp="1"/>
          </p:cNvSpPr>
          <p:nvPr/>
        </p:nvSpPr>
        <p:spPr>
          <a:xfrm>
            <a:off x="4372983" y="4220347"/>
            <a:ext cx="3446032" cy="2134857"/>
          </a:xfrm>
          <a:custGeom>
            <a:avLst/>
            <a:gdLst/>
            <a:ahLst/>
            <a:cxnLst/>
            <a:rect l="l" t="t" r="r" b="b"/>
            <a:pathLst>
              <a:path w="3446032" h="2134857">
                <a:moveTo>
                  <a:pt x="0" y="38100"/>
                </a:moveTo>
                <a:lnTo>
                  <a:pt x="0" y="0"/>
                </a:lnTo>
                <a:lnTo>
                  <a:pt x="3446032" y="0"/>
                </a:lnTo>
                <a:lnTo>
                  <a:pt x="3446032" y="38100"/>
                </a:lnTo>
                <a:lnTo>
                  <a:pt x="0" y="38100"/>
                </a:lnTo>
                <a:close/>
              </a:path>
            </a:pathLst>
          </a:custGeom>
          <a:solidFill>
            <a:srgbClr val="EF4444"/>
          </a:solidFill>
        </p:spPr>
        <p:txBody>
          <a:bodyPr/>
          <a:lstStyle/>
          <a:p>
            <a:endParaRPr/>
          </a:p>
        </p:txBody>
      </p:sp>
      <p:sp>
        <p:nvSpPr>
          <p:cNvPr id="22" name="Text 18">
            <a:extLst>
              <a:ext uri="{FF2B5EF4-FFF2-40B4-BE49-F238E27FC236}">
                <a16:creationId xmlns:a16="http://schemas.microsoft.com/office/drawing/2014/main" id="{A9C2417E-3A62-4E70-9A7F-D4942C1D2B49}"/>
              </a:ext>
            </a:extLst>
          </p:cNvPr>
          <p:cNvSpPr>
            <a:spLocks noGrp="1"/>
          </p:cNvSpPr>
          <p:nvPr/>
        </p:nvSpPr>
        <p:spPr>
          <a:xfrm>
            <a:off x="4601518" y="4485931"/>
            <a:ext cx="3078634" cy="487263"/>
          </a:xfrm>
          <a:prstGeom prst="rect">
            <a:avLst/>
          </a:prstGeom>
          <a:noFill/>
        </p:spPr>
        <p:txBody>
          <a:bodyPr wrap="square" lIns="0" tIns="0" rIns="0" bIns="0" anchor="t">
            <a:normAutofit/>
          </a:bodyPr>
          <a:lstStyle/>
          <a:p>
            <a:pPr marL="0" indent="0" algn="l">
              <a:lnSpc>
                <a:spcPts val="1836"/>
              </a:lnSpc>
              <a:buNone/>
            </a:pPr>
            <a:r>
              <a:rPr sz="1530" b="1">
                <a:solidFill>
                  <a:srgbClr val="1E293B"/>
                </a:solidFill>
                <a:latin typeface="Poppins"/>
                <a:ea typeface="Poppins"/>
                <a:cs typeface="Poppins"/>
              </a:rPr>
              <a:t>Why the peak is not at a whole number</a:t>
            </a:r>
            <a:endParaRPr sz="1530"/>
          </a:p>
        </p:txBody>
      </p:sp>
      <p:sp>
        <p:nvSpPr>
          <p:cNvPr id="23" name="Text 19">
            <a:extLst>
              <a:ext uri="{FF2B5EF4-FFF2-40B4-BE49-F238E27FC236}">
                <a16:creationId xmlns:a16="http://schemas.microsoft.com/office/drawing/2014/main" id="{5F9E1E35-6FDE-4E4F-AF9D-D734CA64B3E9}"/>
              </a:ext>
            </a:extLst>
          </p:cNvPr>
          <p:cNvSpPr>
            <a:spLocks noGrp="1"/>
          </p:cNvSpPr>
          <p:nvPr/>
        </p:nvSpPr>
        <p:spPr>
          <a:xfrm>
            <a:off x="4601518" y="5036669"/>
            <a:ext cx="3078634" cy="1115401"/>
          </a:xfrm>
          <a:prstGeom prst="rect">
            <a:avLst/>
          </a:prstGeom>
          <a:noFill/>
        </p:spPr>
        <p:txBody>
          <a:bodyPr wrap="square" lIns="0" tIns="0" rIns="0" bIns="0" anchor="t">
            <a:normAutofit/>
          </a:bodyPr>
          <a:lstStyle/>
          <a:p>
            <a:pPr marL="0" indent="0" algn="l">
              <a:lnSpc>
                <a:spcPts val="1739"/>
              </a:lnSpc>
              <a:buNone/>
            </a:pPr>
            <a:r>
              <a:rPr sz="1199">
                <a:solidFill>
                  <a:srgbClr val="64748B"/>
                </a:solidFill>
                <a:latin typeface="DM Sans"/>
                <a:ea typeface="DM Sans"/>
                <a:cs typeface="DM Sans"/>
              </a:rPr>
              <a:t>A rolling element does not complete one turn per shaft revolution, so its defect rate is a non-integer multiple of shaft speed that depends on the bearing geometry.</a:t>
            </a:r>
            <a:endParaRPr sz="1199"/>
          </a:p>
        </p:txBody>
      </p:sp>
      <p:sp>
        <p:nvSpPr>
          <p:cNvPr id="24" name="Shape 20">
            <a:extLst>
              <a:ext uri="{FF2B5EF4-FFF2-40B4-BE49-F238E27FC236}">
                <a16:creationId xmlns:a16="http://schemas.microsoft.com/office/drawing/2014/main" id="{BD77A71E-85E4-4ADE-8F61-9FE547CDC3BA}"/>
              </a:ext>
            </a:extLst>
          </p:cNvPr>
          <p:cNvSpPr>
            <a:spLocks noGrp="1"/>
          </p:cNvSpPr>
          <p:nvPr/>
        </p:nvSpPr>
        <p:spPr>
          <a:xfrm>
            <a:off x="7933283" y="4220347"/>
            <a:ext cx="3445950" cy="2134857"/>
          </a:xfrm>
          <a:custGeom>
            <a:avLst/>
            <a:gdLst/>
            <a:ahLst/>
            <a:cxnLst/>
            <a:rect l="l" t="t" r="r" b="b"/>
            <a:pathLst>
              <a:path w="3445950" h="2134857">
                <a:moveTo>
                  <a:pt x="0" y="0"/>
                </a:moveTo>
                <a:lnTo>
                  <a:pt x="3445950" y="0"/>
                </a:lnTo>
                <a:lnTo>
                  <a:pt x="3445950" y="2033257"/>
                </a:lnTo>
                <a:arcTo wR="101600" hR="101600" stAng="0" swAng="5400000"/>
                <a:lnTo>
                  <a:pt x="101600" y="2134857"/>
                </a:lnTo>
                <a:arcTo wR="101600" hR="101600" stAng="5400000" swAng="5400000"/>
                <a:lnTo>
                  <a:pt x="0" y="0"/>
                </a:lnTo>
                <a:close/>
              </a:path>
            </a:pathLst>
          </a:custGeom>
          <a:solidFill>
            <a:srgbClr val="FFFFFF"/>
          </a:solidFill>
        </p:spPr>
        <p:txBody>
          <a:bodyPr/>
          <a:lstStyle/>
          <a:p>
            <a:endParaRPr/>
          </a:p>
        </p:txBody>
      </p:sp>
      <p:sp>
        <p:nvSpPr>
          <p:cNvPr id="25" name="Shape 21">
            <a:extLst>
              <a:ext uri="{FF2B5EF4-FFF2-40B4-BE49-F238E27FC236}">
                <a16:creationId xmlns:a16="http://schemas.microsoft.com/office/drawing/2014/main" id="{A88E680C-4FF2-45A6-87E6-8C31453C87B7}"/>
              </a:ext>
            </a:extLst>
          </p:cNvPr>
          <p:cNvSpPr>
            <a:spLocks noGrp="1"/>
          </p:cNvSpPr>
          <p:nvPr/>
        </p:nvSpPr>
        <p:spPr>
          <a:xfrm>
            <a:off x="7933283" y="4220347"/>
            <a:ext cx="3445950" cy="2134857"/>
          </a:xfrm>
          <a:custGeom>
            <a:avLst/>
            <a:gdLst/>
            <a:ahLst/>
            <a:cxnLst/>
            <a:rect l="l" t="t" r="r" b="b"/>
            <a:pathLst>
              <a:path w="3445950" h="2134857">
                <a:moveTo>
                  <a:pt x="0" y="38100"/>
                </a:moveTo>
                <a:lnTo>
                  <a:pt x="0" y="0"/>
                </a:lnTo>
                <a:lnTo>
                  <a:pt x="3445950" y="0"/>
                </a:lnTo>
                <a:lnTo>
                  <a:pt x="3445950" y="38100"/>
                </a:lnTo>
                <a:lnTo>
                  <a:pt x="0" y="38100"/>
                </a:lnTo>
                <a:close/>
              </a:path>
            </a:pathLst>
          </a:custGeom>
          <a:solidFill>
            <a:srgbClr val="F59E0B"/>
          </a:solidFill>
        </p:spPr>
        <p:txBody>
          <a:bodyPr/>
          <a:lstStyle/>
          <a:p>
            <a:endParaRPr/>
          </a:p>
        </p:txBody>
      </p:sp>
      <p:sp>
        <p:nvSpPr>
          <p:cNvPr id="26" name="Text 22">
            <a:extLst>
              <a:ext uri="{FF2B5EF4-FFF2-40B4-BE49-F238E27FC236}">
                <a16:creationId xmlns:a16="http://schemas.microsoft.com/office/drawing/2014/main" id="{D551A8F8-750C-4F65-8771-9E8390F8E5D2}"/>
              </a:ext>
            </a:extLst>
          </p:cNvPr>
          <p:cNvSpPr>
            <a:spLocks noGrp="1"/>
          </p:cNvSpPr>
          <p:nvPr/>
        </p:nvSpPr>
        <p:spPr>
          <a:xfrm>
            <a:off x="8161817" y="4485931"/>
            <a:ext cx="3078549"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How it is actually confirmed</a:t>
            </a:r>
            <a:endParaRPr sz="1600"/>
          </a:p>
        </p:txBody>
      </p:sp>
      <p:sp>
        <p:nvSpPr>
          <p:cNvPr id="27" name="Text 23">
            <a:extLst>
              <a:ext uri="{FF2B5EF4-FFF2-40B4-BE49-F238E27FC236}">
                <a16:creationId xmlns:a16="http://schemas.microsoft.com/office/drawing/2014/main" id="{C876237A-8880-460B-BDEC-0F8B8E4E6C27}"/>
              </a:ext>
            </a:extLst>
          </p:cNvPr>
          <p:cNvSpPr>
            <a:spLocks noGrp="1"/>
          </p:cNvSpPr>
          <p:nvPr/>
        </p:nvSpPr>
        <p:spPr>
          <a:xfrm>
            <a:off x="8161817" y="4818636"/>
            <a:ext cx="3078549" cy="1176338"/>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Not from this chart. The impacts modulate a high-frequency resonance, so the evidence comes from the envelope spectrum, where the defect rate appears as a comb of lines.</a:t>
            </a:r>
            <a:endParaRPr sz="1250"/>
          </a:p>
        </p:txBody>
      </p:sp>
      <p:sp>
        <p:nvSpPr>
          <p:cNvPr id="6" name="Text 51">
            <a:extLst>
              <a:ext uri="{FF2B5EF4-FFF2-40B4-BE49-F238E27FC236}">
                <a16:creationId xmlns:a16="http://schemas.microsoft.com/office/drawing/2014/main" id="{8A7FC345-2E37-86AF-CBDB-6362461B5D5C}"/>
              </a:ext>
            </a:extLst>
          </p:cNvPr>
          <p:cNvSpPr/>
          <p:nvPr/>
        </p:nvSpPr>
        <p:spPr>
          <a:xfrm>
            <a:off x="10566433" y="6355204"/>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15</a:t>
            </a:r>
            <a:endParaRPr lang="en-US" sz="1200" dirty="0"/>
          </a:p>
        </p:txBody>
      </p:sp>
    </p:spTree>
    <p:extLst>
      <p:ext uri="{BB962C8B-B14F-4D97-AF65-F5344CB8AC3E}">
        <p14:creationId xmlns:p14="http://schemas.microsoft.com/office/powerpoint/2010/main" val="891790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6B3959A-13EE-4757-9C54-FDF7A27D8FBB}"/>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390466EE-B470-45EF-8B80-FBFDD9B1F618}"/>
              </a:ext>
            </a:extLst>
          </p:cNvPr>
          <p:cNvSpPr>
            <a:spLocks noGrp="1"/>
          </p:cNvSpPr>
          <p:nvPr/>
        </p:nvSpPr>
        <p:spPr>
          <a:xfrm>
            <a:off x="812767" y="812763"/>
            <a:ext cx="6950303" cy="779628"/>
          </a:xfrm>
          <a:prstGeom prst="rect">
            <a:avLst/>
          </a:prstGeom>
          <a:noFill/>
        </p:spPr>
        <p:txBody>
          <a:bodyPr wrap="square" lIns="0" tIns="0" rIns="0" bIns="0" anchor="t">
            <a:normAutofit/>
          </a:bodyPr>
          <a:lstStyle/>
          <a:p>
            <a:pPr marL="0" indent="0" algn="l">
              <a:lnSpc>
                <a:spcPts val="2970"/>
              </a:lnSpc>
              <a:buNone/>
            </a:pPr>
            <a:r>
              <a:rPr sz="2700" b="1">
                <a:solidFill>
                  <a:srgbClr val="F59E0B"/>
                </a:solidFill>
                <a:latin typeface="Poppins"/>
                <a:ea typeface="Poppins"/>
                <a:cs typeface="Poppins"/>
              </a:rPr>
              <a:t>Misalignment example: energy at 2×</a:t>
            </a:r>
            <a:endParaRPr sz="2700"/>
          </a:p>
        </p:txBody>
      </p:sp>
      <p:sp>
        <p:nvSpPr>
          <p:cNvPr id="4" name="Text 2">
            <a:extLst>
              <a:ext uri="{FF2B5EF4-FFF2-40B4-BE49-F238E27FC236}">
                <a16:creationId xmlns:a16="http://schemas.microsoft.com/office/drawing/2014/main" id="{AECD02F2-6353-434C-ADA4-EAA6A96F6F5D}"/>
              </a:ext>
            </a:extLst>
          </p:cNvPr>
          <p:cNvSpPr>
            <a:spLocks noGrp="1"/>
          </p:cNvSpPr>
          <p:nvPr/>
        </p:nvSpPr>
        <p:spPr>
          <a:xfrm>
            <a:off x="7865401" y="950342"/>
            <a:ext cx="3619247" cy="487594"/>
          </a:xfrm>
          <a:prstGeom prst="rect">
            <a:avLst/>
          </a:prstGeom>
          <a:noFill/>
        </p:spPr>
        <p:txBody>
          <a:bodyPr wrap="square" lIns="0" tIns="0" rIns="0" bIns="0" anchor="t">
            <a:normAutofit/>
          </a:bodyPr>
          <a:lstStyle/>
          <a:p>
            <a:pPr marL="0" indent="0" algn="l">
              <a:lnSpc>
                <a:spcPts val="1820"/>
              </a:lnSpc>
              <a:buNone/>
            </a:pPr>
            <a:r>
              <a:rPr sz="1300">
                <a:solidFill>
                  <a:srgbClr val="64748B"/>
                </a:solidFill>
                <a:latin typeface="DM Sans"/>
                <a:ea typeface="DM Sans"/>
                <a:cs typeface="DM Sans"/>
              </a:rPr>
              <a:t>horizontal-misalignment / 2.0 mm / 25.02 Hz measured</a:t>
            </a:r>
            <a:endParaRPr sz="1300"/>
          </a:p>
        </p:txBody>
      </p:sp>
      <p:sp>
        <p:nvSpPr>
          <p:cNvPr id="5" name="Text 3">
            <a:extLst>
              <a:ext uri="{FF2B5EF4-FFF2-40B4-BE49-F238E27FC236}">
                <a16:creationId xmlns:a16="http://schemas.microsoft.com/office/drawing/2014/main" id="{C9262D34-9B9C-479F-BB19-6E8234DA6EA0}"/>
              </a:ext>
            </a:extLst>
          </p:cNvPr>
          <p:cNvSpPr>
            <a:spLocks noGrp="1"/>
          </p:cNvSpPr>
          <p:nvPr/>
        </p:nvSpPr>
        <p:spPr>
          <a:xfrm>
            <a:off x="812767" y="1706637"/>
            <a:ext cx="5297805" cy="247650"/>
          </a:xfrm>
          <a:prstGeom prst="rect">
            <a:avLst/>
          </a:prstGeom>
          <a:noFill/>
        </p:spPr>
        <p:txBody>
          <a:bodyPr wrap="square" lIns="0" tIns="0" rIns="0" bIns="0" anchor="t">
            <a:normAutofit/>
          </a:bodyPr>
          <a:lstStyle/>
          <a:p>
            <a:pPr marL="0" indent="0" algn="l">
              <a:lnSpc>
                <a:spcPts val="1750"/>
              </a:lnSpc>
              <a:buNone/>
            </a:pPr>
            <a:r>
              <a:rPr sz="1250">
                <a:solidFill>
                  <a:srgbClr val="64748B"/>
                </a:solidFill>
                <a:latin typeface="DM Sans"/>
                <a:ea typeface="DM Sans"/>
                <a:cs typeface="DM Sans"/>
              </a:rPr>
              <a:t>Raw vibration, 80 ms of the five seconds</a:t>
            </a:r>
            <a:endParaRPr sz="1250"/>
          </a:p>
        </p:txBody>
      </p:sp>
      <p:pic>
        <p:nvPicPr>
          <p:cNvPr id="35" name="Image 0"/>
          <p:cNvPicPr>
            <a:picLocks noChangeAspect="1"/>
          </p:cNvPicPr>
          <p:nvPr/>
        </p:nvPicPr>
        <p:blipFill>
          <a:blip r:embed="rId3"/>
          <a:srcRect/>
          <a:stretch/>
        </p:blipFill>
        <p:spPr>
          <a:xfrm>
            <a:off x="812767" y="1992387"/>
            <a:ext cx="4445000" cy="1206500"/>
          </a:xfrm>
          <a:prstGeom prst="rect">
            <a:avLst/>
          </a:prstGeom>
        </p:spPr>
      </p:pic>
      <p:sp>
        <p:nvSpPr>
          <p:cNvPr id="7" name="Text 4">
            <a:extLst>
              <a:ext uri="{FF2B5EF4-FFF2-40B4-BE49-F238E27FC236}">
                <a16:creationId xmlns:a16="http://schemas.microsoft.com/office/drawing/2014/main" id="{79A2C8FB-EDAC-4535-8686-087F7B0026C0}"/>
              </a:ext>
            </a:extLst>
          </p:cNvPr>
          <p:cNvSpPr>
            <a:spLocks noGrp="1"/>
          </p:cNvSpPr>
          <p:nvPr/>
        </p:nvSpPr>
        <p:spPr>
          <a:xfrm>
            <a:off x="812767" y="3262387"/>
            <a:ext cx="5297805" cy="436827"/>
          </a:xfrm>
          <a:prstGeom prst="rect">
            <a:avLst/>
          </a:prstGeom>
          <a:noFill/>
        </p:spPr>
        <p:txBody>
          <a:bodyPr wrap="square" lIns="0" tIns="0" rIns="0" bIns="0" anchor="t">
            <a:normAutofit/>
          </a:bodyPr>
          <a:lstStyle/>
          <a:p>
            <a:pPr marL="0" indent="0" algn="l">
              <a:lnSpc>
                <a:spcPts val="1620"/>
              </a:lnSpc>
              <a:buNone/>
            </a:pPr>
            <a:r>
              <a:rPr sz="1200">
                <a:solidFill>
                  <a:srgbClr val="1E293B"/>
                </a:solidFill>
                <a:latin typeface="DM Sans"/>
                <a:ea typeface="DM Sans"/>
                <a:cs typeface="DM Sans"/>
              </a:rPr>
              <a:t>Smooth like imbalance, but the repeating unit is shorter: the pattern completes twice per revolution.</a:t>
            </a:r>
            <a:endParaRPr sz="1200"/>
          </a:p>
        </p:txBody>
      </p:sp>
      <p:sp>
        <p:nvSpPr>
          <p:cNvPr id="8" name="Text 5">
            <a:extLst>
              <a:ext uri="{FF2B5EF4-FFF2-40B4-BE49-F238E27FC236}">
                <a16:creationId xmlns:a16="http://schemas.microsoft.com/office/drawing/2014/main" id="{6AB964E8-62B5-4E47-9C1A-DE08AEB0944E}"/>
              </a:ext>
            </a:extLst>
          </p:cNvPr>
          <p:cNvSpPr>
            <a:spLocks noGrp="1"/>
          </p:cNvSpPr>
          <p:nvPr/>
        </p:nvSpPr>
        <p:spPr>
          <a:xfrm>
            <a:off x="6235650" y="1706637"/>
            <a:ext cx="5297890" cy="247650"/>
          </a:xfrm>
          <a:prstGeom prst="rect">
            <a:avLst/>
          </a:prstGeom>
          <a:noFill/>
        </p:spPr>
        <p:txBody>
          <a:bodyPr wrap="square" lIns="0" tIns="0" rIns="0" bIns="0" anchor="t">
            <a:normAutofit/>
          </a:bodyPr>
          <a:lstStyle/>
          <a:p>
            <a:pPr marL="0" indent="0" algn="l">
              <a:lnSpc>
                <a:spcPts val="1750"/>
              </a:lnSpc>
              <a:buNone/>
            </a:pPr>
            <a:r>
              <a:rPr sz="1250">
                <a:solidFill>
                  <a:srgbClr val="64748B"/>
                </a:solidFill>
                <a:latin typeface="DM Sans"/>
                <a:ea typeface="DM Sans"/>
                <a:cs typeface="DM Sans"/>
              </a:rPr>
              <a:t>Energy against multiples of shaft speed</a:t>
            </a:r>
            <a:endParaRPr sz="1250"/>
          </a:p>
        </p:txBody>
      </p:sp>
      <p:pic>
        <p:nvPicPr>
          <p:cNvPr id="38" name="Image 1"/>
          <p:cNvPicPr>
            <a:picLocks noChangeAspect="1"/>
          </p:cNvPicPr>
          <p:nvPr/>
        </p:nvPicPr>
        <p:blipFill>
          <a:blip r:embed="rId4"/>
          <a:srcRect/>
          <a:stretch/>
        </p:blipFill>
        <p:spPr>
          <a:xfrm>
            <a:off x="6235650" y="1992387"/>
            <a:ext cx="4445000" cy="1460500"/>
          </a:xfrm>
          <a:prstGeom prst="rect">
            <a:avLst/>
          </a:prstGeom>
        </p:spPr>
      </p:pic>
      <p:sp>
        <p:nvSpPr>
          <p:cNvPr id="10" name="Text 6">
            <a:extLst>
              <a:ext uri="{FF2B5EF4-FFF2-40B4-BE49-F238E27FC236}">
                <a16:creationId xmlns:a16="http://schemas.microsoft.com/office/drawing/2014/main" id="{A6268A90-6C2E-4A58-9F21-27055F1363C2}"/>
              </a:ext>
            </a:extLst>
          </p:cNvPr>
          <p:cNvSpPr>
            <a:spLocks noGrp="1"/>
          </p:cNvSpPr>
          <p:nvPr/>
        </p:nvSpPr>
        <p:spPr>
          <a:xfrm>
            <a:off x="6362634" y="3516387"/>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1×</a:t>
            </a:r>
            <a:endParaRPr sz="1200"/>
          </a:p>
        </p:txBody>
      </p:sp>
      <p:sp>
        <p:nvSpPr>
          <p:cNvPr id="11" name="Text 7">
            <a:extLst>
              <a:ext uri="{FF2B5EF4-FFF2-40B4-BE49-F238E27FC236}">
                <a16:creationId xmlns:a16="http://schemas.microsoft.com/office/drawing/2014/main" id="{205D7D14-ED90-4BBA-B37E-C094DBC0A174}"/>
              </a:ext>
            </a:extLst>
          </p:cNvPr>
          <p:cNvSpPr>
            <a:spLocks noGrp="1"/>
          </p:cNvSpPr>
          <p:nvPr/>
        </p:nvSpPr>
        <p:spPr>
          <a:xfrm>
            <a:off x="6819784" y="3516387"/>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2×</a:t>
            </a:r>
            <a:endParaRPr sz="1200"/>
          </a:p>
        </p:txBody>
      </p:sp>
      <p:sp>
        <p:nvSpPr>
          <p:cNvPr id="12" name="Text 8">
            <a:extLst>
              <a:ext uri="{FF2B5EF4-FFF2-40B4-BE49-F238E27FC236}">
                <a16:creationId xmlns:a16="http://schemas.microsoft.com/office/drawing/2014/main" id="{D654E5FC-5828-4D16-B382-78C8EFAF824D}"/>
              </a:ext>
            </a:extLst>
          </p:cNvPr>
          <p:cNvSpPr>
            <a:spLocks noGrp="1"/>
          </p:cNvSpPr>
          <p:nvPr/>
        </p:nvSpPr>
        <p:spPr>
          <a:xfrm>
            <a:off x="7270651" y="3516387"/>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1007DC"/>
                </a:solidFill>
                <a:latin typeface="DM Sans"/>
                <a:ea typeface="DM Sans"/>
                <a:cs typeface="DM Sans"/>
              </a:rPr>
              <a:t>3×</a:t>
            </a:r>
            <a:endParaRPr sz="1200"/>
          </a:p>
        </p:txBody>
      </p:sp>
      <p:sp>
        <p:nvSpPr>
          <p:cNvPr id="13" name="Text 9">
            <a:extLst>
              <a:ext uri="{FF2B5EF4-FFF2-40B4-BE49-F238E27FC236}">
                <a16:creationId xmlns:a16="http://schemas.microsoft.com/office/drawing/2014/main" id="{5E4D82A5-01B6-427E-BE75-D3400BE95ED7}"/>
              </a:ext>
            </a:extLst>
          </p:cNvPr>
          <p:cNvSpPr>
            <a:spLocks noGrp="1"/>
          </p:cNvSpPr>
          <p:nvPr/>
        </p:nvSpPr>
        <p:spPr>
          <a:xfrm>
            <a:off x="8185034" y="3516387"/>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5×</a:t>
            </a:r>
            <a:endParaRPr sz="1200"/>
          </a:p>
        </p:txBody>
      </p:sp>
      <p:sp>
        <p:nvSpPr>
          <p:cNvPr id="14" name="Text 10">
            <a:extLst>
              <a:ext uri="{FF2B5EF4-FFF2-40B4-BE49-F238E27FC236}">
                <a16:creationId xmlns:a16="http://schemas.microsoft.com/office/drawing/2014/main" id="{30EFF8CE-D1FD-42DB-90E5-87A6127ED58E}"/>
              </a:ext>
            </a:extLst>
          </p:cNvPr>
          <p:cNvSpPr>
            <a:spLocks noGrp="1"/>
          </p:cNvSpPr>
          <p:nvPr/>
        </p:nvSpPr>
        <p:spPr>
          <a:xfrm>
            <a:off x="10464750" y="3516387"/>
            <a:ext cx="431800" cy="238720"/>
          </a:xfrm>
          <a:prstGeom prst="rect">
            <a:avLst/>
          </a:prstGeom>
          <a:noFill/>
        </p:spPr>
        <p:txBody>
          <a:bodyPr wrap="square" lIns="0" tIns="0" rIns="0" bIns="0" anchor="t">
            <a:normAutofit/>
          </a:bodyPr>
          <a:lstStyle/>
          <a:p>
            <a:pPr marL="0" indent="0" algn="ctr">
              <a:lnSpc>
                <a:spcPts val="1680"/>
              </a:lnSpc>
              <a:buNone/>
            </a:pPr>
            <a:r>
              <a:rPr sz="1200">
                <a:solidFill>
                  <a:srgbClr val="64748B"/>
                </a:solidFill>
                <a:latin typeface="DM Sans"/>
                <a:ea typeface="DM Sans"/>
                <a:cs typeface="DM Sans"/>
              </a:rPr>
              <a:t>10×</a:t>
            </a:r>
            <a:endParaRPr sz="1200"/>
          </a:p>
        </p:txBody>
      </p:sp>
      <p:sp>
        <p:nvSpPr>
          <p:cNvPr id="15" name="Text 11">
            <a:extLst>
              <a:ext uri="{FF2B5EF4-FFF2-40B4-BE49-F238E27FC236}">
                <a16:creationId xmlns:a16="http://schemas.microsoft.com/office/drawing/2014/main" id="{0F40905F-DBE8-400F-B101-F804C1AC4D51}"/>
              </a:ext>
            </a:extLst>
          </p:cNvPr>
          <p:cNvSpPr>
            <a:spLocks noGrp="1"/>
          </p:cNvSpPr>
          <p:nvPr/>
        </p:nvSpPr>
        <p:spPr>
          <a:xfrm>
            <a:off x="6235650" y="3690681"/>
            <a:ext cx="4578350" cy="436827"/>
          </a:xfrm>
          <a:prstGeom prst="rect">
            <a:avLst/>
          </a:prstGeom>
          <a:noFill/>
        </p:spPr>
        <p:txBody>
          <a:bodyPr wrap="square" lIns="0" tIns="0" rIns="0" bIns="0" anchor="t">
            <a:normAutofit/>
          </a:bodyPr>
          <a:lstStyle/>
          <a:p>
            <a:pPr marL="0" indent="0" algn="l">
              <a:lnSpc>
                <a:spcPts val="1620"/>
              </a:lnSpc>
              <a:buNone/>
            </a:pPr>
            <a:r>
              <a:rPr sz="1200">
                <a:solidFill>
                  <a:srgbClr val="1E293B"/>
                </a:solidFill>
                <a:latin typeface="DM Sans"/>
                <a:ea typeface="DM Sans"/>
                <a:cs typeface="DM Sans"/>
              </a:rPr>
              <a:t>A visible component at 2× beside the one at 1×. That ratio is the main separator from imbalance.</a:t>
            </a:r>
            <a:endParaRPr sz="1200"/>
          </a:p>
        </p:txBody>
      </p:sp>
      <p:sp>
        <p:nvSpPr>
          <p:cNvPr id="16" name="Shape 12">
            <a:extLst>
              <a:ext uri="{FF2B5EF4-FFF2-40B4-BE49-F238E27FC236}">
                <a16:creationId xmlns:a16="http://schemas.microsoft.com/office/drawing/2014/main" id="{642FCFBC-EB64-419F-80C2-4FFC9A8DB2E0}"/>
              </a:ext>
            </a:extLst>
          </p:cNvPr>
          <p:cNvSpPr>
            <a:spLocks noGrp="1"/>
          </p:cNvSpPr>
          <p:nvPr/>
        </p:nvSpPr>
        <p:spPr>
          <a:xfrm>
            <a:off x="744885" y="4190996"/>
            <a:ext cx="3445950" cy="1991403"/>
          </a:xfrm>
          <a:custGeom>
            <a:avLst/>
            <a:gdLst/>
            <a:ahLst/>
            <a:cxnLst/>
            <a:rect l="l" t="t" r="r" b="b"/>
            <a:pathLst>
              <a:path w="3445950" h="1991403">
                <a:moveTo>
                  <a:pt x="0" y="0"/>
                </a:moveTo>
                <a:lnTo>
                  <a:pt x="3445950" y="0"/>
                </a:lnTo>
                <a:lnTo>
                  <a:pt x="3445950" y="1889803"/>
                </a:lnTo>
                <a:arcTo wR="101600" hR="101600" stAng="0" swAng="5400000"/>
                <a:lnTo>
                  <a:pt x="101600" y="1991403"/>
                </a:lnTo>
                <a:arcTo wR="101600" hR="101600" stAng="5400000" swAng="5400000"/>
                <a:lnTo>
                  <a:pt x="0" y="0"/>
                </a:lnTo>
                <a:close/>
              </a:path>
            </a:pathLst>
          </a:custGeom>
          <a:solidFill>
            <a:srgbClr val="FFFFFF"/>
          </a:solidFill>
        </p:spPr>
        <p:txBody>
          <a:bodyPr/>
          <a:lstStyle/>
          <a:p>
            <a:endParaRPr/>
          </a:p>
        </p:txBody>
      </p:sp>
      <p:sp>
        <p:nvSpPr>
          <p:cNvPr id="17" name="Shape 13">
            <a:extLst>
              <a:ext uri="{FF2B5EF4-FFF2-40B4-BE49-F238E27FC236}">
                <a16:creationId xmlns:a16="http://schemas.microsoft.com/office/drawing/2014/main" id="{B440C60E-3D8B-497A-B45D-65F408C2EBF4}"/>
              </a:ext>
            </a:extLst>
          </p:cNvPr>
          <p:cNvSpPr>
            <a:spLocks noGrp="1"/>
          </p:cNvSpPr>
          <p:nvPr/>
        </p:nvSpPr>
        <p:spPr>
          <a:xfrm>
            <a:off x="744885" y="4190996"/>
            <a:ext cx="3445950" cy="1991403"/>
          </a:xfrm>
          <a:custGeom>
            <a:avLst/>
            <a:gdLst/>
            <a:ahLst/>
            <a:cxnLst/>
            <a:rect l="l" t="t" r="r" b="b"/>
            <a:pathLst>
              <a:path w="3445950" h="1991403">
                <a:moveTo>
                  <a:pt x="0" y="38100"/>
                </a:moveTo>
                <a:lnTo>
                  <a:pt x="0" y="0"/>
                </a:lnTo>
                <a:lnTo>
                  <a:pt x="3445950" y="0"/>
                </a:lnTo>
                <a:lnTo>
                  <a:pt x="3445950" y="38100"/>
                </a:lnTo>
                <a:lnTo>
                  <a:pt x="0" y="38100"/>
                </a:lnTo>
                <a:close/>
              </a:path>
            </a:pathLst>
          </a:custGeom>
          <a:solidFill>
            <a:srgbClr val="F59E0B"/>
          </a:solidFill>
        </p:spPr>
        <p:txBody>
          <a:bodyPr/>
          <a:lstStyle/>
          <a:p>
            <a:endParaRPr/>
          </a:p>
        </p:txBody>
      </p:sp>
      <p:sp>
        <p:nvSpPr>
          <p:cNvPr id="18" name="Text 14">
            <a:extLst>
              <a:ext uri="{FF2B5EF4-FFF2-40B4-BE49-F238E27FC236}">
                <a16:creationId xmlns:a16="http://schemas.microsoft.com/office/drawing/2014/main" id="{B6265E15-206C-423B-9D5B-3F492618BC0B}"/>
              </a:ext>
            </a:extLst>
          </p:cNvPr>
          <p:cNvSpPr>
            <a:spLocks noGrp="1"/>
          </p:cNvSpPr>
          <p:nvPr/>
        </p:nvSpPr>
        <p:spPr>
          <a:xfrm>
            <a:off x="973419" y="4456567"/>
            <a:ext cx="3078549"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What causes it</a:t>
            </a:r>
            <a:endParaRPr sz="1600"/>
          </a:p>
        </p:txBody>
      </p:sp>
      <p:sp>
        <p:nvSpPr>
          <p:cNvPr id="19" name="Text 15">
            <a:extLst>
              <a:ext uri="{FF2B5EF4-FFF2-40B4-BE49-F238E27FC236}">
                <a16:creationId xmlns:a16="http://schemas.microsoft.com/office/drawing/2014/main" id="{1BF6408A-C3D9-4741-87C9-77FA822E74DE}"/>
              </a:ext>
            </a:extLst>
          </p:cNvPr>
          <p:cNvSpPr>
            <a:spLocks noGrp="1"/>
          </p:cNvSpPr>
          <p:nvPr/>
        </p:nvSpPr>
        <p:spPr>
          <a:xfrm>
            <a:off x="973419" y="4789285"/>
            <a:ext cx="3078549" cy="946150"/>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The two shafts meeting at the coupling are offset or angled. The coupling is loaded and unloaded twice per revolution rather than once.</a:t>
            </a:r>
            <a:endParaRPr sz="1250"/>
          </a:p>
        </p:txBody>
      </p:sp>
      <p:sp>
        <p:nvSpPr>
          <p:cNvPr id="20" name="Shape 16">
            <a:extLst>
              <a:ext uri="{FF2B5EF4-FFF2-40B4-BE49-F238E27FC236}">
                <a16:creationId xmlns:a16="http://schemas.microsoft.com/office/drawing/2014/main" id="{D5D682D7-3942-4810-9D09-2F8C08DAADB6}"/>
              </a:ext>
            </a:extLst>
          </p:cNvPr>
          <p:cNvSpPr>
            <a:spLocks noGrp="1"/>
          </p:cNvSpPr>
          <p:nvPr/>
        </p:nvSpPr>
        <p:spPr>
          <a:xfrm>
            <a:off x="4305101" y="4190996"/>
            <a:ext cx="3446032" cy="1991403"/>
          </a:xfrm>
          <a:custGeom>
            <a:avLst/>
            <a:gdLst/>
            <a:ahLst/>
            <a:cxnLst/>
            <a:rect l="l" t="t" r="r" b="b"/>
            <a:pathLst>
              <a:path w="3446032" h="1991403">
                <a:moveTo>
                  <a:pt x="0" y="0"/>
                </a:moveTo>
                <a:lnTo>
                  <a:pt x="3446032" y="0"/>
                </a:lnTo>
                <a:lnTo>
                  <a:pt x="3446032" y="1889803"/>
                </a:lnTo>
                <a:arcTo wR="101600" hR="101600" stAng="0" swAng="5400000"/>
                <a:lnTo>
                  <a:pt x="101600" y="1991403"/>
                </a:lnTo>
                <a:arcTo wR="101600" hR="101600" stAng="5400000" swAng="5400000"/>
                <a:lnTo>
                  <a:pt x="0" y="0"/>
                </a:lnTo>
                <a:close/>
              </a:path>
            </a:pathLst>
          </a:custGeom>
          <a:solidFill>
            <a:srgbClr val="FFFFFF"/>
          </a:solidFill>
        </p:spPr>
        <p:txBody>
          <a:bodyPr/>
          <a:lstStyle/>
          <a:p>
            <a:endParaRPr/>
          </a:p>
        </p:txBody>
      </p:sp>
      <p:sp>
        <p:nvSpPr>
          <p:cNvPr id="21" name="Shape 17">
            <a:extLst>
              <a:ext uri="{FF2B5EF4-FFF2-40B4-BE49-F238E27FC236}">
                <a16:creationId xmlns:a16="http://schemas.microsoft.com/office/drawing/2014/main" id="{0FBDCCBF-5B8B-4EA6-AFA2-6388B12E1EA1}"/>
              </a:ext>
            </a:extLst>
          </p:cNvPr>
          <p:cNvSpPr>
            <a:spLocks noGrp="1"/>
          </p:cNvSpPr>
          <p:nvPr/>
        </p:nvSpPr>
        <p:spPr>
          <a:xfrm>
            <a:off x="4305101" y="4190996"/>
            <a:ext cx="3446032" cy="1991403"/>
          </a:xfrm>
          <a:custGeom>
            <a:avLst/>
            <a:gdLst/>
            <a:ahLst/>
            <a:cxnLst/>
            <a:rect l="l" t="t" r="r" b="b"/>
            <a:pathLst>
              <a:path w="3446032" h="1991403">
                <a:moveTo>
                  <a:pt x="0" y="38100"/>
                </a:moveTo>
                <a:lnTo>
                  <a:pt x="0" y="0"/>
                </a:lnTo>
                <a:lnTo>
                  <a:pt x="3446032" y="0"/>
                </a:lnTo>
                <a:lnTo>
                  <a:pt x="3446032" y="38100"/>
                </a:lnTo>
                <a:lnTo>
                  <a:pt x="0" y="38100"/>
                </a:lnTo>
                <a:close/>
              </a:path>
            </a:pathLst>
          </a:custGeom>
          <a:solidFill>
            <a:srgbClr val="F59E0B"/>
          </a:solidFill>
        </p:spPr>
        <p:txBody>
          <a:bodyPr/>
          <a:lstStyle/>
          <a:p>
            <a:endParaRPr/>
          </a:p>
        </p:txBody>
      </p:sp>
      <p:sp>
        <p:nvSpPr>
          <p:cNvPr id="22" name="Text 18">
            <a:extLst>
              <a:ext uri="{FF2B5EF4-FFF2-40B4-BE49-F238E27FC236}">
                <a16:creationId xmlns:a16="http://schemas.microsoft.com/office/drawing/2014/main" id="{1817CBC6-EE50-4E11-8EA2-0A64730DB78D}"/>
              </a:ext>
            </a:extLst>
          </p:cNvPr>
          <p:cNvSpPr>
            <a:spLocks noGrp="1"/>
          </p:cNvSpPr>
          <p:nvPr/>
        </p:nvSpPr>
        <p:spPr>
          <a:xfrm>
            <a:off x="4533636" y="4456567"/>
            <a:ext cx="3078634"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The axial giveaway</a:t>
            </a:r>
            <a:endParaRPr sz="1600"/>
          </a:p>
        </p:txBody>
      </p:sp>
      <p:sp>
        <p:nvSpPr>
          <p:cNvPr id="23" name="Text 19">
            <a:extLst>
              <a:ext uri="{FF2B5EF4-FFF2-40B4-BE49-F238E27FC236}">
                <a16:creationId xmlns:a16="http://schemas.microsoft.com/office/drawing/2014/main" id="{11579C94-CA11-4319-8AFE-91F4E0F4BF66}"/>
              </a:ext>
            </a:extLst>
          </p:cNvPr>
          <p:cNvSpPr>
            <a:spLocks noGrp="1"/>
          </p:cNvSpPr>
          <p:nvPr/>
        </p:nvSpPr>
        <p:spPr>
          <a:xfrm>
            <a:off x="4533636" y="4789285"/>
            <a:ext cx="3078634" cy="946150"/>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An angular misalignment pushes along the shaft as well as across it, so the axial channels carry a component that imbalance does not produce.</a:t>
            </a:r>
            <a:endParaRPr sz="1250"/>
          </a:p>
        </p:txBody>
      </p:sp>
      <p:sp>
        <p:nvSpPr>
          <p:cNvPr id="24" name="Shape 20">
            <a:extLst>
              <a:ext uri="{FF2B5EF4-FFF2-40B4-BE49-F238E27FC236}">
                <a16:creationId xmlns:a16="http://schemas.microsoft.com/office/drawing/2014/main" id="{C3A01479-D496-46E1-8E39-767BFE350494}"/>
              </a:ext>
            </a:extLst>
          </p:cNvPr>
          <p:cNvSpPr>
            <a:spLocks noGrp="1"/>
          </p:cNvSpPr>
          <p:nvPr/>
        </p:nvSpPr>
        <p:spPr>
          <a:xfrm>
            <a:off x="7865401" y="4190996"/>
            <a:ext cx="3445950" cy="1991403"/>
          </a:xfrm>
          <a:custGeom>
            <a:avLst/>
            <a:gdLst/>
            <a:ahLst/>
            <a:cxnLst/>
            <a:rect l="l" t="t" r="r" b="b"/>
            <a:pathLst>
              <a:path w="3445950" h="1991403">
                <a:moveTo>
                  <a:pt x="0" y="0"/>
                </a:moveTo>
                <a:lnTo>
                  <a:pt x="3445950" y="0"/>
                </a:lnTo>
                <a:lnTo>
                  <a:pt x="3445950" y="1889803"/>
                </a:lnTo>
                <a:arcTo wR="101600" hR="101600" stAng="0" swAng="5400000"/>
                <a:lnTo>
                  <a:pt x="101600" y="1991403"/>
                </a:lnTo>
                <a:arcTo wR="101600" hR="101600" stAng="5400000" swAng="5400000"/>
                <a:lnTo>
                  <a:pt x="0" y="0"/>
                </a:lnTo>
                <a:close/>
              </a:path>
            </a:pathLst>
          </a:custGeom>
          <a:solidFill>
            <a:srgbClr val="FFFFFF"/>
          </a:solidFill>
        </p:spPr>
        <p:txBody>
          <a:bodyPr/>
          <a:lstStyle/>
          <a:p>
            <a:endParaRPr/>
          </a:p>
        </p:txBody>
      </p:sp>
      <p:sp>
        <p:nvSpPr>
          <p:cNvPr id="25" name="Shape 21">
            <a:extLst>
              <a:ext uri="{FF2B5EF4-FFF2-40B4-BE49-F238E27FC236}">
                <a16:creationId xmlns:a16="http://schemas.microsoft.com/office/drawing/2014/main" id="{543F2460-5144-4A0E-B257-FA635619A617}"/>
              </a:ext>
            </a:extLst>
          </p:cNvPr>
          <p:cNvSpPr>
            <a:spLocks noGrp="1"/>
          </p:cNvSpPr>
          <p:nvPr/>
        </p:nvSpPr>
        <p:spPr>
          <a:xfrm>
            <a:off x="7865401" y="4190996"/>
            <a:ext cx="3445950" cy="1991403"/>
          </a:xfrm>
          <a:custGeom>
            <a:avLst/>
            <a:gdLst/>
            <a:ahLst/>
            <a:cxnLst/>
            <a:rect l="l" t="t" r="r" b="b"/>
            <a:pathLst>
              <a:path w="3445950" h="1991403">
                <a:moveTo>
                  <a:pt x="0" y="38100"/>
                </a:moveTo>
                <a:lnTo>
                  <a:pt x="0" y="0"/>
                </a:lnTo>
                <a:lnTo>
                  <a:pt x="3445950" y="0"/>
                </a:lnTo>
                <a:lnTo>
                  <a:pt x="3445950" y="38100"/>
                </a:lnTo>
                <a:lnTo>
                  <a:pt x="0" y="38100"/>
                </a:lnTo>
                <a:close/>
              </a:path>
            </a:pathLst>
          </a:custGeom>
          <a:solidFill>
            <a:srgbClr val="EF4444"/>
          </a:solidFill>
        </p:spPr>
        <p:txBody>
          <a:bodyPr/>
          <a:lstStyle/>
          <a:p>
            <a:endParaRPr/>
          </a:p>
        </p:txBody>
      </p:sp>
      <p:sp>
        <p:nvSpPr>
          <p:cNvPr id="26" name="Text 22">
            <a:extLst>
              <a:ext uri="{FF2B5EF4-FFF2-40B4-BE49-F238E27FC236}">
                <a16:creationId xmlns:a16="http://schemas.microsoft.com/office/drawing/2014/main" id="{21D1DBC5-762A-4ECA-AC69-D39E94B50688}"/>
              </a:ext>
            </a:extLst>
          </p:cNvPr>
          <p:cNvSpPr>
            <a:spLocks noGrp="1"/>
          </p:cNvSpPr>
          <p:nvPr/>
        </p:nvSpPr>
        <p:spPr>
          <a:xfrm>
            <a:off x="8093935" y="4456567"/>
            <a:ext cx="3078549" cy="51306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Where the system still struggles</a:t>
            </a:r>
            <a:endParaRPr sz="1600"/>
          </a:p>
        </p:txBody>
      </p:sp>
      <p:sp>
        <p:nvSpPr>
          <p:cNvPr id="27" name="Text 23">
            <a:extLst>
              <a:ext uri="{FF2B5EF4-FFF2-40B4-BE49-F238E27FC236}">
                <a16:creationId xmlns:a16="http://schemas.microsoft.com/office/drawing/2014/main" id="{656387E2-F26F-4B8D-B7E1-714B513A7660}"/>
              </a:ext>
            </a:extLst>
          </p:cNvPr>
          <p:cNvSpPr>
            <a:spLocks noGrp="1"/>
          </p:cNvSpPr>
          <p:nvPr/>
        </p:nvSpPr>
        <p:spPr>
          <a:xfrm>
            <a:off x="8093935" y="5033115"/>
            <a:ext cx="3078549" cy="946150"/>
          </a:xfrm>
          <a:prstGeom prst="rect">
            <a:avLst/>
          </a:prstGeom>
          <a:noFill/>
        </p:spPr>
        <p:txBody>
          <a:bodyPr wrap="square" lIns="0" tIns="0" rIns="0" bIns="0" anchor="t">
            <a:normAutofit fontScale="98067"/>
          </a:bodyPr>
          <a:lstStyle/>
          <a:p>
            <a:pPr marL="0" indent="0" algn="l">
              <a:lnSpc>
                <a:spcPts val="1813"/>
              </a:lnSpc>
              <a:buNone/>
            </a:pPr>
            <a:r>
              <a:rPr sz="1250">
                <a:solidFill>
                  <a:srgbClr val="64748B"/>
                </a:solidFill>
                <a:latin typeface="DM Sans"/>
                <a:ea typeface="DM Sans"/>
                <a:cs typeface="DM Sans"/>
              </a:rPr>
              <a:t>Horizontal and vertical misalignment can share this signature. Their direction-sensitive channels help distinguish them, but confusion remains possible.</a:t>
            </a:r>
            <a:endParaRPr sz="1250"/>
          </a:p>
        </p:txBody>
      </p:sp>
      <p:sp>
        <p:nvSpPr>
          <p:cNvPr id="6" name="Text 51">
            <a:extLst>
              <a:ext uri="{FF2B5EF4-FFF2-40B4-BE49-F238E27FC236}">
                <a16:creationId xmlns:a16="http://schemas.microsoft.com/office/drawing/2014/main" id="{F39CE523-E469-DFFE-8B85-83B1E83719AD}"/>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16</a:t>
            </a:r>
            <a:endParaRPr lang="en-US" sz="1200" dirty="0"/>
          </a:p>
        </p:txBody>
      </p:sp>
    </p:spTree>
    <p:extLst>
      <p:ext uri="{BB962C8B-B14F-4D97-AF65-F5344CB8AC3E}">
        <p14:creationId xmlns:p14="http://schemas.microsoft.com/office/powerpoint/2010/main" val="1058513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CD5C7A4-985C-4809-8633-B0DCE0D0FF4C}"/>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A265D479-5188-4350-AE53-D8CBFDEAADA8}"/>
              </a:ext>
            </a:extLst>
          </p:cNvPr>
          <p:cNvSpPr>
            <a:spLocks noGrp="1"/>
          </p:cNvSpPr>
          <p:nvPr/>
        </p:nvSpPr>
        <p:spPr>
          <a:xfrm>
            <a:off x="812767" y="812763"/>
            <a:ext cx="6462150" cy="751847"/>
          </a:xfrm>
          <a:prstGeom prst="rect">
            <a:avLst/>
          </a:prstGeom>
          <a:noFill/>
        </p:spPr>
        <p:txBody>
          <a:bodyPr wrap="square" lIns="0" tIns="0" rIns="0" bIns="0" anchor="t">
            <a:normAutofit/>
          </a:bodyPr>
          <a:lstStyle/>
          <a:p>
            <a:pPr marL="0" indent="0" algn="l">
              <a:lnSpc>
                <a:spcPts val="2860"/>
              </a:lnSpc>
              <a:buNone/>
            </a:pPr>
            <a:r>
              <a:rPr sz="2600" b="1">
                <a:solidFill>
                  <a:srgbClr val="1007DC"/>
                </a:solidFill>
                <a:latin typeface="Poppins"/>
                <a:ea typeface="Poppins"/>
                <a:cs typeface="Poppins"/>
              </a:rPr>
              <a:t>Data intake and audit</a:t>
            </a:r>
            <a:endParaRPr sz="2600"/>
          </a:p>
        </p:txBody>
      </p:sp>
      <p:pic>
        <p:nvPicPr>
          <p:cNvPr id="92" name="Picture 85"/>
          <p:cNvPicPr>
            <a:picLocks noChangeAspect="1"/>
          </p:cNvPicPr>
          <p:nvPr/>
        </p:nvPicPr>
        <p:blipFill>
          <a:blip r:embed="rId3"/>
          <a:stretch>
            <a:fillRect/>
          </a:stretch>
        </p:blipFill>
        <p:spPr>
          <a:xfrm>
            <a:off x="616824" y="1326356"/>
            <a:ext cx="10622158" cy="3872661"/>
          </a:xfrm>
          <a:prstGeom prst="rect">
            <a:avLst/>
          </a:prstGeom>
        </p:spPr>
      </p:pic>
      <p:sp>
        <p:nvSpPr>
          <p:cNvPr id="4" name="Text 51">
            <a:extLst>
              <a:ext uri="{FF2B5EF4-FFF2-40B4-BE49-F238E27FC236}">
                <a16:creationId xmlns:a16="http://schemas.microsoft.com/office/drawing/2014/main" id="{29E32FCE-1CFB-69A2-54C2-6DA12CCE8EF4}"/>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17</a:t>
            </a:r>
            <a:endParaRPr lang="en-US" sz="1200" dirty="0"/>
          </a:p>
        </p:txBody>
      </p:sp>
    </p:spTree>
    <p:extLst>
      <p:ext uri="{BB962C8B-B14F-4D97-AF65-F5344CB8AC3E}">
        <p14:creationId xmlns:p14="http://schemas.microsoft.com/office/powerpoint/2010/main" val="1818962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F406808-60B7-B230-69E0-8EF6DC10C13D}"/>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5FB219C7-49C1-B635-806C-C1B90E56C503}"/>
              </a:ext>
            </a:extLst>
          </p:cNvPr>
          <p:cNvSpPr>
            <a:spLocks noGrp="1"/>
          </p:cNvSpPr>
          <p:nvPr/>
        </p:nvSpPr>
        <p:spPr>
          <a:xfrm>
            <a:off x="812767" y="812763"/>
            <a:ext cx="6462150" cy="751847"/>
          </a:xfrm>
          <a:prstGeom prst="rect">
            <a:avLst/>
          </a:prstGeom>
          <a:noFill/>
        </p:spPr>
        <p:txBody>
          <a:bodyPr wrap="square" lIns="0" tIns="0" rIns="0" bIns="0" anchor="t">
            <a:normAutofit/>
          </a:bodyPr>
          <a:lstStyle/>
          <a:p>
            <a:pPr marL="0" indent="0" algn="l">
              <a:lnSpc>
                <a:spcPts val="2860"/>
              </a:lnSpc>
              <a:buNone/>
            </a:pPr>
            <a:r>
              <a:rPr sz="2600" b="1">
                <a:solidFill>
                  <a:srgbClr val="1007DC"/>
                </a:solidFill>
                <a:latin typeface="Poppins"/>
                <a:ea typeface="Poppins"/>
                <a:cs typeface="Poppins"/>
              </a:rPr>
              <a:t>Split, clean and window</a:t>
            </a:r>
            <a:endParaRPr sz="2600"/>
          </a:p>
        </p:txBody>
      </p:sp>
      <p:pic>
        <p:nvPicPr>
          <p:cNvPr id="71" name="Picture 4"/>
          <p:cNvPicPr>
            <a:picLocks noChangeAspect="1"/>
          </p:cNvPicPr>
          <p:nvPr/>
        </p:nvPicPr>
        <p:blipFill>
          <a:blip r:embed="rId3"/>
          <a:stretch>
            <a:fillRect/>
          </a:stretch>
        </p:blipFill>
        <p:spPr>
          <a:xfrm>
            <a:off x="564151" y="1268935"/>
            <a:ext cx="11315117" cy="4714632"/>
          </a:xfrm>
          <a:prstGeom prst="rect">
            <a:avLst/>
          </a:prstGeom>
        </p:spPr>
      </p:pic>
      <p:sp>
        <p:nvSpPr>
          <p:cNvPr id="4" name="Text 51">
            <a:extLst>
              <a:ext uri="{FF2B5EF4-FFF2-40B4-BE49-F238E27FC236}">
                <a16:creationId xmlns:a16="http://schemas.microsoft.com/office/drawing/2014/main" id="{45DE9BBA-382E-9F1A-E644-8B7322E09F4C}"/>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18</a:t>
            </a:r>
            <a:endParaRPr lang="en-US" sz="1200" dirty="0"/>
          </a:p>
        </p:txBody>
      </p:sp>
    </p:spTree>
    <p:extLst>
      <p:ext uri="{BB962C8B-B14F-4D97-AF65-F5344CB8AC3E}">
        <p14:creationId xmlns:p14="http://schemas.microsoft.com/office/powerpoint/2010/main" val="545671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7F244B6-7463-E617-5C8E-415F9732C033}"/>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DA950660-D955-30FD-A22F-080000EA4336}"/>
              </a:ext>
            </a:extLst>
          </p:cNvPr>
          <p:cNvSpPr>
            <a:spLocks noGrp="1"/>
          </p:cNvSpPr>
          <p:nvPr/>
        </p:nvSpPr>
        <p:spPr>
          <a:xfrm>
            <a:off x="812767" y="812763"/>
            <a:ext cx="6462150" cy="751847"/>
          </a:xfrm>
          <a:prstGeom prst="rect">
            <a:avLst/>
          </a:prstGeom>
          <a:noFill/>
        </p:spPr>
        <p:txBody>
          <a:bodyPr wrap="square" lIns="0" tIns="0" rIns="0" bIns="0" anchor="t">
            <a:normAutofit/>
          </a:bodyPr>
          <a:lstStyle/>
          <a:p>
            <a:pPr marL="0" indent="0" algn="l">
              <a:lnSpc>
                <a:spcPts val="2860"/>
              </a:lnSpc>
              <a:buNone/>
            </a:pPr>
            <a:r>
              <a:rPr sz="2600" b="1">
                <a:solidFill>
                  <a:srgbClr val="1007DC"/>
                </a:solidFill>
                <a:latin typeface="Poppins"/>
                <a:ea typeface="Poppins"/>
                <a:cs typeface="Poppins"/>
              </a:rPr>
              <a:t>Model input preparation</a:t>
            </a:r>
            <a:endParaRPr sz="2600"/>
          </a:p>
        </p:txBody>
      </p:sp>
      <p:pic>
        <p:nvPicPr>
          <p:cNvPr id="71" name="Picture 3"/>
          <p:cNvPicPr>
            <a:picLocks noChangeAspect="1"/>
          </p:cNvPicPr>
          <p:nvPr/>
        </p:nvPicPr>
        <p:blipFill>
          <a:blip r:embed="rId3"/>
          <a:stretch>
            <a:fillRect/>
          </a:stretch>
        </p:blipFill>
        <p:spPr>
          <a:xfrm>
            <a:off x="497747" y="1409468"/>
            <a:ext cx="10419667" cy="4287258"/>
          </a:xfrm>
          <a:prstGeom prst="rect">
            <a:avLst/>
          </a:prstGeom>
        </p:spPr>
      </p:pic>
      <p:sp>
        <p:nvSpPr>
          <p:cNvPr id="4" name="Text 51">
            <a:extLst>
              <a:ext uri="{FF2B5EF4-FFF2-40B4-BE49-F238E27FC236}">
                <a16:creationId xmlns:a16="http://schemas.microsoft.com/office/drawing/2014/main" id="{31932502-C7E1-2FB0-8A2E-898454C43C8F}"/>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19</a:t>
            </a:r>
            <a:endParaRPr lang="en-US" sz="1200" dirty="0"/>
          </a:p>
        </p:txBody>
      </p:sp>
    </p:spTree>
    <p:extLst>
      <p:ext uri="{BB962C8B-B14F-4D97-AF65-F5344CB8AC3E}">
        <p14:creationId xmlns:p14="http://schemas.microsoft.com/office/powerpoint/2010/main" val="3756741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34478FA-B566-D6CF-830D-177C4FB1F66E}"/>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0F74DDB7-56B5-2DDA-8CAE-A54F82C947E5}"/>
              </a:ext>
            </a:extLst>
          </p:cNvPr>
          <p:cNvSpPr>
            <a:spLocks noGrp="1"/>
          </p:cNvSpPr>
          <p:nvPr/>
        </p:nvSpPr>
        <p:spPr>
          <a:xfrm>
            <a:off x="812766" y="812763"/>
            <a:ext cx="10733611" cy="751847"/>
          </a:xfrm>
          <a:prstGeom prst="rect">
            <a:avLst/>
          </a:prstGeom>
          <a:noFill/>
        </p:spPr>
        <p:txBody>
          <a:bodyPr wrap="square" lIns="0" tIns="0" rIns="0" bIns="0" anchor="t">
            <a:normAutofit/>
          </a:bodyPr>
          <a:lstStyle/>
          <a:p>
            <a:pPr marL="0" indent="0" algn="l">
              <a:lnSpc>
                <a:spcPts val="2860"/>
              </a:lnSpc>
              <a:buNone/>
            </a:pPr>
            <a:r>
              <a:rPr lang="en-US" sz="2600" b="1">
                <a:solidFill>
                  <a:srgbClr val="1007DC"/>
                </a:solidFill>
                <a:latin typeface="Poppins"/>
                <a:ea typeface="Poppins"/>
                <a:cs typeface="Poppins"/>
              </a:rPr>
              <a:t>Another view – to show how data leakage is prevented</a:t>
            </a:r>
            <a:endParaRPr sz="2600"/>
          </a:p>
        </p:txBody>
      </p:sp>
      <p:pic>
        <p:nvPicPr>
          <p:cNvPr id="71" name="Picture 4"/>
          <p:cNvPicPr>
            <a:picLocks noChangeAspect="1"/>
          </p:cNvPicPr>
          <p:nvPr/>
        </p:nvPicPr>
        <p:blipFill>
          <a:blip r:embed="rId3"/>
          <a:srcRect l="1877" t="11713" r="1673" b="4368"/>
          <a:stretch>
            <a:fillRect/>
          </a:stretch>
        </p:blipFill>
        <p:spPr>
          <a:xfrm>
            <a:off x="1342776" y="1564610"/>
            <a:ext cx="9506447" cy="4655127"/>
          </a:xfrm>
          <a:prstGeom prst="rect">
            <a:avLst/>
          </a:prstGeom>
        </p:spPr>
      </p:pic>
      <p:sp>
        <p:nvSpPr>
          <p:cNvPr id="4" name="Text 51">
            <a:extLst>
              <a:ext uri="{FF2B5EF4-FFF2-40B4-BE49-F238E27FC236}">
                <a16:creationId xmlns:a16="http://schemas.microsoft.com/office/drawing/2014/main" id="{6ABE4C76-B1E3-B0F2-9E00-A89AC804DA5E}"/>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20</a:t>
            </a:r>
            <a:endParaRPr lang="en-US" sz="1200" dirty="0"/>
          </a:p>
        </p:txBody>
      </p:sp>
    </p:spTree>
    <p:extLst>
      <p:ext uri="{BB962C8B-B14F-4D97-AF65-F5344CB8AC3E}">
        <p14:creationId xmlns:p14="http://schemas.microsoft.com/office/powerpoint/2010/main" val="2073009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05FC61-D8E5-44A0-838E-67AE53055CBF}"/>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9C09677F-B246-4000-8085-CF61CBBDAF17}"/>
              </a:ext>
            </a:extLst>
          </p:cNvPr>
          <p:cNvSpPr>
            <a:spLocks noGrp="1"/>
          </p:cNvSpPr>
          <p:nvPr/>
        </p:nvSpPr>
        <p:spPr>
          <a:xfrm>
            <a:off x="812767" y="812763"/>
            <a:ext cx="10883460" cy="330994"/>
          </a:xfrm>
          <a:prstGeom prst="rect">
            <a:avLst/>
          </a:prstGeom>
          <a:noFill/>
        </p:spPr>
        <p:txBody>
          <a:bodyPr wrap="square" lIns="0" tIns="0" rIns="0" bIns="0" anchor="t">
            <a:normAutofit/>
          </a:bodyPr>
          <a:lstStyle/>
          <a:p>
            <a:pPr marL="0" indent="0" algn="l">
              <a:lnSpc>
                <a:spcPts val="2422"/>
              </a:lnSpc>
              <a:buNone/>
            </a:pPr>
            <a:r>
              <a:rPr sz="2202" b="1">
                <a:solidFill>
                  <a:srgbClr val="1007DC"/>
                </a:solidFill>
                <a:latin typeface="Poppins"/>
                <a:ea typeface="Poppins"/>
                <a:cs typeface="Poppins"/>
              </a:rPr>
              <a:t>Challenges in the data itself</a:t>
            </a:r>
            <a:endParaRPr sz="2202"/>
          </a:p>
        </p:txBody>
      </p:sp>
      <p:sp>
        <p:nvSpPr>
          <p:cNvPr id="4" name="Shape 2">
            <a:extLst>
              <a:ext uri="{FF2B5EF4-FFF2-40B4-BE49-F238E27FC236}">
                <a16:creationId xmlns:a16="http://schemas.microsoft.com/office/drawing/2014/main" id="{9D4FD1F4-D2BF-40C0-8FD2-6F3E1CD549F9}"/>
              </a:ext>
            </a:extLst>
          </p:cNvPr>
          <p:cNvSpPr>
            <a:spLocks noGrp="1"/>
          </p:cNvSpPr>
          <p:nvPr/>
        </p:nvSpPr>
        <p:spPr>
          <a:xfrm>
            <a:off x="812767" y="1283395"/>
            <a:ext cx="3437434" cy="2196786"/>
          </a:xfrm>
          <a:custGeom>
            <a:avLst/>
            <a:gdLst/>
            <a:ahLst/>
            <a:cxnLst/>
            <a:rect l="l" t="t" r="r" b="b"/>
            <a:pathLst>
              <a:path w="3437434" h="2196786">
                <a:moveTo>
                  <a:pt x="0" y="0"/>
                </a:moveTo>
                <a:lnTo>
                  <a:pt x="3437434" y="0"/>
                </a:lnTo>
                <a:lnTo>
                  <a:pt x="3437434"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5" name="Shape 3">
            <a:extLst>
              <a:ext uri="{FF2B5EF4-FFF2-40B4-BE49-F238E27FC236}">
                <a16:creationId xmlns:a16="http://schemas.microsoft.com/office/drawing/2014/main" id="{771C65E0-23E7-43EF-9070-20606C26B4D8}"/>
              </a:ext>
            </a:extLst>
          </p:cNvPr>
          <p:cNvSpPr>
            <a:spLocks noGrp="1"/>
          </p:cNvSpPr>
          <p:nvPr/>
        </p:nvSpPr>
        <p:spPr>
          <a:xfrm>
            <a:off x="812767" y="1283395"/>
            <a:ext cx="3437434" cy="2196786"/>
          </a:xfrm>
          <a:custGeom>
            <a:avLst/>
            <a:gdLst/>
            <a:ahLst/>
            <a:cxnLst/>
            <a:rect l="l" t="t" r="r" b="b"/>
            <a:pathLst>
              <a:path w="3437434" h="2196786">
                <a:moveTo>
                  <a:pt x="0" y="38100"/>
                </a:moveTo>
                <a:lnTo>
                  <a:pt x="0" y="0"/>
                </a:lnTo>
                <a:lnTo>
                  <a:pt x="3437434" y="0"/>
                </a:lnTo>
                <a:lnTo>
                  <a:pt x="3437434" y="38100"/>
                </a:lnTo>
                <a:lnTo>
                  <a:pt x="0" y="38100"/>
                </a:lnTo>
                <a:close/>
              </a:path>
            </a:pathLst>
          </a:custGeom>
          <a:solidFill>
            <a:srgbClr val="EF4444"/>
          </a:solidFill>
        </p:spPr>
        <p:txBody>
          <a:bodyPr/>
          <a:lstStyle/>
          <a:p>
            <a:endParaRPr/>
          </a:p>
        </p:txBody>
      </p:sp>
      <p:sp>
        <p:nvSpPr>
          <p:cNvPr id="6" name="Text 4">
            <a:extLst>
              <a:ext uri="{FF2B5EF4-FFF2-40B4-BE49-F238E27FC236}">
                <a16:creationId xmlns:a16="http://schemas.microsoft.com/office/drawing/2014/main" id="{B2143D72-93FA-4DEB-8899-771B956883FA}"/>
              </a:ext>
            </a:extLst>
          </p:cNvPr>
          <p:cNvSpPr>
            <a:spLocks noGrp="1"/>
          </p:cNvSpPr>
          <p:nvPr/>
        </p:nvSpPr>
        <p:spPr>
          <a:xfrm>
            <a:off x="1041301" y="1497151"/>
            <a:ext cx="3069777" cy="478617"/>
          </a:xfrm>
          <a:prstGeom prst="rect">
            <a:avLst/>
          </a:prstGeom>
          <a:noFill/>
        </p:spPr>
        <p:txBody>
          <a:bodyPr wrap="square" lIns="0" tIns="0" rIns="0" bIns="0" anchor="t">
            <a:normAutofit/>
          </a:bodyPr>
          <a:lstStyle/>
          <a:p>
            <a:pPr marL="0" indent="0" algn="l">
              <a:lnSpc>
                <a:spcPts val="1602"/>
              </a:lnSpc>
              <a:buNone/>
            </a:pPr>
            <a:r>
              <a:rPr lang="en-SG" sz="1335" b="1">
                <a:solidFill>
                  <a:srgbClr val="1E293B"/>
                </a:solidFill>
                <a:latin typeface="Poppins"/>
                <a:ea typeface="Poppins"/>
                <a:cs typeface="Poppins"/>
              </a:rPr>
              <a:t>Recording glitch linked to certain fault labels.</a:t>
            </a:r>
            <a:endParaRPr sz="1335"/>
          </a:p>
        </p:txBody>
      </p:sp>
      <p:sp>
        <p:nvSpPr>
          <p:cNvPr id="7" name="Text 5">
            <a:extLst>
              <a:ext uri="{FF2B5EF4-FFF2-40B4-BE49-F238E27FC236}">
                <a16:creationId xmlns:a16="http://schemas.microsoft.com/office/drawing/2014/main" id="{A3093BD4-59B7-4B7D-A75C-AC13D2738ACF}"/>
              </a:ext>
            </a:extLst>
          </p:cNvPr>
          <p:cNvSpPr>
            <a:spLocks noGrp="1"/>
          </p:cNvSpPr>
          <p:nvPr/>
        </p:nvSpPr>
        <p:spPr>
          <a:xfrm>
            <a:off x="1041301" y="1975768"/>
            <a:ext cx="3069777" cy="1301270"/>
          </a:xfrm>
          <a:prstGeom prst="rect">
            <a:avLst/>
          </a:prstGeom>
          <a:noFill/>
        </p:spPr>
        <p:txBody>
          <a:bodyPr wrap="square" lIns="0" tIns="0" rIns="0" bIns="0" anchor="t">
            <a:normAutofit/>
          </a:bodyPr>
          <a:lstStyle/>
          <a:p>
            <a:pPr marL="0" indent="0" algn="l">
              <a:lnSpc>
                <a:spcPts val="1614"/>
              </a:lnSpc>
              <a:buNone/>
            </a:pPr>
            <a:r>
              <a:rPr sz="1113">
                <a:solidFill>
                  <a:srgbClr val="64748B"/>
                </a:solidFill>
                <a:latin typeface="DM Sans"/>
                <a:ea typeface="DM Sans"/>
                <a:cs typeface="DM Sans"/>
              </a:rPr>
              <a:t>164 files carry microphone </a:t>
            </a:r>
            <a:r>
              <a:rPr sz="1113">
                <a:solidFill>
                  <a:srgbClr val="64748B"/>
                </a:solidFill>
                <a:highlight>
                  <a:srgbClr val="FFFF00"/>
                </a:highlight>
                <a:latin typeface="DM Sans"/>
                <a:ea typeface="DM Sans"/>
                <a:cs typeface="DM Sans"/>
              </a:rPr>
              <a:t>bursts of five to ten samples reaching about 160 V, against a median level of 0.13 V</a:t>
            </a:r>
            <a:r>
              <a:rPr sz="1113">
                <a:solidFill>
                  <a:srgbClr val="64748B"/>
                </a:solidFill>
                <a:latin typeface="DM Sans"/>
                <a:ea typeface="DM Sans"/>
                <a:cs typeface="DM Sans"/>
              </a:rPr>
              <a:t>. They appear only in imbalance at 20 to 35 g and underhang cage at 6, 20 and 35 g, so a model could score well by detecting the artefact instead of the fault.</a:t>
            </a:r>
            <a:endParaRPr sz="1113"/>
          </a:p>
        </p:txBody>
      </p:sp>
      <p:sp>
        <p:nvSpPr>
          <p:cNvPr id="8" name="Shape 6">
            <a:extLst>
              <a:ext uri="{FF2B5EF4-FFF2-40B4-BE49-F238E27FC236}">
                <a16:creationId xmlns:a16="http://schemas.microsoft.com/office/drawing/2014/main" id="{7557CD52-5A4D-4EB5-AC8B-50CC98008D5C}"/>
              </a:ext>
            </a:extLst>
          </p:cNvPr>
          <p:cNvSpPr>
            <a:spLocks noGrp="1"/>
          </p:cNvSpPr>
          <p:nvPr/>
        </p:nvSpPr>
        <p:spPr>
          <a:xfrm>
            <a:off x="4377200" y="1283395"/>
            <a:ext cx="3437516" cy="2196786"/>
          </a:xfrm>
          <a:custGeom>
            <a:avLst/>
            <a:gdLst/>
            <a:ahLst/>
            <a:cxnLst/>
            <a:rect l="l" t="t" r="r" b="b"/>
            <a:pathLst>
              <a:path w="3437516" h="2196786">
                <a:moveTo>
                  <a:pt x="0" y="0"/>
                </a:moveTo>
                <a:lnTo>
                  <a:pt x="3437516" y="0"/>
                </a:lnTo>
                <a:lnTo>
                  <a:pt x="3437516"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9" name="Shape 7">
            <a:extLst>
              <a:ext uri="{FF2B5EF4-FFF2-40B4-BE49-F238E27FC236}">
                <a16:creationId xmlns:a16="http://schemas.microsoft.com/office/drawing/2014/main" id="{373AD0C9-64D2-4F37-BAEF-CD67FCB76862}"/>
              </a:ext>
            </a:extLst>
          </p:cNvPr>
          <p:cNvSpPr>
            <a:spLocks noGrp="1"/>
          </p:cNvSpPr>
          <p:nvPr/>
        </p:nvSpPr>
        <p:spPr>
          <a:xfrm>
            <a:off x="4377200" y="1283395"/>
            <a:ext cx="3437516" cy="2196786"/>
          </a:xfrm>
          <a:custGeom>
            <a:avLst/>
            <a:gdLst/>
            <a:ahLst/>
            <a:cxnLst/>
            <a:rect l="l" t="t" r="r" b="b"/>
            <a:pathLst>
              <a:path w="3437516" h="2196786">
                <a:moveTo>
                  <a:pt x="0" y="38100"/>
                </a:moveTo>
                <a:lnTo>
                  <a:pt x="0" y="0"/>
                </a:lnTo>
                <a:lnTo>
                  <a:pt x="3437516" y="0"/>
                </a:lnTo>
                <a:lnTo>
                  <a:pt x="3437516" y="38100"/>
                </a:lnTo>
                <a:lnTo>
                  <a:pt x="0" y="38100"/>
                </a:lnTo>
                <a:close/>
              </a:path>
            </a:pathLst>
          </a:custGeom>
          <a:solidFill>
            <a:srgbClr val="F59E0B"/>
          </a:solidFill>
        </p:spPr>
        <p:txBody>
          <a:bodyPr/>
          <a:lstStyle/>
          <a:p>
            <a:endParaRPr/>
          </a:p>
        </p:txBody>
      </p:sp>
      <p:sp>
        <p:nvSpPr>
          <p:cNvPr id="10" name="Text 8">
            <a:extLst>
              <a:ext uri="{FF2B5EF4-FFF2-40B4-BE49-F238E27FC236}">
                <a16:creationId xmlns:a16="http://schemas.microsoft.com/office/drawing/2014/main" id="{20881A67-9193-44C6-82DF-59A202F3007F}"/>
              </a:ext>
            </a:extLst>
          </p:cNvPr>
          <p:cNvSpPr>
            <a:spLocks noGrp="1"/>
          </p:cNvSpPr>
          <p:nvPr/>
        </p:nvSpPr>
        <p:spPr>
          <a:xfrm>
            <a:off x="4605734" y="1548966"/>
            <a:ext cx="3069862" cy="267576"/>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Tachometer glitches</a:t>
            </a:r>
            <a:endParaRPr sz="1600"/>
          </a:p>
        </p:txBody>
      </p:sp>
      <p:sp>
        <p:nvSpPr>
          <p:cNvPr id="11" name="Text 9">
            <a:extLst>
              <a:ext uri="{FF2B5EF4-FFF2-40B4-BE49-F238E27FC236}">
                <a16:creationId xmlns:a16="http://schemas.microsoft.com/office/drawing/2014/main" id="{C26E130A-C533-4494-A64E-6BDB3108CFB4}"/>
              </a:ext>
            </a:extLst>
          </p:cNvPr>
          <p:cNvSpPr>
            <a:spLocks noGrp="1"/>
          </p:cNvSpPr>
          <p:nvPr/>
        </p:nvSpPr>
        <p:spPr>
          <a:xfrm>
            <a:off x="4605734" y="1880022"/>
            <a:ext cx="3069862" cy="1397016"/>
          </a:xfrm>
          <a:prstGeom prst="rect">
            <a:avLst/>
          </a:prstGeom>
          <a:noFill/>
        </p:spPr>
        <p:txBody>
          <a:bodyPr wrap="square" lIns="0" tIns="0" rIns="0" bIns="0" anchor="t">
            <a:normAutofit/>
          </a:bodyPr>
          <a:lstStyle/>
          <a:p>
            <a:pPr marL="0" indent="0" algn="l">
              <a:lnSpc>
                <a:spcPts val="1801"/>
              </a:lnSpc>
              <a:buNone/>
            </a:pPr>
            <a:r>
              <a:rPr sz="1242">
                <a:solidFill>
                  <a:srgbClr val="64748B"/>
                </a:solidFill>
                <a:latin typeface="DM Sans"/>
                <a:ea typeface="DM Sans"/>
                <a:cs typeface="DM Sans"/>
              </a:rPr>
              <a:t>228 files show double triggers or dropouts, severe in 94 of them and concentrated in underhang ball. Since every order feature depends on the shaft speed, a bad speed corrupts the whole feature vector.</a:t>
            </a:r>
            <a:endParaRPr sz="1242"/>
          </a:p>
        </p:txBody>
      </p:sp>
      <p:sp>
        <p:nvSpPr>
          <p:cNvPr id="12" name="Shape 10">
            <a:extLst>
              <a:ext uri="{FF2B5EF4-FFF2-40B4-BE49-F238E27FC236}">
                <a16:creationId xmlns:a16="http://schemas.microsoft.com/office/drawing/2014/main" id="{FF72EB6B-EA93-4518-AD43-267961B6679B}"/>
              </a:ext>
            </a:extLst>
          </p:cNvPr>
          <p:cNvSpPr>
            <a:spLocks noGrp="1"/>
          </p:cNvSpPr>
          <p:nvPr/>
        </p:nvSpPr>
        <p:spPr>
          <a:xfrm>
            <a:off x="7941717" y="1283395"/>
            <a:ext cx="3437516" cy="2196786"/>
          </a:xfrm>
          <a:custGeom>
            <a:avLst/>
            <a:gdLst/>
            <a:ahLst/>
            <a:cxnLst/>
            <a:rect l="l" t="t" r="r" b="b"/>
            <a:pathLst>
              <a:path w="3437516" h="2196786">
                <a:moveTo>
                  <a:pt x="0" y="0"/>
                </a:moveTo>
                <a:lnTo>
                  <a:pt x="3437516" y="0"/>
                </a:lnTo>
                <a:lnTo>
                  <a:pt x="3437516"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13" name="Shape 11">
            <a:extLst>
              <a:ext uri="{FF2B5EF4-FFF2-40B4-BE49-F238E27FC236}">
                <a16:creationId xmlns:a16="http://schemas.microsoft.com/office/drawing/2014/main" id="{75EB03D2-306F-4969-8601-CD02F39637A9}"/>
              </a:ext>
            </a:extLst>
          </p:cNvPr>
          <p:cNvSpPr>
            <a:spLocks noGrp="1"/>
          </p:cNvSpPr>
          <p:nvPr/>
        </p:nvSpPr>
        <p:spPr>
          <a:xfrm>
            <a:off x="7941717" y="1283395"/>
            <a:ext cx="3437516" cy="2196786"/>
          </a:xfrm>
          <a:custGeom>
            <a:avLst/>
            <a:gdLst/>
            <a:ahLst/>
            <a:cxnLst/>
            <a:rect l="l" t="t" r="r" b="b"/>
            <a:pathLst>
              <a:path w="3437516" h="2196786">
                <a:moveTo>
                  <a:pt x="0" y="38100"/>
                </a:moveTo>
                <a:lnTo>
                  <a:pt x="0" y="0"/>
                </a:lnTo>
                <a:lnTo>
                  <a:pt x="3437516" y="0"/>
                </a:lnTo>
                <a:lnTo>
                  <a:pt x="3437516" y="38100"/>
                </a:lnTo>
                <a:lnTo>
                  <a:pt x="0" y="38100"/>
                </a:lnTo>
                <a:close/>
              </a:path>
            </a:pathLst>
          </a:custGeom>
          <a:solidFill>
            <a:srgbClr val="F59E0B"/>
          </a:solidFill>
        </p:spPr>
        <p:txBody>
          <a:bodyPr/>
          <a:lstStyle/>
          <a:p>
            <a:endParaRPr/>
          </a:p>
        </p:txBody>
      </p:sp>
      <p:sp>
        <p:nvSpPr>
          <p:cNvPr id="14" name="Text 12">
            <a:extLst>
              <a:ext uri="{FF2B5EF4-FFF2-40B4-BE49-F238E27FC236}">
                <a16:creationId xmlns:a16="http://schemas.microsoft.com/office/drawing/2014/main" id="{616F7D84-3A9E-4EEA-B13C-5F5B3BB0A22F}"/>
              </a:ext>
            </a:extLst>
          </p:cNvPr>
          <p:cNvSpPr>
            <a:spLocks noGrp="1"/>
          </p:cNvSpPr>
          <p:nvPr/>
        </p:nvSpPr>
        <p:spPr>
          <a:xfrm>
            <a:off x="8170250" y="1548966"/>
            <a:ext cx="3069862"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Saturation and drift</a:t>
            </a:r>
            <a:endParaRPr sz="1600"/>
          </a:p>
        </p:txBody>
      </p:sp>
      <p:sp>
        <p:nvSpPr>
          <p:cNvPr id="15" name="Text 13">
            <a:extLst>
              <a:ext uri="{FF2B5EF4-FFF2-40B4-BE49-F238E27FC236}">
                <a16:creationId xmlns:a16="http://schemas.microsoft.com/office/drawing/2014/main" id="{80947DFF-7703-40CC-9CBE-1D4CF574F32B}"/>
              </a:ext>
            </a:extLst>
          </p:cNvPr>
          <p:cNvSpPr>
            <a:spLocks noGrp="1"/>
          </p:cNvSpPr>
          <p:nvPr/>
        </p:nvSpPr>
        <p:spPr>
          <a:xfrm>
            <a:off x="8170250" y="1881684"/>
            <a:ext cx="3069862" cy="946150"/>
          </a:xfrm>
          <a:prstGeom prst="rect">
            <a:avLst/>
          </a:prstGeom>
          <a:noFill/>
        </p:spPr>
        <p:txBody>
          <a:bodyPr wrap="square" lIns="0" tIns="0" rIns="0" bIns="0" anchor="t">
            <a:normAutofit/>
          </a:bodyPr>
          <a:lstStyle/>
          <a:p>
            <a:pPr marL="0" indent="0" algn="l">
              <a:lnSpc>
                <a:spcPts val="1813"/>
              </a:lnSpc>
              <a:buNone/>
            </a:pPr>
            <a:r>
              <a:rPr sz="1250">
                <a:solidFill>
                  <a:srgbClr val="64748B"/>
                </a:solidFill>
                <a:latin typeface="DM Sans"/>
                <a:ea typeface="DM Sans"/>
                <a:cs typeface="DM Sans"/>
              </a:rPr>
              <a:t>Nine overhang ball recordings clip at high speed, and 44 files carry up to 2.2 V of accelerometer offset. Both look like signal unless they are checked for.</a:t>
            </a:r>
            <a:endParaRPr sz="1250"/>
          </a:p>
        </p:txBody>
      </p:sp>
      <p:sp>
        <p:nvSpPr>
          <p:cNvPr id="16" name="Shape 14">
            <a:extLst>
              <a:ext uri="{FF2B5EF4-FFF2-40B4-BE49-F238E27FC236}">
                <a16:creationId xmlns:a16="http://schemas.microsoft.com/office/drawing/2014/main" id="{B6D8E887-C6F3-4098-890E-ABABA68B51FE}"/>
              </a:ext>
            </a:extLst>
          </p:cNvPr>
          <p:cNvSpPr>
            <a:spLocks noGrp="1"/>
          </p:cNvSpPr>
          <p:nvPr/>
        </p:nvSpPr>
        <p:spPr>
          <a:xfrm>
            <a:off x="812767" y="3645210"/>
            <a:ext cx="3437434" cy="2196786"/>
          </a:xfrm>
          <a:custGeom>
            <a:avLst/>
            <a:gdLst/>
            <a:ahLst/>
            <a:cxnLst/>
            <a:rect l="l" t="t" r="r" b="b"/>
            <a:pathLst>
              <a:path w="3437434" h="2196786">
                <a:moveTo>
                  <a:pt x="0" y="0"/>
                </a:moveTo>
                <a:lnTo>
                  <a:pt x="3437434" y="0"/>
                </a:lnTo>
                <a:lnTo>
                  <a:pt x="3437434"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17" name="Shape 15">
            <a:extLst>
              <a:ext uri="{FF2B5EF4-FFF2-40B4-BE49-F238E27FC236}">
                <a16:creationId xmlns:a16="http://schemas.microsoft.com/office/drawing/2014/main" id="{00B7DA2A-68DC-4098-97C8-817633F11524}"/>
              </a:ext>
            </a:extLst>
          </p:cNvPr>
          <p:cNvSpPr>
            <a:spLocks noGrp="1"/>
          </p:cNvSpPr>
          <p:nvPr/>
        </p:nvSpPr>
        <p:spPr>
          <a:xfrm>
            <a:off x="812767" y="3645210"/>
            <a:ext cx="3437434" cy="2196786"/>
          </a:xfrm>
          <a:custGeom>
            <a:avLst/>
            <a:gdLst/>
            <a:ahLst/>
            <a:cxnLst/>
            <a:rect l="l" t="t" r="r" b="b"/>
            <a:pathLst>
              <a:path w="3437434" h="2196786">
                <a:moveTo>
                  <a:pt x="0" y="38100"/>
                </a:moveTo>
                <a:lnTo>
                  <a:pt x="0" y="0"/>
                </a:lnTo>
                <a:lnTo>
                  <a:pt x="3437434" y="0"/>
                </a:lnTo>
                <a:lnTo>
                  <a:pt x="3437434" y="38100"/>
                </a:lnTo>
                <a:lnTo>
                  <a:pt x="0" y="38100"/>
                </a:lnTo>
                <a:close/>
              </a:path>
            </a:pathLst>
          </a:custGeom>
          <a:solidFill>
            <a:srgbClr val="EF4444"/>
          </a:solidFill>
        </p:spPr>
        <p:txBody>
          <a:bodyPr/>
          <a:lstStyle/>
          <a:p>
            <a:endParaRPr/>
          </a:p>
        </p:txBody>
      </p:sp>
      <p:sp>
        <p:nvSpPr>
          <p:cNvPr id="18" name="Text 16">
            <a:extLst>
              <a:ext uri="{FF2B5EF4-FFF2-40B4-BE49-F238E27FC236}">
                <a16:creationId xmlns:a16="http://schemas.microsoft.com/office/drawing/2014/main" id="{75D2717A-C00A-49B1-9417-93210DFBECD6}"/>
              </a:ext>
            </a:extLst>
          </p:cNvPr>
          <p:cNvSpPr>
            <a:spLocks noGrp="1"/>
          </p:cNvSpPr>
          <p:nvPr/>
        </p:nvSpPr>
        <p:spPr>
          <a:xfrm>
            <a:off x="1041301" y="3910781"/>
            <a:ext cx="3069777" cy="269230"/>
          </a:xfrm>
          <a:prstGeom prst="rect">
            <a:avLst/>
          </a:prstGeom>
          <a:noFill/>
        </p:spPr>
        <p:txBody>
          <a:bodyPr wrap="square" lIns="0" tIns="0" rIns="0" bIns="0" anchor="t">
            <a:normAutofit/>
          </a:bodyPr>
          <a:lstStyle/>
          <a:p>
            <a:pPr marL="0" indent="0" algn="l">
              <a:lnSpc>
                <a:spcPts val="1920"/>
              </a:lnSpc>
              <a:buNone/>
            </a:pPr>
            <a:r>
              <a:rPr sz="1600" b="1">
                <a:solidFill>
                  <a:srgbClr val="1E293B"/>
                </a:solidFill>
                <a:latin typeface="Poppins"/>
                <a:ea typeface="Poppins"/>
                <a:cs typeface="Poppins"/>
              </a:rPr>
              <a:t>Healthy data is scarce</a:t>
            </a:r>
            <a:endParaRPr sz="1600"/>
          </a:p>
        </p:txBody>
      </p:sp>
      <p:sp>
        <p:nvSpPr>
          <p:cNvPr id="19" name="Text 17">
            <a:extLst>
              <a:ext uri="{FF2B5EF4-FFF2-40B4-BE49-F238E27FC236}">
                <a16:creationId xmlns:a16="http://schemas.microsoft.com/office/drawing/2014/main" id="{61248064-6B88-4189-A714-64D205A7D97A}"/>
              </a:ext>
            </a:extLst>
          </p:cNvPr>
          <p:cNvSpPr>
            <a:spLocks noGrp="1"/>
          </p:cNvSpPr>
          <p:nvPr/>
        </p:nvSpPr>
        <p:spPr>
          <a:xfrm>
            <a:off x="1041301" y="4243499"/>
            <a:ext cx="3069777" cy="1176338"/>
          </a:xfrm>
          <a:prstGeom prst="rect">
            <a:avLst/>
          </a:prstGeom>
          <a:noFill/>
        </p:spPr>
        <p:txBody>
          <a:bodyPr wrap="square" lIns="0" tIns="0" rIns="0" bIns="0" anchor="t">
            <a:normAutofit/>
          </a:bodyPr>
          <a:lstStyle/>
          <a:p>
            <a:pPr marL="0" indent="0" algn="l">
              <a:lnSpc>
                <a:spcPts val="1813"/>
              </a:lnSpc>
              <a:buNone/>
            </a:pPr>
            <a:r>
              <a:rPr sz="1250">
                <a:solidFill>
                  <a:srgbClr val="64748B"/>
                </a:solidFill>
                <a:highlight>
                  <a:srgbClr val="FFFF00"/>
                </a:highlight>
                <a:latin typeface="DM Sans"/>
                <a:ea typeface="DM Sans"/>
                <a:cs typeface="DM Sans"/>
              </a:rPr>
              <a:t>49 normal recordings </a:t>
            </a:r>
            <a:r>
              <a:rPr sz="1250">
                <a:solidFill>
                  <a:srgbClr val="64748B"/>
                </a:solidFill>
                <a:latin typeface="DM Sans"/>
                <a:ea typeface="DM Sans"/>
                <a:cs typeface="DM Sans"/>
              </a:rPr>
              <a:t>from one session. Every false-alarm figure this project reports rests on a few dozen recordings, and no threshold choice can narrow that interval.</a:t>
            </a:r>
            <a:endParaRPr sz="1250"/>
          </a:p>
        </p:txBody>
      </p:sp>
      <p:sp>
        <p:nvSpPr>
          <p:cNvPr id="20" name="Shape 18">
            <a:extLst>
              <a:ext uri="{FF2B5EF4-FFF2-40B4-BE49-F238E27FC236}">
                <a16:creationId xmlns:a16="http://schemas.microsoft.com/office/drawing/2014/main" id="{A633C647-A354-4657-B4AF-10283F05C783}"/>
              </a:ext>
            </a:extLst>
          </p:cNvPr>
          <p:cNvSpPr>
            <a:spLocks noGrp="1"/>
          </p:cNvSpPr>
          <p:nvPr/>
        </p:nvSpPr>
        <p:spPr>
          <a:xfrm>
            <a:off x="4377200" y="3645210"/>
            <a:ext cx="3437516" cy="2196786"/>
          </a:xfrm>
          <a:custGeom>
            <a:avLst/>
            <a:gdLst/>
            <a:ahLst/>
            <a:cxnLst/>
            <a:rect l="l" t="t" r="r" b="b"/>
            <a:pathLst>
              <a:path w="3437516" h="2196786">
                <a:moveTo>
                  <a:pt x="0" y="0"/>
                </a:moveTo>
                <a:lnTo>
                  <a:pt x="3437516" y="0"/>
                </a:lnTo>
                <a:lnTo>
                  <a:pt x="3437516"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21" name="Shape 19">
            <a:extLst>
              <a:ext uri="{FF2B5EF4-FFF2-40B4-BE49-F238E27FC236}">
                <a16:creationId xmlns:a16="http://schemas.microsoft.com/office/drawing/2014/main" id="{5561B61F-8EF6-4DCF-83A9-7D920EDA5BBC}"/>
              </a:ext>
            </a:extLst>
          </p:cNvPr>
          <p:cNvSpPr>
            <a:spLocks noGrp="1"/>
          </p:cNvSpPr>
          <p:nvPr/>
        </p:nvSpPr>
        <p:spPr>
          <a:xfrm>
            <a:off x="4377200" y="3645210"/>
            <a:ext cx="3437516" cy="2196786"/>
          </a:xfrm>
          <a:custGeom>
            <a:avLst/>
            <a:gdLst/>
            <a:ahLst/>
            <a:cxnLst/>
            <a:rect l="l" t="t" r="r" b="b"/>
            <a:pathLst>
              <a:path w="3437516" h="2196786">
                <a:moveTo>
                  <a:pt x="0" y="38100"/>
                </a:moveTo>
                <a:lnTo>
                  <a:pt x="0" y="0"/>
                </a:lnTo>
                <a:lnTo>
                  <a:pt x="3437516" y="0"/>
                </a:lnTo>
                <a:lnTo>
                  <a:pt x="3437516" y="38100"/>
                </a:lnTo>
                <a:lnTo>
                  <a:pt x="0" y="38100"/>
                </a:lnTo>
                <a:close/>
              </a:path>
            </a:pathLst>
          </a:custGeom>
          <a:solidFill>
            <a:srgbClr val="F59E0B"/>
          </a:solidFill>
        </p:spPr>
        <p:txBody>
          <a:bodyPr/>
          <a:lstStyle/>
          <a:p>
            <a:endParaRPr/>
          </a:p>
        </p:txBody>
      </p:sp>
      <p:sp>
        <p:nvSpPr>
          <p:cNvPr id="22" name="Text 20">
            <a:extLst>
              <a:ext uri="{FF2B5EF4-FFF2-40B4-BE49-F238E27FC236}">
                <a16:creationId xmlns:a16="http://schemas.microsoft.com/office/drawing/2014/main" id="{62DD8DA9-7A75-4F26-8E14-51547133A51C}"/>
              </a:ext>
            </a:extLst>
          </p:cNvPr>
          <p:cNvSpPr>
            <a:spLocks noGrp="1"/>
          </p:cNvSpPr>
          <p:nvPr/>
        </p:nvSpPr>
        <p:spPr>
          <a:xfrm>
            <a:off x="4605734" y="3910781"/>
            <a:ext cx="3069862" cy="446501"/>
          </a:xfrm>
          <a:prstGeom prst="rect">
            <a:avLst/>
          </a:prstGeom>
          <a:noFill/>
        </p:spPr>
        <p:txBody>
          <a:bodyPr wrap="square" lIns="0" tIns="0" rIns="0" bIns="0" anchor="t">
            <a:normAutofit/>
          </a:bodyPr>
          <a:lstStyle/>
          <a:p>
            <a:pPr marL="0" indent="0" algn="l">
              <a:lnSpc>
                <a:spcPts val="1866"/>
              </a:lnSpc>
              <a:buNone/>
            </a:pPr>
            <a:r>
              <a:rPr sz="1555" b="1">
                <a:solidFill>
                  <a:srgbClr val="1E293B"/>
                </a:solidFill>
                <a:latin typeface="Poppins"/>
                <a:ea typeface="Poppins"/>
                <a:cs typeface="Poppins"/>
              </a:rPr>
              <a:t>Added mass is not defect size</a:t>
            </a:r>
            <a:endParaRPr sz="1555"/>
          </a:p>
        </p:txBody>
      </p:sp>
      <p:sp>
        <p:nvSpPr>
          <p:cNvPr id="23" name="Text 21">
            <a:extLst>
              <a:ext uri="{FF2B5EF4-FFF2-40B4-BE49-F238E27FC236}">
                <a16:creationId xmlns:a16="http://schemas.microsoft.com/office/drawing/2014/main" id="{80039681-2C34-4229-9C7D-B50CA9B21960}"/>
              </a:ext>
            </a:extLst>
          </p:cNvPr>
          <p:cNvSpPr>
            <a:spLocks noGrp="1"/>
          </p:cNvSpPr>
          <p:nvPr/>
        </p:nvSpPr>
        <p:spPr>
          <a:xfrm>
            <a:off x="4605734" y="4274104"/>
            <a:ext cx="3140540" cy="1440896"/>
          </a:xfrm>
          <a:prstGeom prst="rect">
            <a:avLst/>
          </a:prstGeom>
          <a:noFill/>
        </p:spPr>
        <p:txBody>
          <a:bodyPr wrap="square" lIns="0" tIns="0" rIns="0" bIns="0" anchor="t">
            <a:normAutofit/>
          </a:bodyPr>
          <a:lstStyle/>
          <a:p>
            <a:pPr marL="0" indent="0" algn="l">
              <a:lnSpc>
                <a:spcPts val="1569"/>
              </a:lnSpc>
              <a:buNone/>
            </a:pPr>
            <a:r>
              <a:rPr sz="1082">
                <a:solidFill>
                  <a:srgbClr val="64748B"/>
                </a:solidFill>
                <a:latin typeface="DM Sans"/>
                <a:ea typeface="DM Sans"/>
                <a:cs typeface="DM Sans"/>
              </a:rPr>
              <a:t>In a bearing folder, 20 g is imbalance mass sitting on top of a defect whose severity is fixed. Only in the imbalance folder does the gram figure mean severity, which is easy to misread as a severity axis across the whole dataset.</a:t>
            </a:r>
            <a:endParaRPr sz="1082"/>
          </a:p>
        </p:txBody>
      </p:sp>
      <p:sp>
        <p:nvSpPr>
          <p:cNvPr id="24" name="Text 51">
            <a:extLst>
              <a:ext uri="{FF2B5EF4-FFF2-40B4-BE49-F238E27FC236}">
                <a16:creationId xmlns:a16="http://schemas.microsoft.com/office/drawing/2014/main" id="{5DE39B1C-4EDF-C046-1407-600DC9712DDA}"/>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21</a:t>
            </a:r>
            <a:endParaRPr lang="en-US" sz="1200" dirty="0"/>
          </a:p>
        </p:txBody>
      </p:sp>
    </p:spTree>
    <p:extLst>
      <p:ext uri="{BB962C8B-B14F-4D97-AF65-F5344CB8AC3E}">
        <p14:creationId xmlns:p14="http://schemas.microsoft.com/office/powerpoint/2010/main" val="826728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90045F1-F519-435A-A62A-6E31A6BE5974}"/>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C62FCF1A-E234-4642-9B43-4BC6ACA7637F}"/>
              </a:ext>
            </a:extLst>
          </p:cNvPr>
          <p:cNvSpPr>
            <a:spLocks noGrp="1"/>
          </p:cNvSpPr>
          <p:nvPr/>
        </p:nvSpPr>
        <p:spPr>
          <a:xfrm>
            <a:off x="812767" y="812763"/>
            <a:ext cx="7325360" cy="374650"/>
          </a:xfrm>
          <a:prstGeom prst="rect">
            <a:avLst/>
          </a:prstGeom>
          <a:noFill/>
        </p:spPr>
        <p:txBody>
          <a:bodyPr wrap="square" lIns="0" tIns="0" rIns="0" bIns="0" anchor="t">
            <a:normAutofit/>
          </a:bodyPr>
          <a:lstStyle/>
          <a:p>
            <a:pPr marL="0" indent="0" algn="l">
              <a:lnSpc>
                <a:spcPts val="2750"/>
              </a:lnSpc>
              <a:buNone/>
            </a:pPr>
            <a:r>
              <a:rPr sz="2500" b="1">
                <a:solidFill>
                  <a:srgbClr val="1007DC"/>
                </a:solidFill>
                <a:latin typeface="Poppins"/>
                <a:ea typeface="Poppins"/>
                <a:cs typeface="Poppins"/>
              </a:rPr>
              <a:t>System architecture</a:t>
            </a:r>
            <a:endParaRPr sz="2500"/>
          </a:p>
        </p:txBody>
      </p:sp>
      <p:pic>
        <p:nvPicPr>
          <p:cNvPr id="84" name="Picture 80"/>
          <p:cNvPicPr>
            <a:picLocks noChangeAspect="1"/>
          </p:cNvPicPr>
          <p:nvPr/>
        </p:nvPicPr>
        <p:blipFill>
          <a:blip r:embed="rId3"/>
          <a:stretch>
            <a:fillRect/>
          </a:stretch>
        </p:blipFill>
        <p:spPr>
          <a:xfrm>
            <a:off x="1817482" y="1187413"/>
            <a:ext cx="8321472" cy="5504306"/>
          </a:xfrm>
          <a:prstGeom prst="rect">
            <a:avLst/>
          </a:prstGeom>
        </p:spPr>
      </p:pic>
      <p:cxnSp>
        <p:nvCxnSpPr>
          <p:cNvPr id="5" name="Straight Arrow Connector 4">
            <a:extLst>
              <a:ext uri="{FF2B5EF4-FFF2-40B4-BE49-F238E27FC236}">
                <a16:creationId xmlns:a16="http://schemas.microsoft.com/office/drawing/2014/main" id="{58C0AE09-FD6F-9268-B1F1-62308FADE1B8}"/>
              </a:ext>
            </a:extLst>
          </p:cNvPr>
          <p:cNvCxnSpPr>
            <a:cxnSpLocks/>
          </p:cNvCxnSpPr>
          <p:nvPr/>
        </p:nvCxnSpPr>
        <p:spPr>
          <a:xfrm flipH="1">
            <a:off x="7474226" y="1749287"/>
            <a:ext cx="2564296" cy="162339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67EE4A9-CFE4-65FE-92F7-E4A4A680F201}"/>
              </a:ext>
            </a:extLst>
          </p:cNvPr>
          <p:cNvCxnSpPr>
            <a:cxnSpLocks/>
          </p:cNvCxnSpPr>
          <p:nvPr/>
        </p:nvCxnSpPr>
        <p:spPr>
          <a:xfrm flipH="1">
            <a:off x="8786191" y="1749287"/>
            <a:ext cx="1252331" cy="162339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5D62551-DD54-C42D-2678-81487520FBA0}"/>
              </a:ext>
            </a:extLst>
          </p:cNvPr>
          <p:cNvCxnSpPr>
            <a:cxnSpLocks/>
          </p:cNvCxnSpPr>
          <p:nvPr/>
        </p:nvCxnSpPr>
        <p:spPr>
          <a:xfrm flipH="1">
            <a:off x="7056783" y="1749287"/>
            <a:ext cx="2981739" cy="2385391"/>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 name="Shape 14">
            <a:extLst>
              <a:ext uri="{FF2B5EF4-FFF2-40B4-BE49-F238E27FC236}">
                <a16:creationId xmlns:a16="http://schemas.microsoft.com/office/drawing/2014/main" id="{F6B5172B-E882-340B-6819-BD6C7A3532C5}"/>
              </a:ext>
            </a:extLst>
          </p:cNvPr>
          <p:cNvSpPr>
            <a:spLocks noGrp="1"/>
          </p:cNvSpPr>
          <p:nvPr/>
        </p:nvSpPr>
        <p:spPr>
          <a:xfrm>
            <a:off x="9930262" y="1288536"/>
            <a:ext cx="2000828" cy="1125573"/>
          </a:xfrm>
          <a:custGeom>
            <a:avLst/>
            <a:gdLst/>
            <a:ahLst/>
            <a:cxnLst/>
            <a:rect l="l" t="t" r="r" b="b"/>
            <a:pathLst>
              <a:path w="3437434" h="2196786">
                <a:moveTo>
                  <a:pt x="0" y="0"/>
                </a:moveTo>
                <a:lnTo>
                  <a:pt x="3437434" y="0"/>
                </a:lnTo>
                <a:lnTo>
                  <a:pt x="3437434" y="2095186"/>
                </a:lnTo>
                <a:arcTo wR="101600" hR="101600" stAng="0" swAng="5400000"/>
                <a:lnTo>
                  <a:pt x="101600" y="2196786"/>
                </a:lnTo>
                <a:arcTo wR="101600" hR="101600" stAng="5400000" swAng="5400000"/>
                <a:lnTo>
                  <a:pt x="0" y="0"/>
                </a:lnTo>
                <a:close/>
              </a:path>
            </a:pathLst>
          </a:custGeom>
          <a:solidFill>
            <a:srgbClr val="FFFFFF"/>
          </a:solidFill>
        </p:spPr>
        <p:txBody>
          <a:bodyPr/>
          <a:lstStyle/>
          <a:p>
            <a:endParaRPr/>
          </a:p>
        </p:txBody>
      </p:sp>
      <p:sp>
        <p:nvSpPr>
          <p:cNvPr id="17" name="Shape 15">
            <a:extLst>
              <a:ext uri="{FF2B5EF4-FFF2-40B4-BE49-F238E27FC236}">
                <a16:creationId xmlns:a16="http://schemas.microsoft.com/office/drawing/2014/main" id="{D5B28644-82D3-F1A3-2CF9-46C32B61DC5C}"/>
              </a:ext>
            </a:extLst>
          </p:cNvPr>
          <p:cNvSpPr>
            <a:spLocks noGrp="1"/>
          </p:cNvSpPr>
          <p:nvPr/>
        </p:nvSpPr>
        <p:spPr>
          <a:xfrm>
            <a:off x="9930262" y="1288537"/>
            <a:ext cx="2000828" cy="2196786"/>
          </a:xfrm>
          <a:custGeom>
            <a:avLst/>
            <a:gdLst/>
            <a:ahLst/>
            <a:cxnLst/>
            <a:rect l="l" t="t" r="r" b="b"/>
            <a:pathLst>
              <a:path w="3437434" h="2196786">
                <a:moveTo>
                  <a:pt x="0" y="38100"/>
                </a:moveTo>
                <a:lnTo>
                  <a:pt x="0" y="0"/>
                </a:lnTo>
                <a:lnTo>
                  <a:pt x="3437434" y="0"/>
                </a:lnTo>
                <a:lnTo>
                  <a:pt x="3437434" y="38100"/>
                </a:lnTo>
                <a:lnTo>
                  <a:pt x="0" y="38100"/>
                </a:lnTo>
                <a:close/>
              </a:path>
            </a:pathLst>
          </a:custGeom>
          <a:solidFill>
            <a:srgbClr val="EF4444"/>
          </a:solidFill>
        </p:spPr>
        <p:txBody>
          <a:bodyPr/>
          <a:lstStyle/>
          <a:p>
            <a:endParaRPr/>
          </a:p>
        </p:txBody>
      </p:sp>
      <p:sp>
        <p:nvSpPr>
          <p:cNvPr id="19" name="Text 17">
            <a:extLst>
              <a:ext uri="{FF2B5EF4-FFF2-40B4-BE49-F238E27FC236}">
                <a16:creationId xmlns:a16="http://schemas.microsoft.com/office/drawing/2014/main" id="{50214982-1C69-D9B5-C2E9-C6D889D287D0}"/>
              </a:ext>
            </a:extLst>
          </p:cNvPr>
          <p:cNvSpPr>
            <a:spLocks noGrp="1"/>
          </p:cNvSpPr>
          <p:nvPr/>
        </p:nvSpPr>
        <p:spPr>
          <a:xfrm>
            <a:off x="10059406" y="1381751"/>
            <a:ext cx="1871684" cy="1176338"/>
          </a:xfrm>
          <a:prstGeom prst="rect">
            <a:avLst/>
          </a:prstGeom>
          <a:noFill/>
        </p:spPr>
        <p:txBody>
          <a:bodyPr wrap="square" lIns="0" tIns="0" rIns="0" bIns="0" anchor="t">
            <a:normAutofit/>
          </a:bodyPr>
          <a:lstStyle/>
          <a:p>
            <a:pPr marL="0" indent="0" algn="l">
              <a:lnSpc>
                <a:spcPts val="1813"/>
              </a:lnSpc>
              <a:buNone/>
            </a:pPr>
            <a:r>
              <a:rPr lang="en-US" sz="1250">
                <a:solidFill>
                  <a:srgbClr val="64748B"/>
                </a:solidFill>
                <a:latin typeface="DM Sans"/>
                <a:ea typeface="DM Sans"/>
                <a:cs typeface="DM Sans"/>
              </a:rPr>
              <a:t>Experimentations to improve the eval metrics and design an appropriate system</a:t>
            </a:r>
            <a:endParaRPr sz="1250"/>
          </a:p>
        </p:txBody>
      </p:sp>
      <p:sp>
        <p:nvSpPr>
          <p:cNvPr id="4" name="Text 51">
            <a:extLst>
              <a:ext uri="{FF2B5EF4-FFF2-40B4-BE49-F238E27FC236}">
                <a16:creationId xmlns:a16="http://schemas.microsoft.com/office/drawing/2014/main" id="{9AA5003A-6EE1-584B-D6C8-A9FE19C7D397}"/>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22</a:t>
            </a:r>
            <a:endParaRPr lang="en-US" sz="1200" dirty="0"/>
          </a:p>
        </p:txBody>
      </p:sp>
    </p:spTree>
    <p:extLst>
      <p:ext uri="{BB962C8B-B14F-4D97-AF65-F5344CB8AC3E}">
        <p14:creationId xmlns:p14="http://schemas.microsoft.com/office/powerpoint/2010/main" val="918331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8481A40-5009-4509-8AAD-78E27C9DEC04}"/>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F85C7860-52BE-4744-95BF-0210E7725CF8}"/>
              </a:ext>
            </a:extLst>
          </p:cNvPr>
          <p:cNvSpPr>
            <a:spLocks noGrp="1"/>
          </p:cNvSpPr>
          <p:nvPr/>
        </p:nvSpPr>
        <p:spPr>
          <a:xfrm>
            <a:off x="812767" y="812763"/>
            <a:ext cx="7325360" cy="374650"/>
          </a:xfrm>
          <a:prstGeom prst="rect">
            <a:avLst/>
          </a:prstGeom>
          <a:noFill/>
        </p:spPr>
        <p:txBody>
          <a:bodyPr wrap="square" lIns="0" tIns="0" rIns="0" bIns="0" anchor="t">
            <a:normAutofit/>
          </a:bodyPr>
          <a:lstStyle/>
          <a:p>
            <a:pPr marL="0" indent="0" algn="l">
              <a:lnSpc>
                <a:spcPts val="2750"/>
              </a:lnSpc>
              <a:buNone/>
            </a:pPr>
            <a:r>
              <a:rPr sz="2500" b="1">
                <a:solidFill>
                  <a:srgbClr val="1007DC"/>
                </a:solidFill>
                <a:latin typeface="Poppins"/>
                <a:ea typeface="Poppins"/>
                <a:cs typeface="Poppins"/>
              </a:rPr>
              <a:t>Explanation architecture</a:t>
            </a:r>
            <a:endParaRPr sz="2500"/>
          </a:p>
        </p:txBody>
      </p:sp>
      <p:pic>
        <p:nvPicPr>
          <p:cNvPr id="62" name="Picture 58"/>
          <p:cNvPicPr>
            <a:picLocks noChangeAspect="1"/>
          </p:cNvPicPr>
          <p:nvPr/>
        </p:nvPicPr>
        <p:blipFill>
          <a:blip r:embed="rId3"/>
          <a:stretch>
            <a:fillRect/>
          </a:stretch>
        </p:blipFill>
        <p:spPr>
          <a:xfrm>
            <a:off x="1690515" y="1129763"/>
            <a:ext cx="8700988" cy="5528752"/>
          </a:xfrm>
          <a:prstGeom prst="rect">
            <a:avLst/>
          </a:prstGeom>
        </p:spPr>
      </p:pic>
      <p:sp>
        <p:nvSpPr>
          <p:cNvPr id="4" name="Text 51">
            <a:extLst>
              <a:ext uri="{FF2B5EF4-FFF2-40B4-BE49-F238E27FC236}">
                <a16:creationId xmlns:a16="http://schemas.microsoft.com/office/drawing/2014/main" id="{704C1380-3AA4-289D-C9BB-3C22392255A8}"/>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23</a:t>
            </a:r>
            <a:endParaRPr lang="en-US" sz="1200" dirty="0"/>
          </a:p>
        </p:txBody>
      </p:sp>
    </p:spTree>
    <p:extLst>
      <p:ext uri="{BB962C8B-B14F-4D97-AF65-F5344CB8AC3E}">
        <p14:creationId xmlns:p14="http://schemas.microsoft.com/office/powerpoint/2010/main" val="1586108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407357-46F6-44B3-B57D-43777B183054}"/>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FE2224A3-4733-4862-BDF0-DCC85D667A69}"/>
              </a:ext>
            </a:extLst>
          </p:cNvPr>
          <p:cNvSpPr>
            <a:spLocks noGrp="1"/>
          </p:cNvSpPr>
          <p:nvPr/>
        </p:nvSpPr>
        <p:spPr>
          <a:xfrm>
            <a:off x="812767" y="812763"/>
            <a:ext cx="7325360" cy="374650"/>
          </a:xfrm>
          <a:prstGeom prst="rect">
            <a:avLst/>
          </a:prstGeom>
          <a:noFill/>
        </p:spPr>
        <p:txBody>
          <a:bodyPr wrap="square" lIns="0" tIns="0" rIns="0" bIns="0" anchor="t">
            <a:normAutofit/>
          </a:bodyPr>
          <a:lstStyle/>
          <a:p>
            <a:pPr marL="0" indent="0" algn="l">
              <a:lnSpc>
                <a:spcPts val="2750"/>
              </a:lnSpc>
              <a:buNone/>
            </a:pPr>
            <a:r>
              <a:rPr sz="2500" b="1">
                <a:solidFill>
                  <a:srgbClr val="1007DC"/>
                </a:solidFill>
                <a:latin typeface="Poppins"/>
                <a:ea typeface="Poppins"/>
                <a:cs typeface="Poppins"/>
              </a:rPr>
              <a:t>Investigation assistant </a:t>
            </a:r>
            <a:r>
              <a:rPr lang="en-US" sz="2500" b="1">
                <a:solidFill>
                  <a:srgbClr val="1007DC"/>
                </a:solidFill>
                <a:latin typeface="Poppins"/>
                <a:ea typeface="Poppins"/>
                <a:cs typeface="Poppins"/>
              </a:rPr>
              <a:t>agent </a:t>
            </a:r>
            <a:r>
              <a:rPr sz="2500" b="1">
                <a:solidFill>
                  <a:srgbClr val="1007DC"/>
                </a:solidFill>
                <a:latin typeface="Poppins"/>
                <a:ea typeface="Poppins"/>
                <a:cs typeface="Poppins"/>
              </a:rPr>
              <a:t>architecture</a:t>
            </a:r>
            <a:endParaRPr sz="2500"/>
          </a:p>
        </p:txBody>
      </p:sp>
      <p:pic>
        <p:nvPicPr>
          <p:cNvPr id="7" name="Picture 52"/>
          <p:cNvPicPr>
            <a:picLocks noChangeAspect="1"/>
          </p:cNvPicPr>
          <p:nvPr/>
        </p:nvPicPr>
        <p:blipFill>
          <a:blip r:embed="rId3"/>
          <a:stretch>
            <a:fillRect/>
          </a:stretch>
        </p:blipFill>
        <p:spPr>
          <a:xfrm>
            <a:off x="1449794" y="1260566"/>
            <a:ext cx="9060759" cy="5191059"/>
          </a:xfrm>
          <a:prstGeom prst="rect">
            <a:avLst/>
          </a:prstGeom>
        </p:spPr>
      </p:pic>
      <p:sp>
        <p:nvSpPr>
          <p:cNvPr id="4" name="Text 51">
            <a:extLst>
              <a:ext uri="{FF2B5EF4-FFF2-40B4-BE49-F238E27FC236}">
                <a16:creationId xmlns:a16="http://schemas.microsoft.com/office/drawing/2014/main" id="{9719EE11-1B97-9466-4994-496B23EAE6D1}"/>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24</a:t>
            </a:r>
            <a:endParaRPr lang="en-US" sz="1200" dirty="0"/>
          </a:p>
        </p:txBody>
      </p:sp>
    </p:spTree>
    <p:extLst>
      <p:ext uri="{BB962C8B-B14F-4D97-AF65-F5344CB8AC3E}">
        <p14:creationId xmlns:p14="http://schemas.microsoft.com/office/powerpoint/2010/main" val="549800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45" name="Shape 3">
            <a:extLst>
              <a:ext uri="{FF2B5EF4-FFF2-40B4-BE49-F238E27FC236}">
                <a16:creationId xmlns:a16="http://schemas.microsoft.com/office/drawing/2014/main" id="{5FCEF921-DCB5-A782-86EF-AE5771D3E894}"/>
              </a:ext>
            </a:extLst>
          </p:cNvPr>
          <p:cNvSpPr>
            <a:spLocks noGrp="1"/>
          </p:cNvSpPr>
          <p:nvPr/>
        </p:nvSpPr>
        <p:spPr>
          <a:xfrm>
            <a:off x="784390" y="1486706"/>
            <a:ext cx="10649711" cy="4755883"/>
          </a:xfrm>
          <a:prstGeom prst="roundRect">
            <a:avLst>
              <a:gd name="adj" fmla="val 4429"/>
            </a:avLst>
          </a:prstGeom>
          <a:solidFill>
            <a:srgbClr val="FFFFFF"/>
          </a:solidFill>
          <a:ln w="6350">
            <a:solidFill>
              <a:srgbClr val="E2E8F0"/>
            </a:solidFill>
            <a:prstDash val="solid"/>
          </a:ln>
        </p:spPr>
        <p:txBody>
          <a:bodyPr/>
          <a:lstStyle/>
          <a:p>
            <a:endParaRPr/>
          </a:p>
        </p:txBody>
      </p:sp>
      <p:sp>
        <p:nvSpPr>
          <p:cNvPr id="2" name="Text 0">
            <a:extLst>
              <a:ext uri="{FF2B5EF4-FFF2-40B4-BE49-F238E27FC236}">
                <a16:creationId xmlns:a16="http://schemas.microsoft.com/office/drawing/2014/main" id="{A1C700E0-0331-7AB0-D786-81087AFB5A90}"/>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EC8EE416-A6DB-4899-CF2C-2ED41BD3E673}"/>
              </a:ext>
            </a:extLst>
          </p:cNvPr>
          <p:cNvSpPr>
            <a:spLocks noGrp="1"/>
          </p:cNvSpPr>
          <p:nvPr/>
        </p:nvSpPr>
        <p:spPr>
          <a:xfrm>
            <a:off x="812767" y="812763"/>
            <a:ext cx="4815273" cy="388623"/>
          </a:xfrm>
          <a:prstGeom prst="rect">
            <a:avLst/>
          </a:prstGeom>
          <a:noFill/>
        </p:spPr>
        <p:txBody>
          <a:bodyPr wrap="square" lIns="0" tIns="0" rIns="0" bIns="0" anchor="t">
            <a:normAutofit/>
          </a:bodyPr>
          <a:lstStyle/>
          <a:p>
            <a:pPr marL="0" indent="0" algn="l">
              <a:lnSpc>
                <a:spcPts val="2860"/>
              </a:lnSpc>
              <a:buNone/>
            </a:pPr>
            <a:r>
              <a:rPr sz="2600" b="1">
                <a:solidFill>
                  <a:srgbClr val="1007DC"/>
                </a:solidFill>
                <a:latin typeface="Poppins"/>
                <a:ea typeface="Poppins"/>
                <a:cs typeface="Poppins"/>
              </a:rPr>
              <a:t>Final evaluation results</a:t>
            </a:r>
            <a:endParaRPr sz="2600"/>
          </a:p>
        </p:txBody>
      </p:sp>
      <p:sp>
        <p:nvSpPr>
          <p:cNvPr id="4" name="Text 2">
            <a:extLst>
              <a:ext uri="{FF2B5EF4-FFF2-40B4-BE49-F238E27FC236}">
                <a16:creationId xmlns:a16="http://schemas.microsoft.com/office/drawing/2014/main" id="{0E4858A8-FBE7-4E72-2DE9-ED8C8C4E84C9}"/>
              </a:ext>
            </a:extLst>
          </p:cNvPr>
          <p:cNvSpPr>
            <a:spLocks noGrp="1"/>
          </p:cNvSpPr>
          <p:nvPr/>
        </p:nvSpPr>
        <p:spPr>
          <a:xfrm>
            <a:off x="5605365" y="714685"/>
            <a:ext cx="5929138" cy="772021"/>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Reserved evaluation completed once. Rates below identify their test population.</a:t>
            </a:r>
            <a:endParaRPr sz="1400"/>
          </a:p>
        </p:txBody>
      </p:sp>
      <p:sp>
        <p:nvSpPr>
          <p:cNvPr id="46" name="Shape 4">
            <a:extLst>
              <a:ext uri="{FF2B5EF4-FFF2-40B4-BE49-F238E27FC236}">
                <a16:creationId xmlns:a16="http://schemas.microsoft.com/office/drawing/2014/main" id="{C09CFAF8-C550-C8FD-901D-72FC77078F3E}"/>
              </a:ext>
            </a:extLst>
          </p:cNvPr>
          <p:cNvSpPr>
            <a:spLocks noGrp="1"/>
          </p:cNvSpPr>
          <p:nvPr/>
        </p:nvSpPr>
        <p:spPr>
          <a:xfrm>
            <a:off x="780291" y="1486707"/>
            <a:ext cx="10649711" cy="311700"/>
          </a:xfrm>
          <a:custGeom>
            <a:avLst/>
            <a:gdLst/>
            <a:ahLst/>
            <a:cxnLst/>
            <a:rect l="l" t="t" r="r" b="b"/>
            <a:pathLst>
              <a:path w="10555883" h="288065">
                <a:moveTo>
                  <a:pt x="0" y="96308"/>
                </a:moveTo>
                <a:arcTo wR="96308" hR="96308" stAng="10800000" swAng="5400000"/>
                <a:lnTo>
                  <a:pt x="10459574" y="0"/>
                </a:lnTo>
                <a:arcTo wR="96308" hR="96308" stAng="16200000" swAng="5400000"/>
                <a:lnTo>
                  <a:pt x="10555883" y="288065"/>
                </a:lnTo>
                <a:lnTo>
                  <a:pt x="0" y="288065"/>
                </a:lnTo>
                <a:close/>
              </a:path>
            </a:pathLst>
          </a:custGeom>
          <a:solidFill>
            <a:srgbClr val="1007DC"/>
          </a:solidFill>
        </p:spPr>
        <p:txBody>
          <a:bodyPr/>
          <a:lstStyle/>
          <a:p>
            <a:endParaRPr/>
          </a:p>
        </p:txBody>
      </p:sp>
      <p:graphicFrame>
        <p:nvGraphicFramePr>
          <p:cNvPr id="53" name="Table 43"/>
          <p:cNvGraphicFramePr/>
          <p:nvPr>
            <p:extLst>
              <p:ext uri="{D42A27DB-BD31-4B8C-83A1-F6EECF244321}">
                <p14:modId xmlns:p14="http://schemas.microsoft.com/office/powerpoint/2010/main" val="2940064693"/>
              </p:ext>
            </p:extLst>
          </p:nvPr>
        </p:nvGraphicFramePr>
        <p:xfrm>
          <a:off x="771145" y="1486706"/>
          <a:ext cx="10649710" cy="4148096"/>
        </p:xfrm>
        <a:graphic>
          <a:graphicData uri="http://schemas.openxmlformats.org/drawingml/2006/table">
            <a:tbl>
              <a:tblPr>
                <a:tableStyleId>{5940675A-B579-460E-94D1-54222C63F5DA}</a:tableStyleId>
              </a:tblPr>
              <a:tblGrid>
                <a:gridCol w="3559107">
                  <a:extLst>
                    <a:ext uri="{9D8B030D-6E8A-4147-A177-3AD203B41FA5}">
                      <a16:colId xmlns:a16="http://schemas.microsoft.com/office/drawing/2014/main" val="20000"/>
                    </a:ext>
                  </a:extLst>
                </a:gridCol>
                <a:gridCol w="3559107">
                  <a:extLst>
                    <a:ext uri="{9D8B030D-6E8A-4147-A177-3AD203B41FA5}">
                      <a16:colId xmlns:a16="http://schemas.microsoft.com/office/drawing/2014/main" val="20001"/>
                    </a:ext>
                  </a:extLst>
                </a:gridCol>
                <a:gridCol w="3531496">
                  <a:extLst>
                    <a:ext uri="{9D8B030D-6E8A-4147-A177-3AD203B41FA5}">
                      <a16:colId xmlns:a16="http://schemas.microsoft.com/office/drawing/2014/main" val="20002"/>
                    </a:ext>
                  </a:extLst>
                </a:gridCol>
              </a:tblGrid>
              <a:tr h="263678">
                <a:tc>
                  <a:txBody>
                    <a:bodyPr/>
                    <a:lstStyle/>
                    <a:p>
                      <a:pPr>
                        <a:buNone/>
                      </a:pPr>
                      <a:r>
                        <a:rPr sz="1500">
                          <a:solidFill>
                            <a:schemeClr val="bg1"/>
                          </a:solidFill>
                          <a:latin typeface="DM Sans" pitchFamily="2" charset="77"/>
                        </a:rPr>
                        <a:t>Question</a:t>
                      </a:r>
                    </a:p>
                  </a:txBody>
                  <a:tcPr marL="73751" marR="73751" marT="36876" marB="36876" anchor="ctr">
                    <a:lnL w="12700" cmpd="sng">
                      <a:noFill/>
                    </a:lnL>
                    <a:lnR w="12700" cmpd="sng">
                      <a:noFill/>
                    </a:lnR>
                    <a:lnT w="12700" cmpd="sng">
                      <a:noFill/>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500">
                          <a:solidFill>
                            <a:schemeClr val="bg1"/>
                          </a:solidFill>
                          <a:latin typeface="DM Sans" pitchFamily="2" charset="77"/>
                        </a:rPr>
                        <a:t>Evaluation metric</a:t>
                      </a:r>
                      <a:endParaRPr sz="1500">
                        <a:solidFill>
                          <a:schemeClr val="bg1"/>
                        </a:solidFill>
                        <a:latin typeface="DM Sans" pitchFamily="2" charset="77"/>
                      </a:endParaRPr>
                    </a:p>
                  </a:txBody>
                  <a:tcPr marL="73751" marR="73751" marT="36876" marB="36876" anchor="ctr">
                    <a:lnL w="12700" cmpd="sng">
                      <a:noFill/>
                    </a:lnL>
                    <a:lnR w="12700" cmpd="sng">
                      <a:noFill/>
                    </a:lnR>
                    <a:lnT w="12700" cmpd="sng">
                      <a:noFill/>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US" sz="1500">
                          <a:solidFill>
                            <a:schemeClr val="bg1"/>
                          </a:solidFill>
                          <a:latin typeface="DM Sans" pitchFamily="2" charset="77"/>
                        </a:rPr>
                        <a:t>Results</a:t>
                      </a:r>
                      <a:endParaRPr sz="1500">
                        <a:solidFill>
                          <a:schemeClr val="bg1"/>
                        </a:solidFill>
                        <a:latin typeface="DM Sans" pitchFamily="2" charset="77"/>
                      </a:endParaRPr>
                    </a:p>
                  </a:txBody>
                  <a:tcPr marL="73751" marR="73751" marT="36876" marB="36876" anchor="ctr">
                    <a:lnL w="12700" cmpd="sng">
                      <a:noFill/>
                    </a:lnL>
                    <a:lnR w="12700" cmpd="sng">
                      <a:noFill/>
                    </a:lnR>
                    <a:lnT w="12700" cmpd="sng">
                      <a:noFill/>
                    </a:lnT>
                    <a:lnB w="12700" cmpd="sng">
                      <a:solidFill>
                        <a:schemeClr val="tx1"/>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061116">
                <a:tc>
                  <a:txBody>
                    <a:bodyPr/>
                    <a:lstStyle/>
                    <a:p>
                      <a:pPr>
                        <a:buNone/>
                      </a:pPr>
                      <a:r>
                        <a:rPr sz="1500">
                          <a:latin typeface="DM Sans" pitchFamily="2" charset="77"/>
                        </a:rPr>
                        <a:t>Q1 · healthy or faulty</a:t>
                      </a: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Fault detection rate (recall)</a:t>
                      </a:r>
                      <a:br>
                        <a:rPr lang="en-SG" sz="1600">
                          <a:latin typeface="DM Sans" pitchFamily="2" charset="77"/>
                        </a:rPr>
                      </a:br>
                      <a:br>
                        <a:rPr lang="en-SG" sz="1600">
                          <a:latin typeface="DM Sans" pitchFamily="2" charset="77"/>
                        </a:rPr>
                      </a:br>
                      <a:r>
                        <a:rPr lang="en-SG" sz="1600">
                          <a:latin typeface="DM Sans" pitchFamily="2" charset="77"/>
                        </a:rPr>
                        <a:t>Healthy false-alarm rate</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Fault recall: </a:t>
                      </a:r>
                      <a:r>
                        <a:rPr lang="en-SG" sz="1600" b="1">
                          <a:latin typeface="DM Sans" pitchFamily="2" charset="77"/>
                        </a:rPr>
                        <a:t>283/283 (100%)</a:t>
                      </a:r>
                      <a:r>
                        <a:rPr lang="en-SG" sz="1600">
                          <a:latin typeface="DM Sans" pitchFamily="2" charset="77"/>
                        </a:rPr>
                        <a:t>; </a:t>
                      </a:r>
                    </a:p>
                    <a:p>
                      <a:pPr>
                        <a:buNone/>
                      </a:pPr>
                      <a:r>
                        <a:rPr lang="en-SG" sz="1600">
                          <a:latin typeface="DM Sans" pitchFamily="2" charset="77"/>
                        </a:rPr>
                        <a:t>healthy false-alarm rate: </a:t>
                      </a:r>
                      <a:r>
                        <a:rPr lang="en-SG" sz="1600" b="1">
                          <a:latin typeface="DM Sans" pitchFamily="2" charset="77"/>
                        </a:rPr>
                        <a:t>5/7 (71.4%)</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061116">
                <a:tc>
                  <a:txBody>
                    <a:bodyPr/>
                    <a:lstStyle/>
                    <a:p>
                      <a:pPr>
                        <a:buNone/>
                      </a:pPr>
                      <a:r>
                        <a:rPr sz="1500">
                          <a:latin typeface="DM Sans" pitchFamily="2" charset="77"/>
                        </a:rPr>
                        <a:t>Q2 · familiar condition</a:t>
                      </a: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Macro-F1, closed test</a:t>
                      </a:r>
                    </a:p>
                    <a:p>
                      <a:pPr>
                        <a:buNone/>
                      </a:pPr>
                      <a:r>
                        <a:rPr lang="en-SG" sz="1600">
                          <a:latin typeface="DM Sans" pitchFamily="2" charset="77"/>
                        </a:rPr>
                        <a:t>Macro-F1, held-out severity</a:t>
                      </a:r>
                    </a:p>
                    <a:p>
                      <a:pPr>
                        <a:buNone/>
                      </a:pPr>
                      <a:r>
                        <a:rPr lang="en-SG" sz="1600">
                          <a:latin typeface="DM Sans" pitchFamily="2" charset="77"/>
                        </a:rPr>
                        <a:t>Confusion matrix</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Closed-test macro-F1: </a:t>
                      </a:r>
                      <a:r>
                        <a:rPr lang="en-SG" sz="1600" b="1">
                          <a:latin typeface="DM Sans" pitchFamily="2" charset="77"/>
                        </a:rPr>
                        <a:t>0.916</a:t>
                      </a:r>
                      <a:r>
                        <a:rPr lang="en-SG" sz="1600">
                          <a:latin typeface="DM Sans" pitchFamily="2" charset="77"/>
                        </a:rPr>
                        <a:t>; </a:t>
                      </a:r>
                    </a:p>
                    <a:p>
                      <a:pPr>
                        <a:buNone/>
                      </a:pPr>
                      <a:r>
                        <a:rPr lang="en-SG" sz="1600">
                          <a:latin typeface="DM Sans" pitchFamily="2" charset="77"/>
                        </a:rPr>
                        <a:t>held-out-severity macro-F1: </a:t>
                      </a:r>
                      <a:r>
                        <a:rPr lang="en-SG" sz="1600" b="1">
                          <a:latin typeface="DM Sans" pitchFamily="2" charset="77"/>
                        </a:rPr>
                        <a:t>0.747</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60475">
                <a:tc>
                  <a:txBody>
                    <a:bodyPr/>
                    <a:lstStyle/>
                    <a:p>
                      <a:pPr>
                        <a:buNone/>
                      </a:pPr>
                      <a:r>
                        <a:rPr sz="1500">
                          <a:latin typeface="DM Sans" pitchFamily="2" charset="77"/>
                        </a:rPr>
                        <a:t>Q3 · unfamiliar condition</a:t>
                      </a: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Unknown recall</a:t>
                      </a:r>
                    </a:p>
                    <a:p>
                      <a:pPr>
                        <a:buNone/>
                      </a:pPr>
                      <a:r>
                        <a:rPr lang="en-SG" sz="1600">
                          <a:latin typeface="DM Sans" pitchFamily="2" charset="77"/>
                        </a:rPr>
                        <a:t>Known-side rejection rate</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buNone/>
                      </a:pPr>
                      <a:r>
                        <a:rPr lang="en-SG" sz="1600">
                          <a:latin typeface="DM Sans" pitchFamily="2" charset="77"/>
                        </a:rPr>
                        <a:t>Unknown recall: </a:t>
                      </a:r>
                      <a:r>
                        <a:rPr lang="en-SG" sz="1600" b="1">
                          <a:latin typeface="DM Sans" pitchFamily="2" charset="77"/>
                        </a:rPr>
                        <a:t>925/1,123 (82.4%)</a:t>
                      </a:r>
                      <a:r>
                        <a:rPr lang="en-SG" sz="1600">
                          <a:latin typeface="DM Sans" pitchFamily="2" charset="77"/>
                        </a:rPr>
                        <a:t>; known-side rejection: </a:t>
                      </a:r>
                      <a:r>
                        <a:rPr lang="en-SG" sz="1600" b="1">
                          <a:latin typeface="DM Sans" pitchFamily="2" charset="77"/>
                        </a:rPr>
                        <a:t>765/2,327 (32.9%)</a:t>
                      </a: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63037">
                <a:tc>
                  <a:txBody>
                    <a:bodyPr/>
                    <a:lstStyle/>
                    <a:p>
                      <a:pPr>
                        <a:buNone/>
                      </a:pP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noFill/>
                    </a:lnB>
                    <a:lnTlToBr w="12700" cmpd="sng">
                      <a:noFill/>
                      <a:prstDash val="solid"/>
                    </a:lnTlToBr>
                    <a:lnBlToTr w="12700" cmpd="sng">
                      <a:noFill/>
                      <a:prstDash val="solid"/>
                    </a:lnBlToTr>
                  </a:tcPr>
                </a:tc>
                <a:tc>
                  <a:txBody>
                    <a:bodyPr/>
                    <a:lstStyle/>
                    <a:p>
                      <a:pPr>
                        <a:buNone/>
                      </a:pP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noFill/>
                    </a:lnB>
                    <a:lnTlToBr w="12700" cmpd="sng">
                      <a:noFill/>
                      <a:prstDash val="solid"/>
                    </a:lnTlToBr>
                    <a:lnBlToTr w="12700" cmpd="sng">
                      <a:noFill/>
                      <a:prstDash val="solid"/>
                    </a:lnBlToTr>
                  </a:tcPr>
                </a:tc>
                <a:tc>
                  <a:txBody>
                    <a:bodyPr/>
                    <a:lstStyle/>
                    <a:p>
                      <a:pPr>
                        <a:buNone/>
                      </a:pPr>
                      <a:endParaRPr sz="1500">
                        <a:latin typeface="DM Sans" pitchFamily="2" charset="77"/>
                      </a:endParaRPr>
                    </a:p>
                  </a:txBody>
                  <a:tcPr marL="73751" marR="73751" marT="36876" marB="36876" anchor="ctr">
                    <a:lnL w="12700" cmpd="sng">
                      <a:noFill/>
                    </a:lnL>
                    <a:lnR w="12700" cmpd="sng">
                      <a:noFill/>
                    </a:lnR>
                    <a:lnT w="12700" cmpd="sng">
                      <a:solidFill>
                        <a:schemeClr val="tx1"/>
                      </a:solidFill>
                      <a:prstDash val="soli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5" name="Text 51">
            <a:extLst>
              <a:ext uri="{FF2B5EF4-FFF2-40B4-BE49-F238E27FC236}">
                <a16:creationId xmlns:a16="http://schemas.microsoft.com/office/drawing/2014/main" id="{979D354A-1C9E-8F79-726B-2C1003EA9510}"/>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25</a:t>
            </a:r>
            <a:endParaRPr lang="en-US" sz="1200" dirty="0"/>
          </a:p>
        </p:txBody>
      </p:sp>
    </p:spTree>
    <p:extLst>
      <p:ext uri="{BB962C8B-B14F-4D97-AF65-F5344CB8AC3E}">
        <p14:creationId xmlns:p14="http://schemas.microsoft.com/office/powerpoint/2010/main" val="2288216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767" y="406375"/>
            <a:ext cx="39243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07DC"/>
                </a:solidFill>
                <a:latin typeface="Poppins" pitchFamily="34" charset="0"/>
                <a:ea typeface="Poppins" pitchFamily="34" charset="-122"/>
                <a:cs typeface="Poppins" pitchFamily="34" charset="-120"/>
              </a:rPr>
              <a:t>MACHINESENSE</a:t>
            </a:r>
            <a:endParaRPr lang="en-US" sz="1200" dirty="0"/>
          </a:p>
        </p:txBody>
      </p:sp>
      <p:sp>
        <p:nvSpPr>
          <p:cNvPr id="3" name="Text 1"/>
          <p:cNvSpPr>
            <a:spLocks noGrp="1"/>
          </p:cNvSpPr>
          <p:nvPr>
            <p:ph type="title"/>
          </p:nvPr>
        </p:nvSpPr>
        <p:spPr>
          <a:xfrm>
            <a:off x="812767" y="812750"/>
            <a:ext cx="6756466" cy="374650"/>
          </a:xfrm>
          <a:prstGeom prst="rect">
            <a:avLst/>
          </a:prstGeom>
          <a:noFill/>
          <a:ln/>
        </p:spPr>
        <p:txBody>
          <a:bodyPr wrap="square" lIns="0" tIns="0" rIns="0" bIns="0" rtlCol="0" anchor="t">
            <a:normAutofit/>
          </a:bodyPr>
          <a:lstStyle/>
          <a:p>
            <a:pPr marL="0" indent="0" algn="l">
              <a:lnSpc>
                <a:spcPts val="2750"/>
              </a:lnSpc>
              <a:buNone/>
            </a:pPr>
            <a:r>
              <a:rPr lang="en-US" sz="2500" b="1" i="0" dirty="0">
                <a:solidFill>
                  <a:srgbClr val="1007DC"/>
                </a:solidFill>
                <a:latin typeface="Poppins" pitchFamily="34" charset="0"/>
                <a:ea typeface="Poppins" pitchFamily="34" charset="-122"/>
                <a:cs typeface="Poppins" pitchFamily="34" charset="-120"/>
              </a:rPr>
              <a:t>Eight attempts, one confirmed gain</a:t>
            </a:r>
            <a:endParaRPr lang="en-US" sz="2500" dirty="0"/>
          </a:p>
        </p:txBody>
      </p:sp>
      <p:sp>
        <p:nvSpPr>
          <p:cNvPr id="4" name="Text 2"/>
          <p:cNvSpPr/>
          <p:nvPr/>
        </p:nvSpPr>
        <p:spPr>
          <a:xfrm>
            <a:off x="7569233" y="934467"/>
            <a:ext cx="3924300" cy="47105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64748B"/>
                </a:solidFill>
                <a:latin typeface="DM Sans" pitchFamily="34" charset="0"/>
                <a:ea typeface="DM Sans" pitchFamily="34" charset="-122"/>
                <a:cs typeface="DM Sans" pitchFamily="34" charset="-120"/>
              </a:rPr>
              <a:t>Each declared in writing with its acceptance bar before it ran. Development data only.</a:t>
            </a:r>
            <a:endParaRPr lang="en-US" sz="1300" dirty="0"/>
          </a:p>
        </p:txBody>
      </p:sp>
      <p:sp>
        <p:nvSpPr>
          <p:cNvPr id="5" name="Shape 3"/>
          <p:cNvSpPr/>
          <p:nvPr/>
        </p:nvSpPr>
        <p:spPr>
          <a:xfrm>
            <a:off x="815942" y="1524521"/>
            <a:ext cx="10560116" cy="3692690"/>
          </a:xfrm>
          <a:prstGeom prst="roundRect">
            <a:avLst>
              <a:gd name="adj" fmla="val 2665"/>
            </a:avLst>
          </a:prstGeom>
          <a:solidFill>
            <a:srgbClr val="FFFFFF"/>
          </a:solidFill>
          <a:ln w="6350">
            <a:solidFill>
              <a:srgbClr val="E2E8F0"/>
            </a:solidFill>
            <a:prstDash val="solid"/>
          </a:ln>
        </p:spPr>
        <p:txBody>
          <a:bodyPr/>
          <a:lstStyle/>
          <a:p>
            <a:endParaRPr lang="en-US"/>
          </a:p>
        </p:txBody>
      </p:sp>
      <p:sp>
        <p:nvSpPr>
          <p:cNvPr id="6" name="Shape 4"/>
          <p:cNvSpPr/>
          <p:nvPr/>
        </p:nvSpPr>
        <p:spPr>
          <a:xfrm>
            <a:off x="818059" y="1526629"/>
            <a:ext cx="10555883" cy="330068"/>
          </a:xfrm>
          <a:custGeom>
            <a:avLst/>
            <a:gdLst/>
            <a:ahLst/>
            <a:cxnLst/>
            <a:rect l="l" t="t" r="r" b="b"/>
            <a:pathLst>
              <a:path w="10555883" h="330068">
                <a:moveTo>
                  <a:pt x="0" y="96308"/>
                </a:moveTo>
                <a:arcTo wR="96308" hR="96308" stAng="10800000" swAng="5400000"/>
                <a:lnTo>
                  <a:pt x="10459574" y="0"/>
                </a:lnTo>
                <a:arcTo wR="96308" hR="96308" stAng="16200000" swAng="5400000"/>
                <a:lnTo>
                  <a:pt x="10555883" y="330068"/>
                </a:lnTo>
                <a:lnTo>
                  <a:pt x="0" y="330068"/>
                </a:lnTo>
                <a:close/>
              </a:path>
            </a:pathLst>
          </a:custGeom>
          <a:solidFill>
            <a:srgbClr val="1007DC"/>
          </a:solidFill>
          <a:ln/>
        </p:spPr>
        <p:txBody>
          <a:bodyPr/>
          <a:lstStyle/>
          <a:p>
            <a:endParaRPr lang="en-US"/>
          </a:p>
        </p:txBody>
      </p:sp>
      <p:sp>
        <p:nvSpPr>
          <p:cNvPr id="7" name="Shape 5"/>
          <p:cNvSpPr/>
          <p:nvPr/>
        </p:nvSpPr>
        <p:spPr>
          <a:xfrm>
            <a:off x="818059" y="1526629"/>
            <a:ext cx="10555883" cy="330068"/>
          </a:xfrm>
          <a:custGeom>
            <a:avLst/>
            <a:gdLst/>
            <a:ahLst/>
            <a:cxnLst/>
            <a:rect l="l" t="t" r="r" b="b"/>
            <a:pathLst>
              <a:path w="10555883" h="330068">
                <a:moveTo>
                  <a:pt x="0" y="323718"/>
                </a:moveTo>
                <a:lnTo>
                  <a:pt x="10555883" y="323718"/>
                </a:lnTo>
                <a:lnTo>
                  <a:pt x="10555883" y="330068"/>
                </a:lnTo>
                <a:lnTo>
                  <a:pt x="0" y="330068"/>
                </a:lnTo>
                <a:lnTo>
                  <a:pt x="0" y="323718"/>
                </a:lnTo>
                <a:close/>
              </a:path>
            </a:pathLst>
          </a:custGeom>
          <a:solidFill>
            <a:srgbClr val="E2E8F0"/>
          </a:solidFill>
          <a:ln/>
        </p:spPr>
        <p:txBody>
          <a:bodyPr/>
          <a:lstStyle/>
          <a:p>
            <a:endParaRPr lang="en-US"/>
          </a:p>
        </p:txBody>
      </p:sp>
      <p:sp>
        <p:nvSpPr>
          <p:cNvPr id="8" name="Text 6"/>
          <p:cNvSpPr/>
          <p:nvPr/>
        </p:nvSpPr>
        <p:spPr>
          <a:xfrm>
            <a:off x="983092" y="1609154"/>
            <a:ext cx="1003300" cy="190434"/>
          </a:xfrm>
          <a:prstGeom prst="rect">
            <a:avLst/>
          </a:prstGeom>
          <a:noFill/>
          <a:ln/>
        </p:spPr>
        <p:txBody>
          <a:bodyPr wrap="square" lIns="0" tIns="0" rIns="0" bIns="0" rtlCol="0" anchor="t">
            <a:normAutofit/>
          </a:bodyPr>
          <a:lstStyle/>
          <a:p>
            <a:pPr marL="0" indent="0" algn="l">
              <a:lnSpc>
                <a:spcPts val="1300"/>
              </a:lnSpc>
              <a:buNone/>
            </a:pPr>
            <a:r>
              <a:rPr lang="en-US" sz="1000" b="1" dirty="0">
                <a:solidFill>
                  <a:srgbClr val="FFFFFF"/>
                </a:solidFill>
                <a:latin typeface="DM Sans" pitchFamily="34" charset="0"/>
                <a:ea typeface="DM Sans" pitchFamily="34" charset="-122"/>
                <a:cs typeface="DM Sans" pitchFamily="34" charset="-120"/>
              </a:rPr>
              <a:t>STAGE</a:t>
            </a:r>
            <a:endParaRPr lang="en-US" sz="1000" dirty="0"/>
          </a:p>
        </p:txBody>
      </p:sp>
      <p:sp>
        <p:nvSpPr>
          <p:cNvPr id="9" name="Text 7"/>
          <p:cNvSpPr/>
          <p:nvPr/>
        </p:nvSpPr>
        <p:spPr>
          <a:xfrm>
            <a:off x="2062592" y="1609154"/>
            <a:ext cx="3924300" cy="190434"/>
          </a:xfrm>
          <a:prstGeom prst="rect">
            <a:avLst/>
          </a:prstGeom>
          <a:noFill/>
          <a:ln/>
        </p:spPr>
        <p:txBody>
          <a:bodyPr wrap="square" lIns="0" tIns="0" rIns="0" bIns="0" rtlCol="0" anchor="t">
            <a:normAutofit/>
          </a:bodyPr>
          <a:lstStyle/>
          <a:p>
            <a:pPr marL="0" indent="0" algn="l">
              <a:lnSpc>
                <a:spcPts val="1300"/>
              </a:lnSpc>
              <a:buNone/>
            </a:pPr>
            <a:r>
              <a:rPr lang="en-US" sz="1000" b="1" dirty="0">
                <a:solidFill>
                  <a:srgbClr val="FFFFFF"/>
                </a:solidFill>
                <a:latin typeface="DM Sans" pitchFamily="34" charset="0"/>
                <a:ea typeface="DM Sans" pitchFamily="34" charset="-122"/>
                <a:cs typeface="DM Sans" pitchFamily="34" charset="-120"/>
              </a:rPr>
              <a:t>WHAT WAS TRIED</a:t>
            </a:r>
            <a:endParaRPr lang="en-US" sz="1000" dirty="0"/>
          </a:p>
        </p:txBody>
      </p:sp>
      <p:sp>
        <p:nvSpPr>
          <p:cNvPr id="10" name="Text 8"/>
          <p:cNvSpPr/>
          <p:nvPr/>
        </p:nvSpPr>
        <p:spPr>
          <a:xfrm>
            <a:off x="5999592" y="1609154"/>
            <a:ext cx="3662680" cy="190434"/>
          </a:xfrm>
          <a:prstGeom prst="rect">
            <a:avLst/>
          </a:prstGeom>
          <a:noFill/>
          <a:ln/>
        </p:spPr>
        <p:txBody>
          <a:bodyPr wrap="square" lIns="0" tIns="0" rIns="0" bIns="0" rtlCol="0" anchor="t">
            <a:normAutofit/>
          </a:bodyPr>
          <a:lstStyle/>
          <a:p>
            <a:pPr marL="0" indent="0" algn="l">
              <a:lnSpc>
                <a:spcPts val="1300"/>
              </a:lnSpc>
              <a:buNone/>
            </a:pPr>
            <a:r>
              <a:rPr lang="en-US" sz="1000" b="1" dirty="0">
                <a:solidFill>
                  <a:srgbClr val="FFFFFF"/>
                </a:solidFill>
                <a:latin typeface="DM Sans" pitchFamily="34" charset="0"/>
                <a:ea typeface="DM Sans" pitchFamily="34" charset="-122"/>
                <a:cs typeface="DM Sans" pitchFamily="34" charset="-120"/>
              </a:rPr>
              <a:t>WHAT WAS OBSERVED</a:t>
            </a:r>
            <a:endParaRPr lang="en-US" sz="1000" dirty="0"/>
          </a:p>
        </p:txBody>
      </p:sp>
      <p:sp>
        <p:nvSpPr>
          <p:cNvPr id="11" name="Text 9"/>
          <p:cNvSpPr/>
          <p:nvPr/>
        </p:nvSpPr>
        <p:spPr>
          <a:xfrm>
            <a:off x="9682592" y="1609154"/>
            <a:ext cx="1638300" cy="190434"/>
          </a:xfrm>
          <a:prstGeom prst="rect">
            <a:avLst/>
          </a:prstGeom>
          <a:noFill/>
          <a:ln/>
        </p:spPr>
        <p:txBody>
          <a:bodyPr wrap="square" lIns="0" tIns="0" rIns="0" bIns="0" rtlCol="0" anchor="t">
            <a:normAutofit/>
          </a:bodyPr>
          <a:lstStyle/>
          <a:p>
            <a:pPr marL="0" indent="0" algn="l">
              <a:lnSpc>
                <a:spcPts val="1300"/>
              </a:lnSpc>
              <a:buNone/>
            </a:pPr>
            <a:r>
              <a:rPr lang="en-US" sz="1000" b="1" dirty="0">
                <a:solidFill>
                  <a:srgbClr val="FFFFFF"/>
                </a:solidFill>
                <a:latin typeface="DM Sans" pitchFamily="34" charset="0"/>
                <a:ea typeface="DM Sans" pitchFamily="34" charset="-122"/>
                <a:cs typeface="DM Sans" pitchFamily="34" charset="-120"/>
              </a:rPr>
              <a:t>READING</a:t>
            </a:r>
            <a:endParaRPr lang="en-US" sz="1000" dirty="0"/>
          </a:p>
        </p:txBody>
      </p:sp>
      <p:sp>
        <p:nvSpPr>
          <p:cNvPr id="12" name="Shape 10"/>
          <p:cNvSpPr/>
          <p:nvPr/>
        </p:nvSpPr>
        <p:spPr>
          <a:xfrm>
            <a:off x="818059" y="2205095"/>
            <a:ext cx="10555883" cy="0"/>
          </a:xfrm>
          <a:prstGeom prst="line">
            <a:avLst/>
          </a:prstGeom>
          <a:noFill/>
          <a:ln w="6350">
            <a:solidFill>
              <a:srgbClr val="E2E8F0"/>
            </a:solidFill>
            <a:prstDash val="solid"/>
          </a:ln>
        </p:spPr>
        <p:txBody>
          <a:bodyPr/>
          <a:lstStyle/>
          <a:p>
            <a:endParaRPr lang="en-US"/>
          </a:p>
        </p:txBody>
      </p:sp>
      <p:sp>
        <p:nvSpPr>
          <p:cNvPr id="13" name="Text 11"/>
          <p:cNvSpPr/>
          <p:nvPr/>
        </p:nvSpPr>
        <p:spPr>
          <a:xfrm>
            <a:off x="983092" y="1932856"/>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9E0B"/>
                </a:solidFill>
                <a:latin typeface="DM Sans" pitchFamily="34" charset="0"/>
                <a:ea typeface="DM Sans" pitchFamily="34" charset="-122"/>
                <a:cs typeface="DM Sans" pitchFamily="34" charset="-120"/>
              </a:rPr>
              <a:t>D1</a:t>
            </a:r>
            <a:endParaRPr lang="en-US" sz="1200" dirty="0"/>
          </a:p>
        </p:txBody>
      </p:sp>
      <p:sp>
        <p:nvSpPr>
          <p:cNvPr id="14" name="Text 12"/>
          <p:cNvSpPr/>
          <p:nvPr/>
        </p:nvSpPr>
        <p:spPr>
          <a:xfrm>
            <a:off x="2062592" y="1943447"/>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Learned combiner over the four decision scores</a:t>
            </a:r>
            <a:endParaRPr lang="en-US" sz="1150" dirty="0"/>
          </a:p>
        </p:txBody>
      </p:sp>
      <p:sp>
        <p:nvSpPr>
          <p:cNvPr id="15" name="Text 13"/>
          <p:cNvSpPr/>
          <p:nvPr/>
        </p:nvSpPr>
        <p:spPr>
          <a:xfrm>
            <a:off x="5999592" y="1943447"/>
            <a:ext cx="366268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no gain over fixed thresholds</a:t>
            </a:r>
            <a:endParaRPr lang="en-US" sz="1150" dirty="0"/>
          </a:p>
        </p:txBody>
      </p:sp>
      <p:sp>
        <p:nvSpPr>
          <p:cNvPr id="16" name="Text 14"/>
          <p:cNvSpPr/>
          <p:nvPr/>
        </p:nvSpPr>
        <p:spPr>
          <a:xfrm>
            <a:off x="9682592" y="1943447"/>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F59E0B"/>
                </a:solidFill>
                <a:latin typeface="DM Sans" pitchFamily="34" charset="0"/>
                <a:ea typeface="DM Sans" pitchFamily="34" charset="-122"/>
                <a:cs typeface="DM Sans" pitchFamily="34" charset="-120"/>
              </a:rPr>
              <a:t>does not help</a:t>
            </a:r>
            <a:endParaRPr lang="en-US" sz="1150" dirty="0"/>
          </a:p>
        </p:txBody>
      </p:sp>
      <p:sp>
        <p:nvSpPr>
          <p:cNvPr id="17" name="Shape 15"/>
          <p:cNvSpPr/>
          <p:nvPr/>
        </p:nvSpPr>
        <p:spPr>
          <a:xfrm>
            <a:off x="818059" y="2556652"/>
            <a:ext cx="10555883" cy="0"/>
          </a:xfrm>
          <a:prstGeom prst="line">
            <a:avLst/>
          </a:prstGeom>
          <a:noFill/>
          <a:ln w="6350">
            <a:solidFill>
              <a:srgbClr val="E2E8F0"/>
            </a:solidFill>
            <a:prstDash val="solid"/>
          </a:ln>
        </p:spPr>
        <p:txBody>
          <a:bodyPr/>
          <a:lstStyle/>
          <a:p>
            <a:endParaRPr lang="en-US"/>
          </a:p>
        </p:txBody>
      </p:sp>
      <p:sp>
        <p:nvSpPr>
          <p:cNvPr id="18" name="Text 16"/>
          <p:cNvSpPr/>
          <p:nvPr/>
        </p:nvSpPr>
        <p:spPr>
          <a:xfrm>
            <a:off x="983092" y="2284413"/>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9E0B"/>
                </a:solidFill>
                <a:latin typeface="DM Sans" pitchFamily="34" charset="0"/>
                <a:ea typeface="DM Sans" pitchFamily="34" charset="-122"/>
                <a:cs typeface="DM Sans" pitchFamily="34" charset="-120"/>
              </a:rPr>
              <a:t>ML-5</a:t>
            </a:r>
            <a:endParaRPr lang="en-US" sz="1200" dirty="0"/>
          </a:p>
        </p:txBody>
      </p:sp>
      <p:sp>
        <p:nvSpPr>
          <p:cNvPr id="19" name="Text 17"/>
          <p:cNvSpPr/>
          <p:nvPr/>
        </p:nvSpPr>
        <p:spPr>
          <a:xfrm>
            <a:off x="2062592" y="2295004"/>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ResNet-18 transfer learning</a:t>
            </a:r>
            <a:endParaRPr lang="en-US" sz="1150" dirty="0"/>
          </a:p>
        </p:txBody>
      </p:sp>
      <p:sp>
        <p:nvSpPr>
          <p:cNvPr id="20" name="Text 18"/>
          <p:cNvSpPr/>
          <p:nvPr/>
        </p:nvSpPr>
        <p:spPr>
          <a:xfrm>
            <a:off x="5999592" y="2295004"/>
            <a:ext cx="366268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no gain over the 0.6 M-parameter CNN-6</a:t>
            </a:r>
            <a:endParaRPr lang="en-US" sz="1150" dirty="0"/>
          </a:p>
        </p:txBody>
      </p:sp>
      <p:sp>
        <p:nvSpPr>
          <p:cNvPr id="21" name="Text 19"/>
          <p:cNvSpPr/>
          <p:nvPr/>
        </p:nvSpPr>
        <p:spPr>
          <a:xfrm>
            <a:off x="9682592" y="2295004"/>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F59E0B"/>
                </a:solidFill>
                <a:latin typeface="DM Sans" pitchFamily="34" charset="0"/>
                <a:ea typeface="DM Sans" pitchFamily="34" charset="-122"/>
                <a:cs typeface="DM Sans" pitchFamily="34" charset="-120"/>
              </a:rPr>
              <a:t>does not help</a:t>
            </a:r>
            <a:endParaRPr lang="en-US" sz="1150" dirty="0"/>
          </a:p>
        </p:txBody>
      </p:sp>
      <p:sp>
        <p:nvSpPr>
          <p:cNvPr id="22" name="Shape 20"/>
          <p:cNvSpPr/>
          <p:nvPr/>
        </p:nvSpPr>
        <p:spPr>
          <a:xfrm>
            <a:off x="818059" y="2908234"/>
            <a:ext cx="10555883" cy="0"/>
          </a:xfrm>
          <a:prstGeom prst="line">
            <a:avLst/>
          </a:prstGeom>
          <a:noFill/>
          <a:ln w="6350">
            <a:solidFill>
              <a:srgbClr val="E2E8F0"/>
            </a:solidFill>
            <a:prstDash val="solid"/>
          </a:ln>
        </p:spPr>
        <p:txBody>
          <a:bodyPr/>
          <a:lstStyle/>
          <a:p>
            <a:endParaRPr lang="en-US"/>
          </a:p>
        </p:txBody>
      </p:sp>
      <p:sp>
        <p:nvSpPr>
          <p:cNvPr id="23" name="Text 21"/>
          <p:cNvSpPr/>
          <p:nvPr/>
        </p:nvSpPr>
        <p:spPr>
          <a:xfrm>
            <a:off x="983092" y="2635994"/>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EF4444"/>
                </a:solidFill>
                <a:latin typeface="DM Sans" pitchFamily="34" charset="0"/>
                <a:ea typeface="DM Sans" pitchFamily="34" charset="-122"/>
                <a:cs typeface="DM Sans" pitchFamily="34" charset="-120"/>
              </a:rPr>
              <a:t>R1</a:t>
            </a:r>
            <a:endParaRPr lang="en-US" sz="1200" dirty="0"/>
          </a:p>
        </p:txBody>
      </p:sp>
      <p:sp>
        <p:nvSpPr>
          <p:cNvPr id="24" name="Text 22"/>
          <p:cNvSpPr/>
          <p:nvPr/>
        </p:nvSpPr>
        <p:spPr>
          <a:xfrm>
            <a:off x="2062592" y="2646561"/>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Speed-conditioned healthy thresholds</a:t>
            </a:r>
            <a:endParaRPr lang="en-US" sz="1150" dirty="0"/>
          </a:p>
        </p:txBody>
      </p:sp>
      <p:sp>
        <p:nvSpPr>
          <p:cNvPr id="25" name="Text 23"/>
          <p:cNvSpPr/>
          <p:nvPr/>
        </p:nvSpPr>
        <p:spPr>
          <a:xfrm>
            <a:off x="5999592" y="2646561"/>
            <a:ext cx="366268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autoencoder AUROC 0.986 → 0.967</a:t>
            </a:r>
            <a:endParaRPr lang="en-US" sz="1150" dirty="0"/>
          </a:p>
        </p:txBody>
      </p:sp>
      <p:sp>
        <p:nvSpPr>
          <p:cNvPr id="26" name="Text 24"/>
          <p:cNvSpPr/>
          <p:nvPr/>
        </p:nvSpPr>
        <p:spPr>
          <a:xfrm>
            <a:off x="9682592" y="2646561"/>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EF4444"/>
                </a:solidFill>
                <a:latin typeface="DM Sans" pitchFamily="34" charset="0"/>
                <a:ea typeface="DM Sans" pitchFamily="34" charset="-122"/>
                <a:cs typeface="DM Sans" pitchFamily="34" charset="-120"/>
              </a:rPr>
              <a:t>does not help</a:t>
            </a:r>
            <a:endParaRPr lang="en-US" sz="1150" dirty="0"/>
          </a:p>
        </p:txBody>
      </p:sp>
      <p:sp>
        <p:nvSpPr>
          <p:cNvPr id="27" name="Shape 25"/>
          <p:cNvSpPr/>
          <p:nvPr/>
        </p:nvSpPr>
        <p:spPr>
          <a:xfrm>
            <a:off x="818059" y="3259791"/>
            <a:ext cx="10555883" cy="0"/>
          </a:xfrm>
          <a:prstGeom prst="line">
            <a:avLst/>
          </a:prstGeom>
          <a:noFill/>
          <a:ln w="6350">
            <a:solidFill>
              <a:srgbClr val="E2E8F0"/>
            </a:solidFill>
            <a:prstDash val="solid"/>
          </a:ln>
        </p:spPr>
        <p:txBody>
          <a:bodyPr/>
          <a:lstStyle/>
          <a:p>
            <a:endParaRPr lang="en-US"/>
          </a:p>
        </p:txBody>
      </p:sp>
      <p:sp>
        <p:nvSpPr>
          <p:cNvPr id="28" name="Text 26"/>
          <p:cNvSpPr/>
          <p:nvPr/>
        </p:nvSpPr>
        <p:spPr>
          <a:xfrm>
            <a:off x="983092" y="2987551"/>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EF4444"/>
                </a:solidFill>
                <a:latin typeface="DM Sans" pitchFamily="34" charset="0"/>
                <a:ea typeface="DM Sans" pitchFamily="34" charset="-122"/>
                <a:cs typeface="DM Sans" pitchFamily="34" charset="-120"/>
              </a:rPr>
              <a:t>R3</a:t>
            </a:r>
            <a:endParaRPr lang="en-US" sz="1200" dirty="0"/>
          </a:p>
        </p:txBody>
      </p:sp>
      <p:sp>
        <p:nvSpPr>
          <p:cNvPr id="29" name="Text 27"/>
          <p:cNvSpPr/>
          <p:nvPr/>
        </p:nvSpPr>
        <p:spPr>
          <a:xfrm>
            <a:off x="2062592" y="2998143"/>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Supervised contrastive encoder</a:t>
            </a:r>
            <a:endParaRPr lang="en-US" sz="1150" dirty="0"/>
          </a:p>
        </p:txBody>
      </p:sp>
      <p:sp>
        <p:nvSpPr>
          <p:cNvPr id="30" name="Text 28"/>
          <p:cNvSpPr/>
          <p:nvPr/>
        </p:nvSpPr>
        <p:spPr>
          <a:xfrm>
            <a:off x="5999592" y="2998143"/>
            <a:ext cx="366268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macro-F1 −0.014; errors 8/11/4 → 21/19/14 of 804</a:t>
            </a:r>
            <a:endParaRPr lang="en-US" sz="1150" dirty="0"/>
          </a:p>
        </p:txBody>
      </p:sp>
      <p:sp>
        <p:nvSpPr>
          <p:cNvPr id="31" name="Text 29"/>
          <p:cNvSpPr/>
          <p:nvPr/>
        </p:nvSpPr>
        <p:spPr>
          <a:xfrm>
            <a:off x="9682592" y="2998143"/>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EF4444"/>
                </a:solidFill>
                <a:latin typeface="DM Sans" pitchFamily="34" charset="0"/>
                <a:ea typeface="DM Sans" pitchFamily="34" charset="-122"/>
                <a:cs typeface="DM Sans" pitchFamily="34" charset="-120"/>
              </a:rPr>
              <a:t>does not help</a:t>
            </a:r>
            <a:endParaRPr lang="en-US" sz="1150" dirty="0"/>
          </a:p>
        </p:txBody>
      </p:sp>
      <p:sp>
        <p:nvSpPr>
          <p:cNvPr id="32" name="Shape 30"/>
          <p:cNvSpPr/>
          <p:nvPr/>
        </p:nvSpPr>
        <p:spPr>
          <a:xfrm>
            <a:off x="818059" y="3795068"/>
            <a:ext cx="10555883" cy="0"/>
          </a:xfrm>
          <a:prstGeom prst="line">
            <a:avLst/>
          </a:prstGeom>
          <a:noFill/>
          <a:ln w="6350">
            <a:solidFill>
              <a:srgbClr val="E2E8F0"/>
            </a:solidFill>
            <a:prstDash val="solid"/>
          </a:ln>
        </p:spPr>
        <p:txBody>
          <a:bodyPr/>
          <a:lstStyle/>
          <a:p>
            <a:endParaRPr lang="en-US"/>
          </a:p>
        </p:txBody>
      </p:sp>
      <p:sp>
        <p:nvSpPr>
          <p:cNvPr id="33" name="Text 31"/>
          <p:cNvSpPr/>
          <p:nvPr/>
        </p:nvSpPr>
        <p:spPr>
          <a:xfrm>
            <a:off x="983092" y="3339108"/>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9E0B"/>
                </a:solidFill>
                <a:latin typeface="DM Sans" pitchFamily="34" charset="0"/>
                <a:ea typeface="DM Sans" pitchFamily="34" charset="-122"/>
                <a:cs typeface="DM Sans" pitchFamily="34" charset="-120"/>
              </a:rPr>
              <a:t>R4</a:t>
            </a:r>
            <a:endParaRPr lang="en-US" sz="1200" dirty="0"/>
          </a:p>
        </p:txBody>
      </p:sp>
      <p:sp>
        <p:nvSpPr>
          <p:cNvPr id="34" name="Text 32"/>
          <p:cNvSpPr/>
          <p:nvPr/>
        </p:nvSpPr>
        <p:spPr>
          <a:xfrm>
            <a:off x="2062592" y="3349699"/>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Bank of per-condition autoencoder specialists</a:t>
            </a:r>
            <a:endParaRPr lang="en-US" sz="1150" dirty="0"/>
          </a:p>
        </p:txBody>
      </p:sp>
      <p:sp>
        <p:nvSpPr>
          <p:cNvPr id="35" name="Text 33"/>
          <p:cNvSpPr/>
          <p:nvPr/>
        </p:nvSpPr>
        <p:spPr>
          <a:xfrm>
            <a:off x="5999592" y="3349699"/>
            <a:ext cx="3662680" cy="404912"/>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recall tied (0.583 vs 0.582); 92 vs 19 unfamiliar called healthy</a:t>
            </a:r>
            <a:endParaRPr lang="en-US" sz="1150" dirty="0"/>
          </a:p>
        </p:txBody>
      </p:sp>
      <p:sp>
        <p:nvSpPr>
          <p:cNvPr id="36" name="Text 34"/>
          <p:cNvSpPr/>
          <p:nvPr/>
        </p:nvSpPr>
        <p:spPr>
          <a:xfrm>
            <a:off x="9682592" y="3349699"/>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F59E0B"/>
                </a:solidFill>
                <a:latin typeface="DM Sans" pitchFamily="34" charset="0"/>
                <a:ea typeface="DM Sans" pitchFamily="34" charset="-122"/>
                <a:cs typeface="DM Sans" pitchFamily="34" charset="-120"/>
              </a:rPr>
              <a:t>too thin to tell</a:t>
            </a:r>
            <a:endParaRPr lang="en-US" sz="1150" dirty="0"/>
          </a:p>
        </p:txBody>
      </p:sp>
      <p:sp>
        <p:nvSpPr>
          <p:cNvPr id="37" name="Shape 35"/>
          <p:cNvSpPr/>
          <p:nvPr/>
        </p:nvSpPr>
        <p:spPr>
          <a:xfrm>
            <a:off x="818059" y="3798243"/>
            <a:ext cx="10555883" cy="535285"/>
          </a:xfrm>
          <a:prstGeom prst="rect">
            <a:avLst/>
          </a:prstGeom>
          <a:solidFill>
            <a:srgbClr val="EEF0FF"/>
          </a:solidFill>
          <a:ln/>
        </p:spPr>
        <p:txBody>
          <a:bodyPr/>
          <a:lstStyle/>
          <a:p>
            <a:endParaRPr lang="en-US"/>
          </a:p>
        </p:txBody>
      </p:sp>
      <p:sp>
        <p:nvSpPr>
          <p:cNvPr id="38" name="Shape 36"/>
          <p:cNvSpPr/>
          <p:nvPr/>
        </p:nvSpPr>
        <p:spPr>
          <a:xfrm>
            <a:off x="818059" y="4330353"/>
            <a:ext cx="10555883" cy="0"/>
          </a:xfrm>
          <a:prstGeom prst="line">
            <a:avLst/>
          </a:prstGeom>
          <a:noFill/>
          <a:ln w="6350">
            <a:solidFill>
              <a:srgbClr val="E2E8F0"/>
            </a:solidFill>
            <a:prstDash val="solid"/>
          </a:ln>
        </p:spPr>
        <p:txBody>
          <a:bodyPr/>
          <a:lstStyle/>
          <a:p>
            <a:endParaRPr lang="en-US"/>
          </a:p>
        </p:txBody>
      </p:sp>
      <p:sp>
        <p:nvSpPr>
          <p:cNvPr id="39" name="Text 37"/>
          <p:cNvSpPr/>
          <p:nvPr/>
        </p:nvSpPr>
        <p:spPr>
          <a:xfrm>
            <a:off x="983092" y="3874393"/>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007DC"/>
                </a:solidFill>
                <a:latin typeface="DM Sans" pitchFamily="34" charset="0"/>
                <a:ea typeface="DM Sans" pitchFamily="34" charset="-122"/>
                <a:cs typeface="DM Sans" pitchFamily="34" charset="-120"/>
              </a:rPr>
              <a:t>E1</a:t>
            </a:r>
            <a:endParaRPr lang="en-US" sz="1200" dirty="0"/>
          </a:p>
        </p:txBody>
      </p:sp>
      <p:sp>
        <p:nvSpPr>
          <p:cNvPr id="40" name="Text 38"/>
          <p:cNvSpPr/>
          <p:nvPr/>
        </p:nvSpPr>
        <p:spPr>
          <a:xfrm>
            <a:off x="2062592" y="3884985"/>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Healthy check first, then fault specialists only</a:t>
            </a:r>
            <a:endParaRPr lang="en-US" sz="1150" dirty="0"/>
          </a:p>
        </p:txBody>
      </p:sp>
      <p:sp>
        <p:nvSpPr>
          <p:cNvPr id="41" name="Text 39"/>
          <p:cNvSpPr/>
          <p:nvPr/>
        </p:nvSpPr>
        <p:spPr>
          <a:xfrm>
            <a:off x="5999592" y="3884985"/>
            <a:ext cx="3662680" cy="404912"/>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64748B"/>
                </a:solidFill>
                <a:latin typeface="DM Sans" pitchFamily="34" charset="0"/>
                <a:ea typeface="DM Sans" pitchFamily="34" charset="-122"/>
                <a:cs typeface="DM Sans" pitchFamily="34" charset="-120"/>
              </a:rPr>
              <a:t>+10.1 points</a:t>
            </a:r>
            <a:r>
              <a:rPr lang="en-US" sz="1150" dirty="0">
                <a:solidFill>
                  <a:srgbClr val="64748B"/>
                </a:solidFill>
                <a:latin typeface="DM Sans" pitchFamily="34" charset="0"/>
                <a:ea typeface="DM Sans" pitchFamily="34" charset="-122"/>
                <a:cs typeface="DM Sans" pitchFamily="34" charset="-120"/>
              </a:rPr>
              <a:t> mean recall, all 3 seeds; healthy calls unchanged</a:t>
            </a:r>
            <a:endParaRPr lang="en-US" sz="1150" dirty="0"/>
          </a:p>
        </p:txBody>
      </p:sp>
      <p:sp>
        <p:nvSpPr>
          <p:cNvPr id="42" name="Text 40"/>
          <p:cNvSpPr/>
          <p:nvPr/>
        </p:nvSpPr>
        <p:spPr>
          <a:xfrm>
            <a:off x="9682592" y="3884985"/>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1007DC"/>
                </a:solidFill>
                <a:latin typeface="DM Sans" pitchFamily="34" charset="0"/>
                <a:ea typeface="DM Sans" pitchFamily="34" charset="-122"/>
                <a:cs typeface="DM Sans" pitchFamily="34" charset="-120"/>
              </a:rPr>
              <a:t>helps, confirmed</a:t>
            </a:r>
            <a:endParaRPr lang="en-US" sz="1150" dirty="0"/>
          </a:p>
        </p:txBody>
      </p:sp>
      <p:sp>
        <p:nvSpPr>
          <p:cNvPr id="43" name="Shape 41"/>
          <p:cNvSpPr/>
          <p:nvPr/>
        </p:nvSpPr>
        <p:spPr>
          <a:xfrm>
            <a:off x="818059" y="4681918"/>
            <a:ext cx="10555883" cy="0"/>
          </a:xfrm>
          <a:prstGeom prst="line">
            <a:avLst/>
          </a:prstGeom>
          <a:noFill/>
          <a:ln w="6350">
            <a:solidFill>
              <a:srgbClr val="E2E8F0"/>
            </a:solidFill>
            <a:prstDash val="solid"/>
          </a:ln>
        </p:spPr>
        <p:txBody>
          <a:bodyPr/>
          <a:lstStyle/>
          <a:p>
            <a:endParaRPr lang="en-US"/>
          </a:p>
        </p:txBody>
      </p:sp>
      <p:sp>
        <p:nvSpPr>
          <p:cNvPr id="44" name="Text 42"/>
          <p:cNvSpPr/>
          <p:nvPr/>
        </p:nvSpPr>
        <p:spPr>
          <a:xfrm>
            <a:off x="983092" y="4409678"/>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EF4444"/>
                </a:solidFill>
                <a:latin typeface="DM Sans" pitchFamily="34" charset="0"/>
                <a:ea typeface="DM Sans" pitchFamily="34" charset="-122"/>
                <a:cs typeface="DM Sans" pitchFamily="34" charset="-120"/>
              </a:rPr>
              <a:t>R6</a:t>
            </a:r>
            <a:endParaRPr lang="en-US" sz="1200" dirty="0"/>
          </a:p>
        </p:txBody>
      </p:sp>
      <p:sp>
        <p:nvSpPr>
          <p:cNvPr id="45" name="Text 43"/>
          <p:cNvSpPr/>
          <p:nvPr/>
        </p:nvSpPr>
        <p:spPr>
          <a:xfrm>
            <a:off x="2062592" y="4420270"/>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Augmented, denoising and fault-only autoencoders</a:t>
            </a:r>
            <a:endParaRPr lang="en-US" sz="1150" dirty="0"/>
          </a:p>
        </p:txBody>
      </p:sp>
      <p:sp>
        <p:nvSpPr>
          <p:cNvPr id="46" name="Text 44"/>
          <p:cNvSpPr/>
          <p:nvPr/>
        </p:nvSpPr>
        <p:spPr>
          <a:xfrm>
            <a:off x="5999592" y="4420270"/>
            <a:ext cx="366268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−1.1 to 0.0 points; fault-only AUROC 0.55</a:t>
            </a:r>
            <a:endParaRPr lang="en-US" sz="1150" dirty="0"/>
          </a:p>
        </p:txBody>
      </p:sp>
      <p:sp>
        <p:nvSpPr>
          <p:cNvPr id="47" name="Text 45"/>
          <p:cNvSpPr/>
          <p:nvPr/>
        </p:nvSpPr>
        <p:spPr>
          <a:xfrm>
            <a:off x="9682592" y="4420270"/>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EF4444"/>
                </a:solidFill>
                <a:latin typeface="DM Sans" pitchFamily="34" charset="0"/>
                <a:ea typeface="DM Sans" pitchFamily="34" charset="-122"/>
                <a:cs typeface="DM Sans" pitchFamily="34" charset="-120"/>
              </a:rPr>
              <a:t>does not help</a:t>
            </a:r>
            <a:endParaRPr lang="en-US" sz="1150" dirty="0"/>
          </a:p>
        </p:txBody>
      </p:sp>
      <p:sp>
        <p:nvSpPr>
          <p:cNvPr id="48" name="Text 46"/>
          <p:cNvSpPr/>
          <p:nvPr/>
        </p:nvSpPr>
        <p:spPr>
          <a:xfrm>
            <a:off x="983092" y="4761260"/>
            <a:ext cx="1003300" cy="223424"/>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64748B"/>
                </a:solidFill>
                <a:latin typeface="DM Sans" pitchFamily="34" charset="0"/>
                <a:ea typeface="DM Sans" pitchFamily="34" charset="-122"/>
                <a:cs typeface="DM Sans" pitchFamily="34" charset="-120"/>
              </a:rPr>
              <a:t>R7</a:t>
            </a:r>
            <a:endParaRPr lang="en-US" sz="1200" dirty="0"/>
          </a:p>
        </p:txBody>
      </p:sp>
      <p:sp>
        <p:nvSpPr>
          <p:cNvPr id="49" name="Text 47"/>
          <p:cNvSpPr/>
          <p:nvPr/>
        </p:nvSpPr>
        <p:spPr>
          <a:xfrm>
            <a:off x="2062592" y="4771827"/>
            <a:ext cx="3924300" cy="215156"/>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1E293B"/>
                </a:solidFill>
                <a:latin typeface="DM Sans" pitchFamily="34" charset="0"/>
                <a:ea typeface="DM Sans" pitchFamily="34" charset="-122"/>
                <a:cs typeface="DM Sans" pitchFamily="34" charset="-120"/>
              </a:rPr>
              <a:t>Diagnostics on saved models, no training</a:t>
            </a:r>
            <a:endParaRPr lang="en-US" sz="1150" dirty="0"/>
          </a:p>
        </p:txBody>
      </p:sp>
      <p:sp>
        <p:nvSpPr>
          <p:cNvPr id="50" name="Text 48"/>
          <p:cNvSpPr/>
          <p:nvPr/>
        </p:nvSpPr>
        <p:spPr>
          <a:xfrm>
            <a:off x="5999592" y="4771827"/>
            <a:ext cx="3662680" cy="404912"/>
          </a:xfrm>
          <a:prstGeom prst="rect">
            <a:avLst/>
          </a:prstGeom>
          <a:noFill/>
          <a:ln/>
        </p:spPr>
        <p:txBody>
          <a:bodyPr wrap="square" lIns="0" tIns="0" rIns="0" bIns="0" rtlCol="0" anchor="t">
            <a:normAutofit/>
          </a:bodyPr>
          <a:lstStyle/>
          <a:p>
            <a:pPr marL="0" indent="0" algn="l">
              <a:lnSpc>
                <a:spcPts val="1495"/>
              </a:lnSpc>
              <a:buNone/>
            </a:pPr>
            <a:r>
              <a:rPr lang="en-US" sz="1150" dirty="0">
                <a:solidFill>
                  <a:srgbClr val="64748B"/>
                </a:solidFill>
                <a:latin typeface="DM Sans" pitchFamily="34" charset="0"/>
                <a:ea typeface="DM Sans" pitchFamily="34" charset="-122"/>
                <a:cs typeface="DM Sans" pitchFamily="34" charset="-120"/>
              </a:rPr>
              <a:t>mild misalignment covered by the gate; no collapse; max-logit +1.3</a:t>
            </a:r>
            <a:endParaRPr lang="en-US" sz="1150" dirty="0"/>
          </a:p>
        </p:txBody>
      </p:sp>
      <p:sp>
        <p:nvSpPr>
          <p:cNvPr id="51" name="Text 49"/>
          <p:cNvSpPr/>
          <p:nvPr/>
        </p:nvSpPr>
        <p:spPr>
          <a:xfrm>
            <a:off x="9682592" y="4771827"/>
            <a:ext cx="1638300" cy="215156"/>
          </a:xfrm>
          <a:prstGeom prst="rect">
            <a:avLst/>
          </a:prstGeom>
          <a:noFill/>
          <a:ln/>
        </p:spPr>
        <p:txBody>
          <a:bodyPr wrap="square" lIns="0" tIns="0" rIns="0" bIns="0" rtlCol="0" anchor="t">
            <a:normAutofit/>
          </a:bodyPr>
          <a:lstStyle/>
          <a:p>
            <a:pPr marL="0" indent="0" algn="l">
              <a:lnSpc>
                <a:spcPts val="1495"/>
              </a:lnSpc>
              <a:buNone/>
            </a:pPr>
            <a:r>
              <a:rPr lang="en-US" sz="1150" b="1" dirty="0">
                <a:solidFill>
                  <a:srgbClr val="64748B"/>
                </a:solidFill>
                <a:latin typeface="DM Sans" pitchFamily="34" charset="0"/>
                <a:ea typeface="DM Sans" pitchFamily="34" charset="-122"/>
                <a:cs typeface="DM Sans" pitchFamily="34" charset="-120"/>
              </a:rPr>
              <a:t>diagnostic</a:t>
            </a:r>
            <a:endParaRPr lang="en-US" sz="1150" dirty="0"/>
          </a:p>
        </p:txBody>
      </p:sp>
      <p:sp>
        <p:nvSpPr>
          <p:cNvPr id="52" name="Text 50"/>
          <p:cNvSpPr/>
          <p:nvPr/>
        </p:nvSpPr>
        <p:spPr>
          <a:xfrm>
            <a:off x="812767" y="5372770"/>
            <a:ext cx="10203180" cy="494622"/>
          </a:xfrm>
          <a:prstGeom prst="rect">
            <a:avLst/>
          </a:prstGeom>
          <a:noFill/>
          <a:ln/>
        </p:spPr>
        <p:txBody>
          <a:bodyPr wrap="square" lIns="0" tIns="0" rIns="0" bIns="0" rtlCol="0" anchor="t">
            <a:normAutofit/>
          </a:bodyPr>
          <a:lstStyle/>
          <a:p>
            <a:pPr marL="0" indent="0" algn="l">
              <a:lnSpc>
                <a:spcPts val="1861"/>
              </a:lnSpc>
              <a:buNone/>
            </a:pPr>
            <a:r>
              <a:rPr lang="en-US" sz="1284" dirty="0">
                <a:solidFill>
                  <a:srgbClr val="1E293B"/>
                </a:solidFill>
                <a:latin typeface="DM Sans" pitchFamily="34" charset="0"/>
                <a:ea typeface="DM Sans" pitchFamily="34" charset="-122"/>
                <a:cs typeface="DM Sans" pitchFamily="34" charset="-120"/>
              </a:rPr>
              <a:t>The bar for "helps": at least 5 points more unfamiliar faults caught at the same number of known recordings rejected, with no more unfamiliar faults called healthy, on every one of three seeds.</a:t>
            </a:r>
            <a:endParaRPr lang="en-US" sz="1284" dirty="0"/>
          </a:p>
        </p:txBody>
      </p:sp>
      <p:sp>
        <p:nvSpPr>
          <p:cNvPr id="54" name="Text 51">
            <a:extLst>
              <a:ext uri="{FF2B5EF4-FFF2-40B4-BE49-F238E27FC236}">
                <a16:creationId xmlns:a16="http://schemas.microsoft.com/office/drawing/2014/main" id="{90378C7E-3EE4-0BA0-4F9B-9E63C8337689}"/>
              </a:ext>
            </a:extLst>
          </p:cNvPr>
          <p:cNvSpPr/>
          <p:nvPr/>
        </p:nvSpPr>
        <p:spPr>
          <a:xfrm>
            <a:off x="10718833" y="63906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26</a:t>
            </a:r>
            <a:endParaRPr lang="en-US" sz="1200" dirty="0"/>
          </a:p>
        </p:txBody>
      </p:sp>
    </p:spTree>
    <p:extLst>
      <p:ext uri="{BB962C8B-B14F-4D97-AF65-F5344CB8AC3E}">
        <p14:creationId xmlns:p14="http://schemas.microsoft.com/office/powerpoint/2010/main" val="1195332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45" name="Shape 3">
            <a:extLst>
              <a:ext uri="{FF2B5EF4-FFF2-40B4-BE49-F238E27FC236}">
                <a16:creationId xmlns:a16="http://schemas.microsoft.com/office/drawing/2014/main" id="{28628E93-91B0-5EEC-607B-504EDE2FC6EF}"/>
              </a:ext>
            </a:extLst>
          </p:cNvPr>
          <p:cNvSpPr>
            <a:spLocks noGrp="1"/>
          </p:cNvSpPr>
          <p:nvPr/>
        </p:nvSpPr>
        <p:spPr>
          <a:xfrm>
            <a:off x="816865" y="1486706"/>
            <a:ext cx="10649711" cy="4755883"/>
          </a:xfrm>
          <a:prstGeom prst="roundRect">
            <a:avLst>
              <a:gd name="adj" fmla="val 4429"/>
            </a:avLst>
          </a:prstGeom>
          <a:solidFill>
            <a:srgbClr val="FFFFFF"/>
          </a:solidFill>
          <a:ln w="6350">
            <a:solidFill>
              <a:srgbClr val="E2E8F0"/>
            </a:solidFill>
            <a:prstDash val="solid"/>
          </a:ln>
        </p:spPr>
        <p:txBody>
          <a:bodyPr/>
          <a:lstStyle/>
          <a:p>
            <a:endParaRPr/>
          </a:p>
        </p:txBody>
      </p:sp>
      <p:sp>
        <p:nvSpPr>
          <p:cNvPr id="2" name="Text 0">
            <a:extLst>
              <a:ext uri="{FF2B5EF4-FFF2-40B4-BE49-F238E27FC236}">
                <a16:creationId xmlns:a16="http://schemas.microsoft.com/office/drawing/2014/main" id="{C71F249A-58B6-BD94-5BE2-34D68888A647}"/>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AD47363C-1E59-7D39-81AF-4C4ED7F75D06}"/>
              </a:ext>
            </a:extLst>
          </p:cNvPr>
          <p:cNvSpPr>
            <a:spLocks noGrp="1"/>
          </p:cNvSpPr>
          <p:nvPr/>
        </p:nvSpPr>
        <p:spPr>
          <a:xfrm>
            <a:off x="812767" y="812763"/>
            <a:ext cx="4815273" cy="388623"/>
          </a:xfrm>
          <a:prstGeom prst="rect">
            <a:avLst/>
          </a:prstGeom>
          <a:noFill/>
        </p:spPr>
        <p:txBody>
          <a:bodyPr wrap="square" lIns="0" tIns="0" rIns="0" bIns="0" anchor="t">
            <a:normAutofit fontScale="64977" lnSpcReduction="20000"/>
          </a:bodyPr>
          <a:lstStyle/>
          <a:p>
            <a:pPr marL="0" indent="0" algn="l">
              <a:lnSpc>
                <a:spcPts val="2860"/>
              </a:lnSpc>
              <a:buNone/>
            </a:pPr>
            <a:r>
              <a:rPr sz="2600" b="1">
                <a:solidFill>
                  <a:srgbClr val="1007DC"/>
                </a:solidFill>
                <a:latin typeface="Poppins"/>
                <a:ea typeface="Poppins"/>
                <a:cs typeface="Poppins"/>
              </a:rPr>
              <a:t>Investigation assistant evaluation plan</a:t>
            </a:r>
            <a:endParaRPr sz="2600"/>
          </a:p>
        </p:txBody>
      </p:sp>
      <p:sp>
        <p:nvSpPr>
          <p:cNvPr id="4" name="Text 2">
            <a:extLst>
              <a:ext uri="{FF2B5EF4-FFF2-40B4-BE49-F238E27FC236}">
                <a16:creationId xmlns:a16="http://schemas.microsoft.com/office/drawing/2014/main" id="{57FA6FD3-CC4A-4BD8-67D6-1B48532FB106}"/>
              </a:ext>
            </a:extLst>
          </p:cNvPr>
          <p:cNvSpPr>
            <a:spLocks noGrp="1"/>
          </p:cNvSpPr>
          <p:nvPr/>
        </p:nvSpPr>
        <p:spPr>
          <a:xfrm>
            <a:off x="5605365" y="714685"/>
            <a:ext cx="5929138" cy="772021"/>
          </a:xfrm>
          <a:prstGeom prst="rect">
            <a:avLst/>
          </a:prstGeom>
          <a:noFill/>
        </p:spPr>
        <p:txBody>
          <a:bodyPr wrap="square" lIns="0" tIns="0" rIns="0" bIns="0" anchor="t">
            <a:normAutofit/>
          </a:bodyPr>
          <a:lstStyle/>
          <a:p>
            <a:pPr marL="0" indent="0" algn="l">
              <a:lnSpc>
                <a:spcPts val="1960"/>
              </a:lnSpc>
              <a:buNone/>
            </a:pPr>
            <a:r>
              <a:rPr sz="1400">
                <a:solidFill>
                  <a:srgbClr val="64748B"/>
                </a:solidFill>
                <a:latin typeface="DM Sans"/>
                <a:ea typeface="DM Sans"/>
                <a:cs typeface="DM Sans"/>
              </a:rPr>
              <a:t>Proposed measures for the assistant after it is connected.</a:t>
            </a:r>
            <a:endParaRPr sz="1400"/>
          </a:p>
        </p:txBody>
      </p:sp>
      <p:sp>
        <p:nvSpPr>
          <p:cNvPr id="46" name="Shape 4">
            <a:extLst>
              <a:ext uri="{FF2B5EF4-FFF2-40B4-BE49-F238E27FC236}">
                <a16:creationId xmlns:a16="http://schemas.microsoft.com/office/drawing/2014/main" id="{65EB3667-E09F-79E8-106D-E7D5EFEBD2B1}"/>
              </a:ext>
            </a:extLst>
          </p:cNvPr>
          <p:cNvSpPr>
            <a:spLocks noGrp="1"/>
          </p:cNvSpPr>
          <p:nvPr/>
        </p:nvSpPr>
        <p:spPr>
          <a:xfrm>
            <a:off x="812766" y="1486707"/>
            <a:ext cx="10649711" cy="311700"/>
          </a:xfrm>
          <a:custGeom>
            <a:avLst/>
            <a:gdLst/>
            <a:ahLst/>
            <a:cxnLst/>
            <a:rect l="l" t="t" r="r" b="b"/>
            <a:pathLst>
              <a:path w="10555883" h="288065">
                <a:moveTo>
                  <a:pt x="0" y="96308"/>
                </a:moveTo>
                <a:arcTo wR="96308" hR="96308" stAng="10800000" swAng="5400000"/>
                <a:lnTo>
                  <a:pt x="10459574" y="0"/>
                </a:lnTo>
                <a:arcTo wR="96308" hR="96308" stAng="16200000" swAng="5400000"/>
                <a:lnTo>
                  <a:pt x="10555883" y="288065"/>
                </a:lnTo>
                <a:lnTo>
                  <a:pt x="0" y="288065"/>
                </a:lnTo>
                <a:close/>
              </a:path>
            </a:pathLst>
          </a:custGeom>
          <a:solidFill>
            <a:srgbClr val="1007DC"/>
          </a:solidFill>
        </p:spPr>
        <p:txBody>
          <a:bodyPr/>
          <a:lstStyle/>
          <a:p>
            <a:endParaRPr/>
          </a:p>
        </p:txBody>
      </p:sp>
      <p:graphicFrame>
        <p:nvGraphicFramePr>
          <p:cNvPr id="53" name="Table 4"/>
          <p:cNvGraphicFramePr/>
          <p:nvPr/>
        </p:nvGraphicFramePr>
        <p:xfrm>
          <a:off x="816865" y="1550713"/>
          <a:ext cx="10649712" cy="4755883"/>
        </p:xfrm>
        <a:graphic>
          <a:graphicData uri="http://schemas.openxmlformats.org/drawingml/2006/table">
            <a:tbl>
              <a:tblPr>
                <a:tableStyleId>{5940675A-B579-460E-94D1-54222C63F5DA}</a:tableStyleId>
              </a:tblPr>
              <a:tblGrid>
                <a:gridCol w="3549904">
                  <a:extLst>
                    <a:ext uri="{9D8B030D-6E8A-4147-A177-3AD203B41FA5}">
                      <a16:colId xmlns:a16="http://schemas.microsoft.com/office/drawing/2014/main" val="20000"/>
                    </a:ext>
                  </a:extLst>
                </a:gridCol>
                <a:gridCol w="3549904">
                  <a:extLst>
                    <a:ext uri="{9D8B030D-6E8A-4147-A177-3AD203B41FA5}">
                      <a16:colId xmlns:a16="http://schemas.microsoft.com/office/drawing/2014/main" val="20001"/>
                    </a:ext>
                  </a:extLst>
                </a:gridCol>
                <a:gridCol w="3549904">
                  <a:extLst>
                    <a:ext uri="{9D8B030D-6E8A-4147-A177-3AD203B41FA5}">
                      <a16:colId xmlns:a16="http://schemas.microsoft.com/office/drawing/2014/main" val="20002"/>
                    </a:ext>
                  </a:extLst>
                </a:gridCol>
              </a:tblGrid>
              <a:tr h="246117">
                <a:tc>
                  <a:txBody>
                    <a:bodyPr/>
                    <a:lstStyle/>
                    <a:p>
                      <a:pPr>
                        <a:buNone/>
                      </a:pPr>
                      <a:r>
                        <a:rPr sz="1200">
                          <a:solidFill>
                            <a:schemeClr val="bg1"/>
                          </a:solidFill>
                        </a:rPr>
                        <a:t>Agent evaluation metric</a:t>
                      </a:r>
                    </a:p>
                  </a:txBody>
                  <a:tcPr marL="58802" marR="58802" marT="29401" marB="29401" anchor="ctr">
                    <a:lnL w="12700" cmpd="sng">
                      <a:noFill/>
                    </a:lnL>
                    <a:lnR w="12700" cmpd="sng">
                      <a:noFill/>
                    </a:lnR>
                    <a:lnT w="12700" cmpd="sng">
                      <a:noFill/>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solidFill>
                            <a:schemeClr val="bg1"/>
                          </a:solidFill>
                        </a:rPr>
                        <a:t>Calculation</a:t>
                      </a:r>
                    </a:p>
                  </a:txBody>
                  <a:tcPr marL="58802" marR="58802" marT="29401" marB="29401" anchor="ctr">
                    <a:lnL w="12700" cmpd="sng">
                      <a:noFill/>
                    </a:lnL>
                    <a:lnR w="12700" cmpd="sng">
                      <a:noFill/>
                    </a:lnR>
                    <a:lnT w="12700" cmpd="sng">
                      <a:noFill/>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solidFill>
                            <a:schemeClr val="bg1"/>
                          </a:solidFill>
                        </a:rPr>
                        <a:t>What it checks</a:t>
                      </a:r>
                    </a:p>
                  </a:txBody>
                  <a:tcPr marL="58802" marR="58802" marT="29401" marB="29401" anchor="ctr">
                    <a:lnL w="12700" cmpd="sng">
                      <a:noFill/>
                    </a:lnL>
                    <a:lnR w="12700" cmpd="sng">
                      <a:noFill/>
                    </a:lnR>
                    <a:lnT w="12700" cmpd="sng">
                      <a:noFill/>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32353">
                <a:tc>
                  <a:txBody>
                    <a:bodyPr/>
                    <a:lstStyle/>
                    <a:p>
                      <a:pPr>
                        <a:buNone/>
                      </a:pPr>
                      <a:r>
                        <a:rPr sz="1200"/>
                        <a:t>Grounded-Claim Precision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Factual claims supported by evidence ÷ all factual claims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Gemma 4 invents facts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32353">
                <a:tc>
                  <a:txBody>
                    <a:bodyPr/>
                    <a:lstStyle/>
                    <a:p>
                      <a:pPr>
                        <a:buNone/>
                      </a:pPr>
                      <a:r>
                        <a:rPr sz="1200"/>
                        <a:t>Citation Precision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Citations that support their associated claim ÷ all citations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references are meaningful</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32353">
                <a:tc>
                  <a:txBody>
                    <a:bodyPr/>
                    <a:lstStyle/>
                    <a:p>
                      <a:pPr>
                        <a:buNone/>
                      </a:pPr>
                      <a:r>
                        <a:rPr sz="1200"/>
                        <a:t>Numeric Fidelity Rate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Correct numbers, units and directions ÷ all numerical claims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it reports measurements accurately</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18589">
                <a:tc>
                  <a:txBody>
                    <a:bodyPr/>
                    <a:lstStyle/>
                    <a:p>
                      <a:pPr>
                        <a:buNone/>
                      </a:pPr>
                      <a:r>
                        <a:rPr sz="1200"/>
                        <a:t>Verdict Consistency Rate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Answers preserving the saved verdict ÷ all answers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it changes “further inspection” into a claimed diagnosis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32353">
                <a:tc>
                  <a:txBody>
                    <a:bodyPr/>
                    <a:lstStyle/>
                    <a:p>
                      <a:pPr>
                        <a:buNone/>
                      </a:pPr>
                      <a:r>
                        <a:rPr sz="1200"/>
                        <a:t>Case Isolation Rate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Conversations with no cross-case evidence ÷ case-switch tests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follow-ups use the right recording</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32353">
                <a:tc>
                  <a:txBody>
                    <a:bodyPr/>
                    <a:lstStyle/>
                    <a:p>
                      <a:pPr>
                        <a:buNone/>
                      </a:pPr>
                      <a:r>
                        <a:rPr sz="1200"/>
                        <a:t>Appropriate Abstention Rate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Insufficient-evidence cases where it states the limit ÷ all such cases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it knows when it cannot answer</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46117">
                <a:tc>
                  <a:txBody>
                    <a:bodyPr/>
                    <a:lstStyle/>
                    <a:p>
                      <a:pPr>
                        <a:buNone/>
                      </a:pPr>
                      <a:r>
                        <a:rPr sz="1200"/>
                        <a:t>Tool Policy Violation Count</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Unapproved tool calls or actions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Target: zero</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618589">
                <a:tc>
                  <a:txBody>
                    <a:bodyPr/>
                    <a:lstStyle/>
                    <a:p>
                      <a:pPr>
                        <a:buNone/>
                      </a:pPr>
                      <a:r>
                        <a:rPr sz="1200"/>
                        <a:t>Fallback Success Rate (%)</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Tool/model failures handled with a clear limited answer ÷ failure tests</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Whether the chat remains safe and useful</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432353">
                <a:tc>
                  <a:txBody>
                    <a:bodyPr/>
                    <a:lstStyle/>
                    <a:p>
                      <a:pPr>
                        <a:buNone/>
                      </a:pPr>
                      <a:r>
                        <a:rPr sz="1200"/>
                        <a:t>P@5</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Relevant items among the top five retrieved references ÷ 5</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tc>
                  <a:txBody>
                    <a:bodyPr/>
                    <a:lstStyle/>
                    <a:p>
                      <a:pPr>
                        <a:buNone/>
                      </a:pPr>
                      <a:r>
                        <a:rPr sz="1200"/>
                        <a:t>Optional: quality of the vetted-knowledge search</a:t>
                      </a:r>
                    </a:p>
                  </a:txBody>
                  <a:tcPr marL="58802" marR="58802" marT="29401" marB="29401" anchor="ctr">
                    <a:lnL w="12700" cmpd="sng">
                      <a:noFill/>
                    </a:lnL>
                    <a:lnR w="12700" cmpd="sng">
                      <a:noFill/>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432353">
                <a:tc>
                  <a:txBody>
                    <a:bodyPr/>
                    <a:lstStyle/>
                    <a:p>
                      <a:pPr>
                        <a:buNone/>
                      </a:pPr>
                      <a:r>
                        <a:rPr sz="1200"/>
                        <a:t>P95 Response Latency</a:t>
                      </a:r>
                    </a:p>
                  </a:txBody>
                  <a:tcPr marL="58802" marR="58802" marT="29401" marB="29401" anchor="ctr">
                    <a:lnL w="12700" cmpd="sng">
                      <a:noFill/>
                    </a:lnL>
                    <a:lnR w="12700" cmpd="sng">
                      <a:noFill/>
                    </a:lnR>
                    <a:lnT w="6350" cmpd="sng">
                      <a:solidFill>
                        <a:schemeClr val="bg1">
                          <a:lumMod val="75000"/>
                        </a:schemeClr>
                      </a:solidFill>
                      <a:prstDash val="solid"/>
                    </a:lnT>
                    <a:lnB w="12700" cmpd="sng">
                      <a:noFill/>
                    </a:lnB>
                    <a:lnTlToBr w="12700" cmpd="sng">
                      <a:noFill/>
                      <a:prstDash val="solid"/>
                    </a:lnTlToBr>
                    <a:lnBlToTr w="12700" cmpd="sng">
                      <a:noFill/>
                      <a:prstDash val="solid"/>
                    </a:lnBlToTr>
                  </a:tcPr>
                </a:tc>
                <a:tc>
                  <a:txBody>
                    <a:bodyPr/>
                    <a:lstStyle/>
                    <a:p>
                      <a:pPr>
                        <a:buNone/>
                      </a:pPr>
                      <a:r>
                        <a:rPr sz="1200"/>
                        <a:t>Time within which 95% of answers finish</a:t>
                      </a:r>
                    </a:p>
                  </a:txBody>
                  <a:tcPr marL="58802" marR="58802" marT="29401" marB="29401" anchor="ctr">
                    <a:lnL w="12700" cmpd="sng">
                      <a:noFill/>
                    </a:lnL>
                    <a:lnR w="12700" cmpd="sng">
                      <a:noFill/>
                    </a:lnR>
                    <a:lnT w="6350" cmpd="sng">
                      <a:solidFill>
                        <a:schemeClr val="bg1">
                          <a:lumMod val="75000"/>
                        </a:schemeClr>
                      </a:solidFill>
                      <a:prstDash val="solid"/>
                    </a:lnT>
                    <a:lnB w="12700" cmpd="sng">
                      <a:noFill/>
                    </a:lnB>
                    <a:lnTlToBr w="12700" cmpd="sng">
                      <a:noFill/>
                      <a:prstDash val="solid"/>
                    </a:lnTlToBr>
                    <a:lnBlToTr w="12700" cmpd="sng">
                      <a:noFill/>
                      <a:prstDash val="solid"/>
                    </a:lnBlToTr>
                  </a:tcPr>
                </a:tc>
                <a:tc>
                  <a:txBody>
                    <a:bodyPr/>
                    <a:lstStyle/>
                    <a:p>
                      <a:pPr>
                        <a:buNone/>
                      </a:pPr>
                      <a:r>
                        <a:rPr sz="1200"/>
                        <a:t>Whether the assistant is practical to use</a:t>
                      </a:r>
                    </a:p>
                  </a:txBody>
                  <a:tcPr marL="58802" marR="58802" marT="29401" marB="29401" anchor="ctr">
                    <a:lnL w="12700" cmpd="sng">
                      <a:noFill/>
                    </a:lnL>
                    <a:lnR w="12700" cmpd="sng">
                      <a:noFill/>
                    </a:lnR>
                    <a:lnT w="6350" cmpd="sng">
                      <a:solidFill>
                        <a:schemeClr val="bg1">
                          <a:lumMod val="75000"/>
                        </a:schemeClr>
                      </a:solidFill>
                      <a:prstDash val="soli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bl>
          </a:graphicData>
        </a:graphic>
      </p:graphicFrame>
      <p:sp>
        <p:nvSpPr>
          <p:cNvPr id="5" name="Text 51">
            <a:extLst>
              <a:ext uri="{FF2B5EF4-FFF2-40B4-BE49-F238E27FC236}">
                <a16:creationId xmlns:a16="http://schemas.microsoft.com/office/drawing/2014/main" id="{0EC53526-1031-16B2-42CB-3F4D2C9D19A5}"/>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27</a:t>
            </a:r>
            <a:endParaRPr lang="en-US" sz="1200" dirty="0"/>
          </a:p>
        </p:txBody>
      </p:sp>
    </p:spTree>
    <p:extLst>
      <p:ext uri="{BB962C8B-B14F-4D97-AF65-F5344CB8AC3E}">
        <p14:creationId xmlns:p14="http://schemas.microsoft.com/office/powerpoint/2010/main" val="904534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3F0"/>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1975C2F-30F1-4ADA-A0CA-5119A58496CD}"/>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1007DC"/>
                </a:solidFill>
                <a:latin typeface="Poppins"/>
                <a:ea typeface="Poppins"/>
                <a:cs typeface="Poppins"/>
              </a:rPr>
              <a:t>MACHINESENSE</a:t>
            </a:r>
            <a:endParaRPr sz="1200"/>
          </a:p>
        </p:txBody>
      </p:sp>
      <p:sp>
        <p:nvSpPr>
          <p:cNvPr id="3" name="Text 1">
            <a:extLst>
              <a:ext uri="{FF2B5EF4-FFF2-40B4-BE49-F238E27FC236}">
                <a16:creationId xmlns:a16="http://schemas.microsoft.com/office/drawing/2014/main" id="{C43C69B2-6282-4BD9-ACEF-D5410F9269EE}"/>
              </a:ext>
            </a:extLst>
          </p:cNvPr>
          <p:cNvSpPr>
            <a:spLocks noGrp="1"/>
          </p:cNvSpPr>
          <p:nvPr/>
        </p:nvSpPr>
        <p:spPr>
          <a:xfrm>
            <a:off x="812767" y="812750"/>
            <a:ext cx="10883460" cy="500327"/>
          </a:xfrm>
          <a:prstGeom prst="rect">
            <a:avLst/>
          </a:prstGeom>
          <a:noFill/>
        </p:spPr>
        <p:txBody>
          <a:bodyPr wrap="square" lIns="0" tIns="0" rIns="0" bIns="0" anchor="t">
            <a:normAutofit/>
          </a:bodyPr>
          <a:lstStyle/>
          <a:p>
            <a:pPr marL="0" indent="0" algn="l">
              <a:lnSpc>
                <a:spcPts val="3740"/>
              </a:lnSpc>
              <a:buNone/>
            </a:pPr>
            <a:r>
              <a:rPr lang="en-US" sz="3400" b="1">
                <a:solidFill>
                  <a:srgbClr val="1007DC"/>
                </a:solidFill>
                <a:latin typeface="Poppins"/>
                <a:ea typeface="Poppins"/>
                <a:cs typeface="Poppins"/>
              </a:rPr>
              <a:t>What has been done so far?</a:t>
            </a:r>
            <a:endParaRPr sz="3400"/>
          </a:p>
        </p:txBody>
      </p:sp>
      <p:sp>
        <p:nvSpPr>
          <p:cNvPr id="4" name="Shape 2">
            <a:extLst>
              <a:ext uri="{FF2B5EF4-FFF2-40B4-BE49-F238E27FC236}">
                <a16:creationId xmlns:a16="http://schemas.microsoft.com/office/drawing/2014/main" id="{5D994026-35F4-41AF-A24E-45927103BA41}"/>
              </a:ext>
            </a:extLst>
          </p:cNvPr>
          <p:cNvSpPr>
            <a:spLocks noGrp="1"/>
          </p:cNvSpPr>
          <p:nvPr/>
        </p:nvSpPr>
        <p:spPr>
          <a:xfrm>
            <a:off x="812766" y="1490835"/>
            <a:ext cx="9755431" cy="4691479"/>
          </a:xfrm>
          <a:custGeom>
            <a:avLst/>
            <a:gdLst/>
            <a:ahLst/>
            <a:cxnLst/>
            <a:rect l="l" t="t" r="r" b="b"/>
            <a:pathLst>
              <a:path w="3429000" h="2451778">
                <a:moveTo>
                  <a:pt x="0" y="0"/>
                </a:moveTo>
                <a:lnTo>
                  <a:pt x="3429000" y="0"/>
                </a:lnTo>
                <a:lnTo>
                  <a:pt x="3429000" y="2350178"/>
                </a:lnTo>
                <a:arcTo wR="101600" hR="101600" stAng="0" swAng="5400000"/>
                <a:lnTo>
                  <a:pt x="101600" y="2451778"/>
                </a:lnTo>
                <a:arcTo wR="101600" hR="101600" stAng="5400000" swAng="5400000"/>
                <a:lnTo>
                  <a:pt x="0" y="0"/>
                </a:lnTo>
                <a:close/>
              </a:path>
            </a:pathLst>
          </a:custGeom>
          <a:solidFill>
            <a:srgbClr val="FFFFFF"/>
          </a:solidFill>
        </p:spPr>
        <p:txBody>
          <a:bodyPr/>
          <a:lstStyle/>
          <a:p>
            <a:endParaRPr/>
          </a:p>
        </p:txBody>
      </p:sp>
      <p:sp>
        <p:nvSpPr>
          <p:cNvPr id="5" name="Shape 3">
            <a:extLst>
              <a:ext uri="{FF2B5EF4-FFF2-40B4-BE49-F238E27FC236}">
                <a16:creationId xmlns:a16="http://schemas.microsoft.com/office/drawing/2014/main" id="{FCBECD95-A6BD-4061-BD68-27043EDE873B}"/>
              </a:ext>
            </a:extLst>
          </p:cNvPr>
          <p:cNvSpPr>
            <a:spLocks noGrp="1"/>
          </p:cNvSpPr>
          <p:nvPr/>
        </p:nvSpPr>
        <p:spPr>
          <a:xfrm>
            <a:off x="812767" y="1490836"/>
            <a:ext cx="3429000" cy="2451778"/>
          </a:xfrm>
          <a:custGeom>
            <a:avLst/>
            <a:gdLst/>
            <a:ahLst/>
            <a:cxnLst/>
            <a:rect l="l" t="t" r="r" b="b"/>
            <a:pathLst>
              <a:path w="3429000" h="2451778">
                <a:moveTo>
                  <a:pt x="0" y="38100"/>
                </a:moveTo>
                <a:lnTo>
                  <a:pt x="0" y="0"/>
                </a:lnTo>
                <a:lnTo>
                  <a:pt x="3429000" y="0"/>
                </a:lnTo>
                <a:lnTo>
                  <a:pt x="3429000" y="38100"/>
                </a:lnTo>
                <a:lnTo>
                  <a:pt x="0" y="38100"/>
                </a:lnTo>
                <a:close/>
              </a:path>
            </a:pathLst>
          </a:custGeom>
          <a:solidFill>
            <a:srgbClr val="EF4444"/>
          </a:solidFill>
        </p:spPr>
        <p:txBody>
          <a:bodyPr/>
          <a:lstStyle/>
          <a:p>
            <a:endParaRPr/>
          </a:p>
        </p:txBody>
      </p:sp>
      <p:sp>
        <p:nvSpPr>
          <p:cNvPr id="7" name="Text 5">
            <a:extLst>
              <a:ext uri="{FF2B5EF4-FFF2-40B4-BE49-F238E27FC236}">
                <a16:creationId xmlns:a16="http://schemas.microsoft.com/office/drawing/2014/main" id="{F1163B0F-CC2A-4DE8-BD64-41296B5E225B}"/>
              </a:ext>
            </a:extLst>
          </p:cNvPr>
          <p:cNvSpPr>
            <a:spLocks noGrp="1"/>
          </p:cNvSpPr>
          <p:nvPr/>
        </p:nvSpPr>
        <p:spPr>
          <a:xfrm>
            <a:off x="1064597" y="1733722"/>
            <a:ext cx="9251768" cy="4311528"/>
          </a:xfrm>
          <a:prstGeom prst="rect">
            <a:avLst/>
          </a:prstGeom>
          <a:noFill/>
        </p:spPr>
        <p:txBody>
          <a:bodyPr wrap="square" lIns="0" tIns="0" rIns="0" bIns="0" anchor="t">
            <a:normAutofit lnSpcReduction="10000"/>
          </a:bodyPr>
          <a:lstStyle/>
          <a:p>
            <a:pPr lvl="0"/>
            <a:r>
              <a:rPr lang="en-SG" sz="1600" b="1">
                <a:latin typeface="DM Sans" pitchFamily="2" charset="77"/>
              </a:rPr>
              <a:t>Prepared the data:</a:t>
            </a:r>
            <a:r>
              <a:rPr lang="en-SG" sz="1600">
                <a:latin typeface="DM Sans" pitchFamily="2" charset="77"/>
              </a:rPr>
              <a:t> catalogued and audited 1,951 recordings, assigned recording-level splits, cleaned signals, and created windows.</a:t>
            </a:r>
          </a:p>
          <a:p>
            <a:pPr lvl="0"/>
            <a:endParaRPr lang="en-SG" sz="1600">
              <a:latin typeface="DM Sans" pitchFamily="2" charset="77"/>
            </a:endParaRPr>
          </a:p>
          <a:p>
            <a:pPr lvl="0"/>
            <a:r>
              <a:rPr lang="en-SG" sz="1600" b="1">
                <a:latin typeface="DM Sans" pitchFamily="2" charset="77"/>
              </a:rPr>
              <a:t>Built two input types:</a:t>
            </a:r>
            <a:r>
              <a:rPr lang="en-SG" sz="1600">
                <a:latin typeface="DM Sans" pitchFamily="2" charset="77"/>
              </a:rPr>
              <a:t> </a:t>
            </a:r>
            <a:r>
              <a:rPr lang="en-SG" sz="1600">
                <a:highlight>
                  <a:srgbClr val="FFFF00"/>
                </a:highlight>
                <a:latin typeface="DM Sans" pitchFamily="2" charset="77"/>
              </a:rPr>
              <a:t>142 physics-based features</a:t>
            </a:r>
            <a:r>
              <a:rPr lang="en-SG" sz="1600">
                <a:latin typeface="DM Sans" pitchFamily="2" charset="77"/>
              </a:rPr>
              <a:t> per window and speed-relative </a:t>
            </a:r>
            <a:r>
              <a:rPr lang="en-SG" sz="1600">
                <a:highlight>
                  <a:srgbClr val="FFFF00"/>
                </a:highlight>
                <a:latin typeface="DM Sans" pitchFamily="2" charset="77"/>
              </a:rPr>
              <a:t>spectrograms</a:t>
            </a:r>
            <a:r>
              <a:rPr lang="en-SG" sz="1600">
                <a:latin typeface="DM Sans" pitchFamily="2" charset="77"/>
              </a:rPr>
              <a:t>.</a:t>
            </a:r>
          </a:p>
          <a:p>
            <a:pPr lvl="0"/>
            <a:endParaRPr lang="en-SG" sz="1600">
              <a:latin typeface="DM Sans" pitchFamily="2" charset="77"/>
            </a:endParaRPr>
          </a:p>
          <a:p>
            <a:pPr lvl="0"/>
            <a:r>
              <a:rPr lang="en-SG" sz="1600" b="1">
                <a:latin typeface="DM Sans" pitchFamily="2" charset="77"/>
              </a:rPr>
              <a:t>Trained the core models:</a:t>
            </a:r>
            <a:r>
              <a:rPr lang="en-SG" sz="1600">
                <a:latin typeface="DM Sans" pitchFamily="2" charset="77"/>
              </a:rPr>
              <a:t> a classical reference classifier, a CNN for known faults, and a healthy-only autoencoder / </a:t>
            </a:r>
            <a:r>
              <a:rPr lang="en-SG" sz="1600">
                <a:highlight>
                  <a:srgbClr val="FFFF00"/>
                </a:highlight>
                <a:latin typeface="DM Sans" pitchFamily="2" charset="77"/>
              </a:rPr>
              <a:t>Specialist AEs.</a:t>
            </a:r>
          </a:p>
          <a:p>
            <a:pPr lvl="0"/>
            <a:endParaRPr lang="en-SG" sz="1600">
              <a:latin typeface="DM Sans" pitchFamily="2" charset="77"/>
            </a:endParaRPr>
          </a:p>
          <a:p>
            <a:pPr lvl="0"/>
            <a:r>
              <a:rPr lang="en-SG" sz="1600" b="1">
                <a:latin typeface="DM Sans" pitchFamily="2" charset="77"/>
              </a:rPr>
              <a:t>Designed the decision system:</a:t>
            </a:r>
            <a:r>
              <a:rPr lang="en-SG" sz="1600">
                <a:latin typeface="DM Sans" pitchFamily="2" charset="77"/>
              </a:rPr>
              <a:t> combined classification, healthy-pattern checks, and Mahalanobis distance to allow an “unfamiliar-inspect further” outcome.</a:t>
            </a:r>
          </a:p>
          <a:p>
            <a:pPr lvl="0"/>
            <a:endParaRPr lang="en-SG" sz="1600">
              <a:latin typeface="DM Sans" pitchFamily="2" charset="77"/>
            </a:endParaRPr>
          </a:p>
          <a:p>
            <a:pPr lvl="0"/>
            <a:r>
              <a:rPr lang="en-SG" sz="1600" b="1">
                <a:latin typeface="DM Sans" pitchFamily="2" charset="77"/>
              </a:rPr>
              <a:t>Ran development experiments:</a:t>
            </a:r>
            <a:r>
              <a:rPr lang="en-SG" sz="1600">
                <a:latin typeface="DM Sans" pitchFamily="2" charset="77"/>
              </a:rPr>
              <a:t> known-fault classification, healthy-versus-faulty detection, and leave-one-condition-out unfamiliar-fault evaluation.</a:t>
            </a:r>
          </a:p>
          <a:p>
            <a:pPr lvl="0"/>
            <a:endParaRPr lang="en-SG" sz="1600">
              <a:latin typeface="DM Sans" pitchFamily="2" charset="77"/>
            </a:endParaRPr>
          </a:p>
          <a:p>
            <a:pPr lvl="0"/>
            <a:r>
              <a:rPr lang="en-SG" sz="1600" b="1">
                <a:latin typeface="DM Sans" pitchFamily="2" charset="77"/>
              </a:rPr>
              <a:t>Investigated alternatives:</a:t>
            </a:r>
            <a:r>
              <a:rPr lang="en-SG" sz="1600">
                <a:latin typeface="DM Sans" pitchFamily="2" charset="77"/>
              </a:rPr>
              <a:t> specialist autoencoders, data augmentation, denoising, a fault-only autoencoder, alternative confidence gates, and the gated </a:t>
            </a:r>
            <a:r>
              <a:rPr lang="en-SG" sz="1600" b="1">
                <a:latin typeface="DM Sans" pitchFamily="2" charset="77"/>
              </a:rPr>
              <a:t>E1</a:t>
            </a:r>
            <a:r>
              <a:rPr lang="en-SG" sz="1600">
                <a:latin typeface="DM Sans" pitchFamily="2" charset="77"/>
              </a:rPr>
              <a:t> specialist approach.</a:t>
            </a:r>
          </a:p>
          <a:p>
            <a:pPr lvl="0"/>
            <a:endParaRPr lang="en-SG" sz="1600">
              <a:latin typeface="DM Sans" pitchFamily="2" charset="77"/>
            </a:endParaRPr>
          </a:p>
          <a:p>
            <a:pPr lvl="0"/>
            <a:r>
              <a:rPr lang="en-SG" sz="1600" b="1">
                <a:latin typeface="DM Sans" pitchFamily="2" charset="77"/>
              </a:rPr>
              <a:t>Built the demonstration app:</a:t>
            </a:r>
            <a:r>
              <a:rPr lang="en-SG" sz="1600">
                <a:latin typeface="DM Sans" pitchFamily="2" charset="77"/>
              </a:rPr>
              <a:t> an interactive machine view and saved evidence reports. The Investigation Assistant remains proposed, not connected.</a:t>
            </a:r>
          </a:p>
        </p:txBody>
      </p:sp>
      <p:sp>
        <p:nvSpPr>
          <p:cNvPr id="6" name="Text 51">
            <a:extLst>
              <a:ext uri="{FF2B5EF4-FFF2-40B4-BE49-F238E27FC236}">
                <a16:creationId xmlns:a16="http://schemas.microsoft.com/office/drawing/2014/main" id="{548E6362-DD90-4EDE-6808-0A79A3291580}"/>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1007DC"/>
                </a:solidFill>
                <a:latin typeface="DM Sans" pitchFamily="34" charset="0"/>
                <a:ea typeface="DM Sans" pitchFamily="34" charset="-122"/>
                <a:cs typeface="DM Sans" pitchFamily="34" charset="-120"/>
              </a:rPr>
              <a:t>28</a:t>
            </a:r>
            <a:endParaRPr lang="en-US" sz="1200" dirty="0"/>
          </a:p>
        </p:txBody>
      </p:sp>
    </p:spTree>
    <p:extLst>
      <p:ext uri="{BB962C8B-B14F-4D97-AF65-F5344CB8AC3E}">
        <p14:creationId xmlns:p14="http://schemas.microsoft.com/office/powerpoint/2010/main" val="44782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07D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5A7A8-60E9-4934-A116-2E3451BA4D60}"/>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F5F3F0"/>
                </a:solidFill>
                <a:latin typeface="Poppins"/>
                <a:ea typeface="Poppins"/>
                <a:cs typeface="Poppins"/>
              </a:rPr>
              <a:t>MACHINESENSE</a:t>
            </a:r>
            <a:endParaRPr sz="1200"/>
          </a:p>
        </p:txBody>
      </p:sp>
      <p:sp>
        <p:nvSpPr>
          <p:cNvPr id="4" name="Text 2">
            <a:extLst>
              <a:ext uri="{FF2B5EF4-FFF2-40B4-BE49-F238E27FC236}">
                <a16:creationId xmlns:a16="http://schemas.microsoft.com/office/drawing/2014/main" id="{87B3BA63-0601-4848-B6C0-1DA63F7EF52B}"/>
              </a:ext>
            </a:extLst>
          </p:cNvPr>
          <p:cNvSpPr>
            <a:spLocks noGrp="1"/>
          </p:cNvSpPr>
          <p:nvPr/>
        </p:nvSpPr>
        <p:spPr>
          <a:xfrm>
            <a:off x="812767" y="2228949"/>
            <a:ext cx="9810750" cy="1310614"/>
          </a:xfrm>
          <a:prstGeom prst="rect">
            <a:avLst/>
          </a:prstGeom>
          <a:noFill/>
        </p:spPr>
        <p:txBody>
          <a:bodyPr wrap="square" lIns="0" tIns="0" rIns="0" bIns="0" anchor="t">
            <a:normAutofit/>
          </a:bodyPr>
          <a:lstStyle/>
          <a:p>
            <a:pPr marL="0" indent="0" algn="l">
              <a:lnSpc>
                <a:spcPts val="5060"/>
              </a:lnSpc>
              <a:buNone/>
            </a:pPr>
            <a:r>
              <a:rPr lang="en-US" sz="4600" b="1">
                <a:solidFill>
                  <a:srgbClr val="FFFFFF"/>
                </a:solidFill>
                <a:latin typeface="Poppins"/>
                <a:ea typeface="Poppins"/>
                <a:cs typeface="Poppins"/>
              </a:rPr>
              <a:t>Short Demo</a:t>
            </a:r>
            <a:endParaRPr sz="4600"/>
          </a:p>
        </p:txBody>
      </p:sp>
      <p:sp>
        <p:nvSpPr>
          <p:cNvPr id="6" name="Text 4">
            <a:extLst>
              <a:ext uri="{FF2B5EF4-FFF2-40B4-BE49-F238E27FC236}">
                <a16:creationId xmlns:a16="http://schemas.microsoft.com/office/drawing/2014/main" id="{72151099-AA39-4DA7-A1C7-B6DBA4AA3721}"/>
              </a:ext>
            </a:extLst>
          </p:cNvPr>
          <p:cNvSpPr>
            <a:spLocks noGrp="1"/>
          </p:cNvSpPr>
          <p:nvPr/>
        </p:nvSpPr>
        <p:spPr>
          <a:xfrm>
            <a:off x="812767" y="3004013"/>
            <a:ext cx="4193925" cy="292050"/>
          </a:xfrm>
          <a:prstGeom prst="rect">
            <a:avLst/>
          </a:prstGeom>
          <a:noFill/>
        </p:spPr>
        <p:txBody>
          <a:bodyPr wrap="square" lIns="0" tIns="0" rIns="0" bIns="0" anchor="t">
            <a:normAutofit/>
          </a:bodyPr>
          <a:lstStyle/>
          <a:p>
            <a:pPr marL="0" indent="0" algn="l">
              <a:lnSpc>
                <a:spcPts val="2100"/>
              </a:lnSpc>
              <a:buNone/>
            </a:pPr>
            <a:r>
              <a:rPr sz="1500">
                <a:solidFill>
                  <a:srgbClr val="FFFFFF"/>
                </a:solidFill>
                <a:latin typeface="DM Sans"/>
                <a:ea typeface="DM Sans"/>
                <a:cs typeface="DM Sans"/>
              </a:rPr>
              <a:t>github.com/bhuveshsharma09/MachineSense</a:t>
            </a:r>
            <a:endParaRPr sz="1500"/>
          </a:p>
        </p:txBody>
      </p:sp>
      <p:sp>
        <p:nvSpPr>
          <p:cNvPr id="7" name="Text 5">
            <a:extLst>
              <a:ext uri="{FF2B5EF4-FFF2-40B4-BE49-F238E27FC236}">
                <a16:creationId xmlns:a16="http://schemas.microsoft.com/office/drawing/2014/main" id="{751D3950-770D-4E6F-A904-E8A6363A5A73}"/>
              </a:ext>
            </a:extLst>
          </p:cNvPr>
          <p:cNvSpPr>
            <a:spLocks noGrp="1"/>
          </p:cNvSpPr>
          <p:nvPr/>
        </p:nvSpPr>
        <p:spPr>
          <a:xfrm>
            <a:off x="812767" y="3328445"/>
            <a:ext cx="2295732" cy="292050"/>
          </a:xfrm>
          <a:prstGeom prst="rect">
            <a:avLst/>
          </a:prstGeom>
          <a:noFill/>
        </p:spPr>
        <p:txBody>
          <a:bodyPr wrap="square" lIns="0" tIns="0" rIns="0" bIns="0" anchor="t">
            <a:normAutofit/>
          </a:bodyPr>
          <a:lstStyle/>
          <a:p>
            <a:pPr marL="0" indent="0" algn="l">
              <a:lnSpc>
                <a:spcPts val="2100"/>
              </a:lnSpc>
              <a:buNone/>
            </a:pPr>
            <a:r>
              <a:rPr sz="1500">
                <a:solidFill>
                  <a:srgbClr val="F5F3F0"/>
                </a:solidFill>
                <a:latin typeface="DM Sans"/>
                <a:ea typeface="DM Sans"/>
                <a:cs typeface="DM Sans"/>
              </a:rPr>
              <a:t>Bhuvesh Kumar · NUS-ISS</a:t>
            </a:r>
            <a:endParaRPr sz="1500"/>
          </a:p>
        </p:txBody>
      </p:sp>
      <p:pic>
        <p:nvPicPr>
          <p:cNvPr id="8" name="Picture 22">
            <a:extLst>
              <a:ext uri="{FF2B5EF4-FFF2-40B4-BE49-F238E27FC236}">
                <a16:creationId xmlns:a16="http://schemas.microsoft.com/office/drawing/2014/main" id="{8E94F10E-054F-ABD6-ECD0-D62427371CA2}"/>
              </a:ext>
            </a:extLst>
          </p:cNvPr>
          <p:cNvPicPr>
            <a:picLocks noChangeAspect="1"/>
          </p:cNvPicPr>
          <p:nvPr/>
        </p:nvPicPr>
        <p:blipFill>
          <a:blip r:embed="rId3"/>
          <a:stretch>
            <a:fillRect/>
          </a:stretch>
        </p:blipFill>
        <p:spPr>
          <a:xfrm>
            <a:off x="5352632" y="1318028"/>
            <a:ext cx="6411977" cy="3818744"/>
          </a:xfrm>
          <a:prstGeom prst="roundRect">
            <a:avLst>
              <a:gd name="adj" fmla="val 3183"/>
            </a:avLst>
          </a:prstGeom>
          <a:ln w="6350" cap="sq">
            <a:solidFill>
              <a:schemeClr val="bg1">
                <a:lumMod val="65000"/>
              </a:schemeClr>
            </a:solidFill>
            <a:miter/>
          </a:ln>
          <a:effectLst>
            <a:reflection endPos="0" dist="5000" dir="5400000" sy="-100000" algn="bl" rotWithShape="0"/>
          </a:effectLst>
        </p:spPr>
      </p:pic>
      <p:sp>
        <p:nvSpPr>
          <p:cNvPr id="3" name="Text 51">
            <a:extLst>
              <a:ext uri="{FF2B5EF4-FFF2-40B4-BE49-F238E27FC236}">
                <a16:creationId xmlns:a16="http://schemas.microsoft.com/office/drawing/2014/main" id="{DD889F0B-AEDA-2EB1-FDE9-8813BC8052C6}"/>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chemeClr val="bg1"/>
                </a:solidFill>
                <a:latin typeface="DM Sans" pitchFamily="34" charset="0"/>
                <a:ea typeface="DM Sans" pitchFamily="34" charset="-122"/>
                <a:cs typeface="DM Sans" pitchFamily="34" charset="-120"/>
              </a:rPr>
              <a:t>29</a:t>
            </a:r>
            <a:endParaRPr lang="en-US" sz="1200" dirty="0">
              <a:solidFill>
                <a:schemeClr val="bg1"/>
              </a:solidFill>
            </a:endParaRPr>
          </a:p>
        </p:txBody>
      </p:sp>
    </p:spTree>
    <p:extLst>
      <p:ext uri="{BB962C8B-B14F-4D97-AF65-F5344CB8AC3E}">
        <p14:creationId xmlns:p14="http://schemas.microsoft.com/office/powerpoint/2010/main" val="582944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07DC"/>
        </a:solidFill>
        <a:effectLst/>
      </p:bgPr>
    </p:bg>
    <p:spTree>
      <p:nvGrpSpPr>
        <p:cNvPr id="1" name="">
          <a:extLst>
            <a:ext uri="{FF2B5EF4-FFF2-40B4-BE49-F238E27FC236}">
              <a16:creationId xmlns:a16="http://schemas.microsoft.com/office/drawing/2014/main" id="{66CEE3A6-D428-B37F-ADF1-B6B0AAA5D0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7CC743-3C21-9ABA-4BF7-4C289123A1DA}"/>
              </a:ext>
            </a:extLst>
          </p:cNvPr>
          <p:cNvSpPr>
            <a:spLocks noGrp="1"/>
          </p:cNvSpPr>
          <p:nvPr/>
        </p:nvSpPr>
        <p:spPr>
          <a:xfrm>
            <a:off x="812767" y="406375"/>
            <a:ext cx="3924300" cy="238720"/>
          </a:xfrm>
          <a:prstGeom prst="rect">
            <a:avLst/>
          </a:prstGeom>
          <a:noFill/>
        </p:spPr>
        <p:txBody>
          <a:bodyPr wrap="square" lIns="0" tIns="0" rIns="0" bIns="0" anchor="t">
            <a:normAutofit/>
          </a:bodyPr>
          <a:lstStyle/>
          <a:p>
            <a:pPr marL="0" indent="0" algn="l">
              <a:lnSpc>
                <a:spcPts val="1680"/>
              </a:lnSpc>
              <a:buNone/>
            </a:pPr>
            <a:r>
              <a:rPr sz="1200" b="1" spc="100">
                <a:solidFill>
                  <a:srgbClr val="F5F3F0"/>
                </a:solidFill>
                <a:latin typeface="Poppins"/>
                <a:ea typeface="Poppins"/>
                <a:cs typeface="Poppins"/>
              </a:rPr>
              <a:t>MACHINESENSE</a:t>
            </a:r>
            <a:endParaRPr sz="1200"/>
          </a:p>
        </p:txBody>
      </p:sp>
      <p:sp>
        <p:nvSpPr>
          <p:cNvPr id="4" name="Text 2">
            <a:extLst>
              <a:ext uri="{FF2B5EF4-FFF2-40B4-BE49-F238E27FC236}">
                <a16:creationId xmlns:a16="http://schemas.microsoft.com/office/drawing/2014/main" id="{36924F09-51BD-56C5-50A2-C1FC7617A0E7}"/>
              </a:ext>
            </a:extLst>
          </p:cNvPr>
          <p:cNvSpPr>
            <a:spLocks noGrp="1"/>
          </p:cNvSpPr>
          <p:nvPr/>
        </p:nvSpPr>
        <p:spPr>
          <a:xfrm>
            <a:off x="812767" y="2228949"/>
            <a:ext cx="9810750" cy="1310614"/>
          </a:xfrm>
          <a:prstGeom prst="rect">
            <a:avLst/>
          </a:prstGeom>
          <a:noFill/>
        </p:spPr>
        <p:txBody>
          <a:bodyPr wrap="square" lIns="0" tIns="0" rIns="0" bIns="0" anchor="t">
            <a:normAutofit/>
          </a:bodyPr>
          <a:lstStyle/>
          <a:p>
            <a:pPr marL="0" indent="0" algn="l">
              <a:lnSpc>
                <a:spcPts val="5060"/>
              </a:lnSpc>
              <a:buNone/>
            </a:pPr>
            <a:r>
              <a:rPr sz="4600" b="1">
                <a:solidFill>
                  <a:srgbClr val="FFFFFF"/>
                </a:solidFill>
                <a:latin typeface="Poppins"/>
                <a:ea typeface="Poppins"/>
                <a:cs typeface="Poppins"/>
              </a:rPr>
              <a:t>Say what the evidence supports, and no more</a:t>
            </a:r>
            <a:endParaRPr sz="4600"/>
          </a:p>
        </p:txBody>
      </p:sp>
      <p:sp>
        <p:nvSpPr>
          <p:cNvPr id="5" name="Text 3">
            <a:extLst>
              <a:ext uri="{FF2B5EF4-FFF2-40B4-BE49-F238E27FC236}">
                <a16:creationId xmlns:a16="http://schemas.microsoft.com/office/drawing/2014/main" id="{EDF126FA-1B8A-2BF5-A577-E6B652DD94A2}"/>
              </a:ext>
            </a:extLst>
          </p:cNvPr>
          <p:cNvSpPr>
            <a:spLocks noGrp="1"/>
          </p:cNvSpPr>
          <p:nvPr/>
        </p:nvSpPr>
        <p:spPr>
          <a:xfrm>
            <a:off x="812767" y="3621300"/>
            <a:ext cx="9156700" cy="672968"/>
          </a:xfrm>
          <a:prstGeom prst="rect">
            <a:avLst/>
          </a:prstGeom>
          <a:noFill/>
        </p:spPr>
        <p:txBody>
          <a:bodyPr wrap="square" lIns="0" tIns="0" rIns="0" bIns="0" anchor="t">
            <a:normAutofit/>
          </a:bodyPr>
          <a:lstStyle/>
          <a:p>
            <a:pPr marL="0" indent="0" algn="l">
              <a:lnSpc>
                <a:spcPts val="2550"/>
              </a:lnSpc>
              <a:buNone/>
            </a:pPr>
            <a:r>
              <a:rPr sz="1700">
                <a:solidFill>
                  <a:srgbClr val="F5F3F0"/>
                </a:solidFill>
                <a:latin typeface="DM Sans"/>
                <a:ea typeface="DM Sans"/>
                <a:cs typeface="DM Sans"/>
              </a:rPr>
              <a:t>Three questions from one reading, a verdict that can decline to name a fault, and every number traceable to the stage that produced it.</a:t>
            </a:r>
            <a:endParaRPr sz="1700"/>
          </a:p>
        </p:txBody>
      </p:sp>
      <p:sp>
        <p:nvSpPr>
          <p:cNvPr id="6" name="Text 4">
            <a:extLst>
              <a:ext uri="{FF2B5EF4-FFF2-40B4-BE49-F238E27FC236}">
                <a16:creationId xmlns:a16="http://schemas.microsoft.com/office/drawing/2014/main" id="{F0E5BE94-0574-91CE-CBDA-6EE4FE0AA8BD}"/>
              </a:ext>
            </a:extLst>
          </p:cNvPr>
          <p:cNvSpPr>
            <a:spLocks noGrp="1"/>
          </p:cNvSpPr>
          <p:nvPr/>
        </p:nvSpPr>
        <p:spPr>
          <a:xfrm>
            <a:off x="812767" y="4618782"/>
            <a:ext cx="4193925" cy="292050"/>
          </a:xfrm>
          <a:prstGeom prst="rect">
            <a:avLst/>
          </a:prstGeom>
          <a:noFill/>
        </p:spPr>
        <p:txBody>
          <a:bodyPr wrap="square" lIns="0" tIns="0" rIns="0" bIns="0" anchor="t">
            <a:normAutofit/>
          </a:bodyPr>
          <a:lstStyle/>
          <a:p>
            <a:pPr marL="0" indent="0" algn="l">
              <a:lnSpc>
                <a:spcPts val="2100"/>
              </a:lnSpc>
              <a:buNone/>
            </a:pPr>
            <a:r>
              <a:rPr sz="1500">
                <a:solidFill>
                  <a:srgbClr val="FFFFFF"/>
                </a:solidFill>
                <a:latin typeface="DM Sans"/>
                <a:ea typeface="DM Sans"/>
                <a:cs typeface="DM Sans"/>
              </a:rPr>
              <a:t>github.com/bhuveshsharma09/MachineSense</a:t>
            </a:r>
            <a:endParaRPr sz="1500"/>
          </a:p>
        </p:txBody>
      </p:sp>
      <p:sp>
        <p:nvSpPr>
          <p:cNvPr id="7" name="Text 5">
            <a:extLst>
              <a:ext uri="{FF2B5EF4-FFF2-40B4-BE49-F238E27FC236}">
                <a16:creationId xmlns:a16="http://schemas.microsoft.com/office/drawing/2014/main" id="{4F7BE199-5251-4AF2-7692-94AB6CC2E3F3}"/>
              </a:ext>
            </a:extLst>
          </p:cNvPr>
          <p:cNvSpPr>
            <a:spLocks noGrp="1"/>
          </p:cNvSpPr>
          <p:nvPr/>
        </p:nvSpPr>
        <p:spPr>
          <a:xfrm>
            <a:off x="812767" y="4939678"/>
            <a:ext cx="2295732" cy="292050"/>
          </a:xfrm>
          <a:prstGeom prst="rect">
            <a:avLst/>
          </a:prstGeom>
          <a:noFill/>
        </p:spPr>
        <p:txBody>
          <a:bodyPr wrap="square" lIns="0" tIns="0" rIns="0" bIns="0" anchor="t">
            <a:normAutofit/>
          </a:bodyPr>
          <a:lstStyle/>
          <a:p>
            <a:pPr marL="0" indent="0" algn="l">
              <a:lnSpc>
                <a:spcPts val="2100"/>
              </a:lnSpc>
              <a:buNone/>
            </a:pPr>
            <a:r>
              <a:rPr sz="1500">
                <a:solidFill>
                  <a:srgbClr val="F5F3F0"/>
                </a:solidFill>
                <a:latin typeface="DM Sans"/>
                <a:ea typeface="DM Sans"/>
                <a:cs typeface="DM Sans"/>
              </a:rPr>
              <a:t>Bhuvesh Kumar · NUS-ISS</a:t>
            </a:r>
            <a:endParaRPr sz="1500"/>
          </a:p>
        </p:txBody>
      </p:sp>
      <p:sp>
        <p:nvSpPr>
          <p:cNvPr id="3" name="Text 51">
            <a:extLst>
              <a:ext uri="{FF2B5EF4-FFF2-40B4-BE49-F238E27FC236}">
                <a16:creationId xmlns:a16="http://schemas.microsoft.com/office/drawing/2014/main" id="{EC71E0DB-AF14-BDE7-B4BA-22F0BD87270F}"/>
              </a:ext>
            </a:extLst>
          </p:cNvPr>
          <p:cNvSpPr/>
          <p:nvPr/>
        </p:nvSpPr>
        <p:spPr>
          <a:xfrm>
            <a:off x="10566433"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a:solidFill>
                  <a:schemeClr val="bg1"/>
                </a:solidFill>
                <a:latin typeface="DM Sans" pitchFamily="34" charset="0"/>
                <a:ea typeface="DM Sans" pitchFamily="34" charset="-122"/>
                <a:cs typeface="DM Sans" pitchFamily="34" charset="-120"/>
              </a:rPr>
              <a:t>30</a:t>
            </a:r>
            <a:endParaRPr lang="en-US" sz="1200" dirty="0">
              <a:solidFill>
                <a:schemeClr val="bg1"/>
              </a:solidFill>
            </a:endParaRPr>
          </a:p>
        </p:txBody>
      </p:sp>
    </p:spTree>
    <p:extLst>
      <p:ext uri="{BB962C8B-B14F-4D97-AF65-F5344CB8AC3E}">
        <p14:creationId xmlns:p14="http://schemas.microsoft.com/office/powerpoint/2010/main" val="42928819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2950</TotalTime>
  <Words>3985</Words>
  <Application>Microsoft Macintosh PowerPoint</Application>
  <DocSecurity>0</DocSecurity>
  <PresentationFormat>Widescreen</PresentationFormat>
  <Paragraphs>421</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DM Sans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Eight attempts, one confirmed gain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Kumar Bhuvesh</cp:lastModifiedBy>
  <cp:revision>42</cp:revision>
  <dcterms:created xsi:type="dcterms:W3CDTF">2026-10-01T14:12:05Z</dcterms:created>
  <dcterms:modified xsi:type="dcterms:W3CDTF">2026-10-05T04:42:39Z</dcterms:modified>
</cp:coreProperties>
</file>