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62" r:id="rId8"/>
    <p:sldId id="290" r:id="rId37"/>
    <p:sldId id="291" r:id="rId38"/>
    <p:sldId id="292" r:id="rId39"/>
    <p:sldId id="293" r:id="rId40"/>
    <p:sldId id="294" r:id="rId41"/>
    <p:sldId id="295" r:id="rId42"/>
    <p:sldId id="296" r:id="rId43"/>
    <p:sldId id="297" r:id="rId44"/>
    <p:sldId id="298" r:id="rId45"/>
    <p:sldId id="299" r:id="rId46"/>
    <p:sldId id="300" r:id="rId47"/>
    <p:sldId id="301" r:id="rId48"/>
    <p:sldId id="287" r:id="rId30"/>
    <p:sldId id="302" r:id="rId49"/>
    <p:sldId id="303" r:id="rId50"/>
    <p:sldId id="304" r:id="rId51"/>
    <p:sldId id="305" r:id="rId52"/>
    <p:sldId id="306" r:id="rId53"/>
    <p:sldId id="307" r:id="rId54"/>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07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57"/>
    <p:restoredTop sz="94606"/>
  </p:normalViewPr>
  <p:slideViewPr>
    <p:cSldViewPr snapToGrid="0" snapToObjects="1">
      <p:cViewPr varScale="1">
        <p:scale>
          <a:sx n="119" d="100"/>
          <a:sy n="119" d="100"/>
        </p:scale>
        <p:origin x="1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slide" Target="slides/slide17.xml"/><Relationship Id="rId31" Type="http://schemas.openxmlformats.org/officeDocument/2006/relationships/slide" Target="slides/slide24.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5.xml"/><Relationship Id="rId38" Type="http://schemas.openxmlformats.org/officeDocument/2006/relationships/slide" Target="slides/slide6.xml"/><Relationship Id="rId39" Type="http://schemas.openxmlformats.org/officeDocument/2006/relationships/slide" Target="slides/slide7.xml"/><Relationship Id="rId40" Type="http://schemas.openxmlformats.org/officeDocument/2006/relationships/slide" Target="slides/slide8.xml"/><Relationship Id="rId41" Type="http://schemas.openxmlformats.org/officeDocument/2006/relationships/slide" Target="slides/slide9.xml"/><Relationship Id="rId42" Type="http://schemas.openxmlformats.org/officeDocument/2006/relationships/slide" Target="slides/slide10.xml"/><Relationship Id="rId43" Type="http://schemas.openxmlformats.org/officeDocument/2006/relationships/slide" Target="slides/slide11.xml"/><Relationship Id="rId44" Type="http://schemas.openxmlformats.org/officeDocument/2006/relationships/slide" Target="slides/slide12.xml"/><Relationship Id="rId45" Type="http://schemas.openxmlformats.org/officeDocument/2006/relationships/slide" Target="slides/slide13.xml"/><Relationship Id="rId46" Type="http://schemas.openxmlformats.org/officeDocument/2006/relationships/slide" Target="slides/slide14.xml"/><Relationship Id="rId47" Type="http://schemas.openxmlformats.org/officeDocument/2006/relationships/slide" Target="slides/slide15.xml"/><Relationship Id="rId48" Type="http://schemas.openxmlformats.org/officeDocument/2006/relationships/slide" Target="slides/slide16.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a:solidFill>
                  <a:srgbClr val="1E293B"/>
                </a:solidFill>
                <a:latin typeface="DM Sans"/>
                <a:ea typeface="DM Sans"/>
                <a:cs typeface="DM Sans"/>
              </a:rPr>
              <a:t>Hidden-fault recordings sent for further inspection (%)</a:t>
            </a:r>
          </a:p>
        </c:rich>
      </c:tx>
      <c:layout/>
      <c:overlay val="0"/>
    </c:title>
    <c:autoTitleDeleted val="0"/>
    <c:plotArea>
      <c:barChart>
        <c:barDir val="bar"/>
        <c:grouping val="clustered"/>
        <c:ser>
          <c:idx val="0"/>
          <c:order val="0"/>
          <c:tx>
            <c:strRef>
              <c:f>Sheet1!$B$1</c:f>
              <c:strCache>
                <c:ptCount val="1"/>
                <c:pt idx="0">
                  <c:v>Sent for inspection (%)</c:v>
                </c:pt>
              </c:strCache>
            </c:strRef>
          </c:tx>
          <c:dPt>
            <c:idx val="0"/>
            <c:spPr>
              <a:solidFill>
                <a:srgbClr val="1007DC"/>
              </a:solidFill>
            </c:spPr>
          </c:dPt>
          <c:dPt>
            <c:idx val="1"/>
            <c:spPr>
              <a:solidFill>
                <a:srgbClr val="1007DC"/>
              </a:solidFill>
            </c:spPr>
          </c:dPt>
          <c:dPt>
            <c:idx val="2"/>
            <c:spPr>
              <a:solidFill>
                <a:srgbClr val="1007DC"/>
              </a:solidFill>
            </c:spPr>
          </c:dPt>
          <c:dPt>
            <c:idx val="3"/>
            <c:spPr>
              <a:solidFill>
                <a:srgbClr val="1007DC"/>
              </a:solidFill>
            </c:spPr>
          </c:dPt>
          <c:dPt>
            <c:idx val="4"/>
            <c:spPr>
              <a:solidFill>
                <a:srgbClr val="1007DC"/>
              </a:solidFill>
            </c:spPr>
          </c:dPt>
          <c:dPt>
            <c:idx val="5"/>
            <c:spPr>
              <a:solidFill>
                <a:srgbClr val="1007DC"/>
              </a:solidFill>
            </c:spPr>
          </c:dPt>
          <c:dPt>
            <c:idx val="6"/>
            <c:spPr>
              <a:solidFill>
                <a:srgbClr val="B45309"/>
              </a:solidFill>
            </c:spPr>
          </c:dPt>
          <c:dPt>
            <c:idx val="7"/>
            <c:spPr>
              <a:solidFill>
                <a:srgbClr val="B45309"/>
              </a:solidFill>
            </c:spPr>
          </c:dPt>
          <c:dPt>
            <c:idx val="8"/>
            <c:spPr>
              <a:solidFill>
                <a:srgbClr val="B45309"/>
              </a:solidFill>
            </c:spPr>
          </c:dPt>
          <c:cat>
            <c:strRef>
              <c:f>Sheet1!$A$2:$A$10</c:f>
              <c:strCache>
                <c:ptCount val="9"/>
                <c:pt idx="0">
                  <c:v>Overhang outer race</c:v>
                </c:pt>
                <c:pt idx="1">
                  <c:v>Overhang cage</c:v>
                </c:pt>
                <c:pt idx="2">
                  <c:v>Overhang ball</c:v>
                </c:pt>
                <c:pt idx="3">
                  <c:v>Underhang outer race</c:v>
                </c:pt>
                <c:pt idx="4">
                  <c:v>Underhang cage</c:v>
                </c:pt>
                <c:pt idx="5">
                  <c:v>Underhang ball</c:v>
                </c:pt>
                <c:pt idx="6">
                  <c:v>Vertical misalignment</c:v>
                </c:pt>
                <c:pt idx="7">
                  <c:v>Horizontal misalignment</c:v>
                </c:pt>
                <c:pt idx="8">
                  <c:v>Imbalance</c:v>
                </c:pt>
              </c:strCache>
            </c:strRef>
          </c:cat>
          <c:val>
            <c:numRef>
              <c:f>Sheet1!$B$2:$B$10</c:f>
              <c:numCache>
                <c:formatCode>General</c:formatCode>
                <c:ptCount val="9"/>
                <c:pt idx="0">
                  <c:v>100</c:v>
                </c:pt>
                <c:pt idx="1">
                  <c:v>99</c:v>
                </c:pt>
                <c:pt idx="2">
                  <c:v>100</c:v>
                </c:pt>
                <c:pt idx="3">
                  <c:v>100</c:v>
                </c:pt>
                <c:pt idx="4">
                  <c:v>100</c:v>
                </c:pt>
                <c:pt idx="5">
                  <c:v>100</c:v>
                </c:pt>
                <c:pt idx="6">
                  <c:v>75</c:v>
                </c:pt>
                <c:pt idx="7">
                  <c:v>69</c:v>
                </c:pt>
                <c:pt idx="8">
                  <c:v>40</c:v>
                </c:pt>
              </c:numCache>
            </c:numRef>
          </c:val>
        </c:ser>
        <c:dLbls>
          <c:numFmt formatCode="0&quot;%&quot;" sourceLinked="0"/>
          <c:txPr>
            <a:bodyPr/>
            <a:lstStyle/>
            <a:p>
              <a:pPr>
                <a:defRPr sz="1100">
                  <a:solidFill>
                    <a:srgbClr val="1E293B"/>
                  </a:solidFill>
                  <a:latin typeface="DM San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100">
                <a:solidFill>
                  <a:srgbClr val="1E293B"/>
                </a:solidFill>
                <a:latin typeface="DM Sans"/>
              </a:defRPr>
            </a:pPr>
          </a:p>
        </c:txPr>
        <c:crossAx val="-2113994440"/>
        <c:crosses val="autoZero"/>
        <c:auto val="1"/>
        <c:lblAlgn val="ctr"/>
        <c:lblOffset val="100"/>
        <c:noMultiLvlLbl val="0"/>
      </c:catAx>
      <c:valAx>
        <c:axId val="-2113994440"/>
        <c:scaling>
          <c:max val="115.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a:t>
            </a:r>
          </a:p>
          <a:p>
            <a:r>
              <a:t>Hi, I'm Bhuvesh Kumar. This is MachineSense, my practice module project for Pattern Recognition Systems. It takes a five-second recording from a rotating machine, works out whether something is wrong, and shows the evidence behind every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a:t>
            </a:r>
          </a:p>
          <a:p>
            <a:r>
              <a:t>Let's start with why this matters. Almost everything we use depends on a motor somewhere. The clothes we wear, the food on the shelf, power, water, transport, hospitals. They all run on rotating machines.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a:t>
            </a:r>
          </a:p>
          <a:p>
            <a:r>
              <a:t>When one of these machines fails without warning, the cost is never just one part. One bearing gives way, the line stops, deliveries are late, and shelves go empty. The repair ends up costing far more than catching it early would have.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a:t>
            </a:r>
          </a:p>
          <a:p>
            <a:r>
              <a:t>That's what MachineSense does. A recording goes in. The diagnosis pipeline answers the three questions with separate models. The Mechanic view shows the finding as a model prediction, together with the measured evidence and what to check. There's also an optional assistant, running on a local language model, for follow-up questions. The diagnosis itself runs on a normal laptop CPU in about one second.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a:t>
            </a:r>
          </a:p>
          <a:p>
            <a:r>
              <a:t>So when a mechanic records a machine, what do they actually want to know? Three things.</a:t>
            </a:r>
          </a:p>
          <a:p>
            <a:r>
              <a:t>First, is it healthy? That's hard here, because the dataset has only 49 healthy recordings.</a:t>
            </a:r>
          </a:p>
          <a:p>
            <a:r>
              <a:t>Second, if it's faulty, which known fault is it? Published scores on this dataset are often inflated, because pieces of one recording end up in both training and testing.</a:t>
            </a:r>
          </a:p>
          <a:p>
            <a:r>
              <a:t>Third, is it a fault the system has never seen? A normal classifier always picks a label, even for something it was never trained on.</a:t>
            </a:r>
          </a:p>
          <a:p>
            <a:r>
              <a:t>And on top of all that, the mechanic needs the evidence and the uncertainty, not just a label.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I don't have data from a real plant, so I used MAFAULDA. It's a public test rig from the Federal University of Rio de Janeiro. There are 1,951 recordings, five seconds each, at 50 kilohertz. Each one has eight channels: a tachometer, two three-axis accelerometers and a microphone. There are ten conditions: normal, plus nine induced faults.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Data preparation has two parts. Part A runs once. I indexed the files, then audited every single one before training anything. The audit found tachometer glitches, and also bursts in the microphone in 168 files. I didn't remove any recordings. Then I split by recording, before cutting any windows, and sealed the test sets.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Part B runs for every recording, including uploads in the app. First I measure the shaft speed from the tachometer. Then I clean out the microphone bursts and a 22 kilohertz interference line, and cut the recording into nine one-second windows. Each window becomes two inputs: 142 physics features, and an order spectrogram for the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a:t>
            </a:r>
          </a:p>
          <a:p>
            <a:r>
              <a:t>Why so strict? This plot shows it. The same model scores a perfect 1.0 when windows are split at random, because parts of one recording sit on both sides. Hold out whole recordings and it's 0.984. Hold out whole folders and it drops to 0.878. That gap is exactly what I didn't want to fool myself with.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a:t>
            </a:r>
          </a:p>
          <a:p>
            <a:r>
              <a:t>Now the diagnosis itself. In the app, a recording comes either from the stored development set or from an uploaded CSV file. It goes through the same preparation, with quality checks. So you get a warning if, for example, the speed is outside what the models were calibrated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a:t>
            </a:r>
          </a:p>
          <a:p>
            <a:r>
              <a:t>Then the models. Each question has its own check.</a:t>
            </a:r>
          </a:p>
          <a:p>
            <a:r>
              <a:t>CNN-6, a small convolutional network, looks at the order spectrogram and names the known condition. Its confidence, plus a familiarity score on its internal features, decide whether that match can be trusted. If either check fails, the answer is "further inspection needed".</a:t>
            </a:r>
          </a:p>
          <a:p>
            <a:r>
              <a:t>Two models trained only on healthy data can add a caution to a healthy result, but they can't overturn the verdict.</a:t>
            </a:r>
          </a:p>
          <a:p>
            <a:r>
              <a:t>Everything is saved as an evidence record.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skip if short on time]</a:t>
            </a:r>
          </a:p>
          <a:p>
            <a:r>
              <a:t>Quickly on the choices. I picked every model on development data, against alternatives. CNN-6 scored best, 0.989, and it's small: about 0.6 million parameters and around 4 milliseconds per recording.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a:t>
            </a:r>
          </a:p>
          <a:p>
            <a:r>
              <a:t>And the stack. PyTorch for training. FastAPI and SQLite on the back end. React on the front end, with a 3D model of the rig. Gemma through LM Studio for the assistant. Nothing leaves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a:t>
            </a:r>
          </a:p>
          <a:p>
            <a:r>
              <a:t>These are the sealed-test results.</a:t>
            </a:r>
          </a:p>
          <a:p>
            <a:r>
              <a:t>Known faults: 0.916 macro-F1 on the closed test. That's below the development range of about 0.98 to 0.99, and that's exactly why a sealed test matters.</a:t>
            </a:r>
          </a:p>
          <a:p>
            <a:r>
              <a:t>Unfamiliar faults: 82 percent of hidden-fault recordings were sent for inspection.</a:t>
            </a:r>
          </a:p>
          <a:p>
            <a:r>
              <a:t>Healthy check: no fault was ever called healthy. The flip side is that most healthy test recordings were also sent for inspection. That's mainly because the healthy calibration only covered 18 to 38 hertz.</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a:t>
            </a:r>
          </a:p>
          <a:p>
            <a:r>
              <a:t>Breaking down the unfamiliar faults: unseen bearing faults are almost always caught, 99 to 100 percent. Shaft faults are harder. To the network, imbalance and misalignment look alike, so an unseen one often gets another shaft-fault label. The worst case is horizontal misalignment: 19 recordings were called healthy.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I evaluated the assistant twice.</a:t>
            </a:r>
          </a:p>
          <a:p>
            <a:r>
              <a:t>In the D7 pilot, no setup gave unsupported repair advice, even without the code review. But the review added refusals: 31 percent of answers.</a:t>
            </a:r>
          </a:p>
          <a:p>
            <a:r>
              <a:t>In App-9, conversation mode answered the actual question 69 percent of the time, against 39 percent for single-question mode.</a:t>
            </a:r>
          </a:p>
          <a:p>
            <a:r>
              <a:t>These are small pilots that I scored myself, so I treat them as early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a:t>
            </a:r>
          </a:p>
          <a:p>
            <a:r>
              <a:t>A few challenges shaped the project.</a:t>
            </a:r>
          </a:p>
          <a:p>
            <a:r>
              <a:t>The microphone had bursts linked to two classes. A simple classifier on them reached 99.3 percent precision. That's a pure shortcut, and the audit caught it before training.</a:t>
            </a:r>
          </a:p>
          <a:p>
            <a:r>
              <a:t>The perfect random-split score was the second trap.</a:t>
            </a:r>
          </a:p>
          <a:p>
            <a:r>
              <a:t>Healthy false alarms turned out to be about speed coverage, not the model.</a:t>
            </a:r>
          </a:p>
          <a:p>
            <a:r>
              <a:t>And of all the research ideas I declared in advance, only one passed its bar: specialist autoencoders, with about 10 points more unfamiliar-fault recall. It came after the freeze, so it's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The limitations: one rig with induced faults; only 49 healthy recordings, all from one folder; folder grouping is only a stand-in for recording sessions; and the sealed tests are now used up.</a:t>
            </a:r>
          </a:p>
          <a:p>
            <a:r>
              <a:t>Next steps: test the specialist autoencoders on new held-out data, collect healthy recordings across more speeds, and try a second rig.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a:t>
            </a:r>
          </a:p>
          <a:p>
            <a:r>
              <a:t>This is how the data is split. Three test sets were sealed and opened only once, on 28 September. That's a closed test of 290 recordings, an unseen-speed block of 776, and 370 recordings at the largest fault settings.</a:t>
            </a:r>
          </a:p>
          <a:p>
            <a:r>
              <a:t>Everything else, 804 recordings, is the development pool. That's where I trained the models, set the thresholds on 144 calibration recordings, and ran 81 hidden-fault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The written explanation comes from a local language model, but the model never sees raw scores. Code gives it a short summary with a fixed list of allowed numbers. Then code checks the draft: every number, no contradictions, no repair advice. If the draft fails twice, or the model is offline, the app shows a fixed template instead.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a:t>
            </a:r>
          </a:p>
          <a:p>
            <a:r>
              <a:t>The assistant is a ReAct agent. It reasons, calls one of six read-only tools, looks at the result, and repeats, within six tool calls and ninety seconds. It's locked to one case.</a:t>
            </a:r>
          </a:p>
          <a:p>
            <a:r>
              <a:t>Before anything is shown, code reviews the answer. Every number has to come from a tool result in that same turn. The model gets one chance to revise. If it fails again, the user sees the fixed report. And the assistant can never change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a:t>
            </a:r>
          </a:p>
          <a:p>
            <a:r>
              <a:t>Back to the slides. Before the numbers, one thing to be clear on. Development data chose the models. Only the final evaluation touched the sealed tests, once, after everything was frozen. The assistant was evaluated on development cases.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 min, live]</a:t>
            </a:r>
          </a:p>
          <a:p>
            <a:r>
              <a:t>Let me show you the app.</a:t>
            </a:r>
          </a:p>
          <a:p>
            <a:r>
              <a:t>- Home page: This is the home page, with the 3D rig and its sensors.</a:t>
            </a:r>
          </a:p>
          <a:p>
            <a:r>
              <a:t>- Healthy recording (normal__24.576): I'll start an investigation with a healthy recording. The verdict is healthy, and you can see the checks that support it.</a:t>
            </a:r>
          </a:p>
          <a:p>
            <a:r>
              <a:t>- Imbalance (imbalance__30g__19.456): Now a known fault. It says possible imbalance, and it clearly marks this as a model prediction. The rig highlights the rotor discs. The sensors show where the vibration changed compared with a healthy machine. Below that are the suggested checks.</a:t>
            </a:r>
          </a:p>
          <a:p>
            <a:r>
              <a:t>- Bearing fault (underhang__cage_fault__6g__35.0208): For a bearing fault, the envelope spectrum shows the bearing-defect lines.</a:t>
            </a:r>
          </a:p>
          <a:p>
            <a:r>
              <a:t>- Uncertain case (imbalance__10g__13.9264): This one is imbalance too, but the system isn't sure. So it says further inspection needed. That's by design: it doesn't guess.</a:t>
            </a:r>
          </a:p>
          <a:p>
            <a:r>
              <a:t>- Developer view: Switching to the Developer view, you can see every score against its threshold, and why the rule decided what it did.</a:t>
            </a:r>
          </a:p>
          <a:p>
            <a:r>
              <a:t>- Pipeline page: This page shows each stage of the diagnosis, step by step.</a:t>
            </a:r>
          </a:p>
          <a:p>
            <a:r>
              <a:t>- Assistant: I'll ask: "Which sensor shows the largest change?" It answers with sources you can check.</a:t>
            </a:r>
          </a:p>
          <a:p>
            <a:r>
              <a:t>- Unseen-fault page: Last, I hide horizontal misalignment from the model. You can see a case where the hidden fault is called healthy. I show this failure on purpose, because it's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B070-75E7-005A-344E-74FC7BCE5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CDD1B-A537-7937-6E8E-A58BA6113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77451-75D5-DA04-FC81-8B27A41BC26E}"/>
              </a:ext>
            </a:extLst>
          </p:cNvPr>
          <p:cNvSpPr>
            <a:spLocks noGrp="1"/>
          </p:cNvSpPr>
          <p:nvPr>
            <p:ph type="body" idx="1"/>
          </p:nvPr>
        </p:nvSpPr>
        <p:spPr/>
        <p:txBody>
          <a:bodyPr/>
          <a:lstStyle/>
          <a:p>
            <a:r>
              <a:t>[15 s]</a:t>
            </a:r>
          </a:p>
          <a:p>
            <a:r>
              <a:t>To wrap up: MachineSense answers three questions from one recording. It scores 0.916 on sealed tests, and it sends 82 percent of unfamiliar faults for inspection. And it shows the evidence and the limits next to every verdict. The idea throughout is simple: say what the evidence supports, and no more. Thank you.</a:t>
            </a:r>
          </a:p>
        </p:txBody>
      </p:sp>
      <p:sp>
        <p:nvSpPr>
          <p:cNvPr id="4" name="Slide Number Placeholder 3">
            <a:extLst>
              <a:ext uri="{FF2B5EF4-FFF2-40B4-BE49-F238E27FC236}">
                <a16:creationId xmlns:a16="http://schemas.microsoft.com/office/drawing/2014/main" id="{31323490-411E-0682-81DF-A49DFB5CF28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9235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5F3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812763"/>
            <a:ext cx="6705699" cy="405061"/>
          </a:xfrm>
          <a:prstGeom prst="rect">
            <a:avLst/>
          </a:prstGeom>
          <a:noFill/>
          <a:ln/>
        </p:spPr>
        <p:txBody>
          <a:bodyPr wrap="square" lIns="0" tIns="0" rIns="0" bIns="0" rtlCol="0" anchor="t"/>
          <a:lstStyle>
            <a:lvl1pPr marL="0" indent="0" algn="l">
              <a:lnSpc>
                <a:spcPct val="115000"/>
              </a:lnSpc>
              <a:buNone/>
              <a:defRPr lang="en-US" sz="2700" dirty="0">
                <a:solidFill>
                  <a:srgbClr val="1007DC"/>
                </a:solidFill>
                <a:latin typeface="Poppins" pitchFamily="34" charset="0"/>
                <a:ea typeface="Poppins" pitchFamily="34" charset="-122"/>
                <a:cs typeface="Poppins"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767" y="1522623"/>
            <a:ext cx="10566433" cy="4522577"/>
          </a:xfrm>
          <a:prstGeom prst="rect">
            <a:avLst/>
          </a:prstGeom>
          <a:noFill/>
          <a:ln/>
        </p:spPr>
        <p:txBody>
          <a:bodyPr wrap="square" lIns="0" tIns="0" rIns="0" bIns="0" rtlCol="0" anchor="t"/>
          <a:lstStyle>
            <a:lvl1pPr marL="0" indent="0" algn="l">
              <a:lnSpc>
                <a:spcPct val="140000"/>
              </a:lnSpc>
              <a:buNone/>
              <a:defRPr lang="en-US" sz="1600" dirty="0">
                <a:solidFill>
                  <a:srgbClr val="1007D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4622043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8.xml"/><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72B637-22BE-4EC7-8604-41795341B56F}"/>
              </a:ext>
            </a:extLst>
          </p:cNvPr>
          <p:cNvSpPr>
            <a:spLocks noGrp="1"/>
          </p:cNvSpPr>
          <p:nvPr/>
        </p:nvSpPr>
        <p:spPr>
          <a:xfrm>
            <a:off x="799515" y="1535262"/>
            <a:ext cx="1088346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NUS-ISS · PATTERN RECOGNITION SYSTEMS</a:t>
            </a:r>
            <a:endParaRPr sz="1200"/>
          </a:p>
        </p:txBody>
      </p:sp>
      <p:sp>
        <p:nvSpPr>
          <p:cNvPr id="3" name="Text 1">
            <a:extLst>
              <a:ext uri="{FF2B5EF4-FFF2-40B4-BE49-F238E27FC236}">
                <a16:creationId xmlns:a16="http://schemas.microsoft.com/office/drawing/2014/main" id="{C7AEE5E3-9D80-4635-8975-BBA0BB59D305}"/>
              </a:ext>
            </a:extLst>
          </p:cNvPr>
          <p:cNvSpPr>
            <a:spLocks noGrp="1"/>
          </p:cNvSpPr>
          <p:nvPr/>
        </p:nvSpPr>
        <p:spPr>
          <a:xfrm>
            <a:off x="799515" y="2002582"/>
            <a:ext cx="10883460" cy="889016"/>
          </a:xfrm>
          <a:prstGeom prst="rect">
            <a:avLst/>
          </a:prstGeom>
          <a:noFill/>
        </p:spPr>
        <p:txBody>
          <a:bodyPr wrap="square" lIns="0" tIns="0" rIns="0" bIns="0" anchor="t">
            <a:normAutofit fontScale="92500"/>
          </a:bodyPr>
          <a:lstStyle/>
          <a:p>
            <a:pPr marL="0" indent="0" algn="l">
              <a:lnSpc>
                <a:spcPts val="6800"/>
              </a:lnSpc>
              <a:buNone/>
            </a:pPr>
            <a:r>
              <a:rPr sz="6800" b="1" spc="-200">
                <a:solidFill>
                  <a:srgbClr val="1007DC"/>
                </a:solidFill>
                <a:latin typeface="Poppins"/>
                <a:ea typeface="Poppins"/>
                <a:cs typeface="Poppins"/>
              </a:rPr>
              <a:t>MACHINESENSE</a:t>
            </a:r>
            <a:endParaRPr sz="6800"/>
          </a:p>
        </p:txBody>
      </p:sp>
      <p:sp>
        <p:nvSpPr>
          <p:cNvPr id="4" name="Text 2">
            <a:extLst>
              <a:ext uri="{FF2B5EF4-FFF2-40B4-BE49-F238E27FC236}">
                <a16:creationId xmlns:a16="http://schemas.microsoft.com/office/drawing/2014/main" id="{A8FEF408-2101-4E5B-B409-7B3627D9E234}"/>
              </a:ext>
            </a:extLst>
          </p:cNvPr>
          <p:cNvSpPr>
            <a:spLocks noGrp="1"/>
          </p:cNvSpPr>
          <p:nvPr/>
        </p:nvSpPr>
        <p:spPr>
          <a:xfrm>
            <a:off x="799515" y="3120199"/>
            <a:ext cx="7589520" cy="779628"/>
          </a:xfrm>
          <a:prstGeom prst="rect">
            <a:avLst/>
          </a:prstGeom>
          <a:noFill/>
        </p:spPr>
        <p:txBody>
          <a:bodyPr wrap="square" lIns="0" tIns="0" rIns="0" bIns="0" anchor="t">
            <a:noAutofit/>
          </a:bodyPr>
          <a:lstStyle/>
          <a:p>
            <a:pPr marL="0" indent="0" algn="l">
              <a:lnSpc>
                <a:spcPts val="2970"/>
              </a:lnSpc>
              <a:buNone/>
            </a:pPr>
            <a:r>
              <a:rPr sz="2200">
                <a:solidFill>
                  <a:srgbClr val="1E293B"/>
                </a:solidFill>
                <a:latin typeface="DM Sans"/>
                <a:ea typeface="DM Sans"/>
                <a:cs typeface="DM Sans"/>
              </a:rPr>
              <a:t>Multi-sensor fault diagnosis for </a:t>
            </a:r>
            <a:r>
              <a:rPr sz="2200" b="1">
                <a:solidFill>
                  <a:schemeClr val="bg1"/>
                </a:solidFill>
                <a:highlight>
                  <a:srgbClr val="0000FF"/>
                </a:highlight>
                <a:latin typeface="DM Sans"/>
                <a:ea typeface="DM Sans"/>
                <a:cs typeface="DM Sans"/>
              </a:rPr>
              <a:t>rotating machinery</a:t>
            </a:r>
            <a:r>
              <a:rPr sz="2200">
                <a:solidFill>
                  <a:srgbClr val="1E293B"/>
                </a:solidFill>
                <a:latin typeface="DM Sans"/>
                <a:ea typeface="DM Sans"/>
                <a:cs typeface="DM Sans"/>
              </a:rPr>
              <a:t>, from a five-second reading to an evidence-supported inspection decision.</a:t>
            </a:r>
            <a:endParaRPr sz="2200"/>
          </a:p>
        </p:txBody>
      </p:sp>
      <p:sp>
        <p:nvSpPr>
          <p:cNvPr id="5" name="Text 3">
            <a:extLst>
              <a:ext uri="{FF2B5EF4-FFF2-40B4-BE49-F238E27FC236}">
                <a16:creationId xmlns:a16="http://schemas.microsoft.com/office/drawing/2014/main" id="{DD35B799-F4BC-40FE-BEAE-AA59869F555F}"/>
              </a:ext>
            </a:extLst>
          </p:cNvPr>
          <p:cNvSpPr>
            <a:spLocks noGrp="1"/>
          </p:cNvSpPr>
          <p:nvPr/>
        </p:nvSpPr>
        <p:spPr>
          <a:xfrm>
            <a:off x="799515" y="4434840"/>
            <a:ext cx="2441787" cy="274274"/>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Bhuvesh Kumar · A0243823H</a:t>
            </a:r>
            <a:endParaRPr sz="1400"/>
          </a:p>
        </p:txBody>
      </p:sp>
      <p:sp>
        <p:nvSpPr>
          <p:cNvPr id="6" name="Text 4">
            <a:extLst>
              <a:ext uri="{FF2B5EF4-FFF2-40B4-BE49-F238E27FC236}">
                <a16:creationId xmlns:a16="http://schemas.microsoft.com/office/drawing/2014/main" id="{4E5C2296-AFA0-41D7-A205-0881E8F523D2}"/>
              </a:ext>
            </a:extLst>
          </p:cNvPr>
          <p:cNvSpPr>
            <a:spLocks noGrp="1"/>
          </p:cNvSpPr>
          <p:nvPr/>
        </p:nvSpPr>
        <p:spPr>
          <a:xfrm>
            <a:off x="799515" y="4681728"/>
            <a:ext cx="3045165" cy="274274"/>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MTech AI Systems · Practice Module</a:t>
            </a:r>
            <a:endParaRPr sz="1400"/>
          </a:p>
        </p:txBody>
      </p:sp>
      <p:pic>
        <p:nvPicPr>
          <p:cNvPr id="7" name="ppt01_title_hero" descr="new_ppt01_title_hero.png"/>
          <p:cNvPicPr>
            <a:picLocks noChangeAspect="1"/>
          </p:cNvPicPr>
          <p:nvPr/>
        </p:nvPicPr>
        <p:blipFill>
          <a:blip r:embed="rId5"/>
          <a:stretch>
            <a:fillRect/>
          </a:stretch>
        </p:blipFill>
        <p:spPr>
          <a:xfrm>
            <a:off x="8275320" y="3487045"/>
            <a:ext cx="3566160" cy="3096634"/>
          </a:xfrm>
          <a:prstGeom prst="rect">
            <a:avLst/>
          </a:prstGeom>
        </p:spPr>
      </p:pic>
    </p:spTree>
    <p:extLst>
      <p:ext uri="{BB962C8B-B14F-4D97-AF65-F5344CB8AC3E}">
        <p14:creationId xmlns:p14="http://schemas.microsoft.com/office/powerpoint/2010/main" val="434044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9811744-8039-4390-8401-DD947EEECD4B}"/>
              </a:ext>
            </a:extLst>
          </p:cNvPr>
          <p:cNvSpPr>
            <a:spLocks noGrp="1"/>
          </p:cNvSpPr>
          <p:nvPr/>
        </p:nvSpPr>
        <p:spPr>
          <a:xfrm>
            <a:off x="812767" y="406383"/>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BA2AD87-CF0F-459C-AAF4-DF78708C30E0}"/>
              </a:ext>
            </a:extLst>
          </p:cNvPr>
          <p:cNvSpPr>
            <a:spLocks noGrp="1"/>
          </p:cNvSpPr>
          <p:nvPr/>
        </p:nvSpPr>
        <p:spPr>
          <a:xfrm>
            <a:off x="5594614" y="812767"/>
            <a:ext cx="1053571" cy="215569"/>
          </a:xfrm>
          <a:prstGeom prst="rect">
            <a:avLst/>
          </a:prstGeom>
          <a:noFill/>
        </p:spPr>
        <p:txBody>
          <a:bodyPr wrap="square" lIns="0" tIns="0" rIns="0" bIns="0" anchor="t">
            <a:normAutofit/>
          </a:bodyPr>
          <a:lstStyle/>
          <a:p>
            <a:pPr marL="0" indent="0" algn="l">
              <a:lnSpc>
                <a:spcPts val="1523"/>
              </a:lnSpc>
              <a:buNone/>
            </a:pPr>
            <a:r>
              <a:rPr sz="1088" b="1" spc="100">
                <a:solidFill>
                  <a:srgbClr val="64748B"/>
                </a:solidFill>
                <a:latin typeface="Poppins"/>
                <a:ea typeface="Poppins"/>
                <a:cs typeface="Poppins"/>
              </a:rPr>
              <a:t>MOTIVATION</a:t>
            </a:r>
            <a:endParaRPr sz="1088"/>
          </a:p>
        </p:txBody>
      </p:sp>
      <p:sp>
        <p:nvSpPr>
          <p:cNvPr id="4" name="Text 2">
            <a:extLst>
              <a:ext uri="{FF2B5EF4-FFF2-40B4-BE49-F238E27FC236}">
                <a16:creationId xmlns:a16="http://schemas.microsoft.com/office/drawing/2014/main" id="{0D62F965-2A52-4CA7-9598-389B538E2BA6}"/>
              </a:ext>
            </a:extLst>
          </p:cNvPr>
          <p:cNvSpPr>
            <a:spLocks noGrp="1"/>
          </p:cNvSpPr>
          <p:nvPr/>
        </p:nvSpPr>
        <p:spPr>
          <a:xfrm>
            <a:off x="1190625" y="1218819"/>
            <a:ext cx="9810750" cy="411444"/>
          </a:xfrm>
          <a:prstGeom prst="rect">
            <a:avLst/>
          </a:prstGeom>
          <a:noFill/>
        </p:spPr>
        <p:txBody>
          <a:bodyPr wrap="square" lIns="0" tIns="0" rIns="0" bIns="0" anchor="t">
            <a:normAutofit/>
          </a:bodyPr>
          <a:lstStyle/>
          <a:p>
            <a:pPr marL="0" indent="0" algn="ctr">
              <a:lnSpc>
                <a:spcPts val="3069"/>
              </a:lnSpc>
              <a:buNone/>
            </a:pPr>
            <a:r>
              <a:rPr sz="2790" b="1">
                <a:solidFill>
                  <a:srgbClr val="1007DC"/>
                </a:solidFill>
                <a:latin typeface="Poppins"/>
                <a:ea typeface="Poppins"/>
                <a:cs typeface="Poppins"/>
              </a:rPr>
              <a:t>Machines keep our lives moving</a:t>
            </a:r>
            <a:endParaRPr sz="2790"/>
          </a:p>
        </p:txBody>
      </p:sp>
      <p:sp>
        <p:nvSpPr>
          <p:cNvPr id="6" name="Text 3">
            <a:extLst>
              <a:ext uri="{FF2B5EF4-FFF2-40B4-BE49-F238E27FC236}">
                <a16:creationId xmlns:a16="http://schemas.microsoft.com/office/drawing/2014/main" id="{33373EDB-177B-4DC5-B90F-2775E2E3E616}"/>
              </a:ext>
            </a:extLst>
          </p:cNvPr>
          <p:cNvSpPr>
            <a:spLocks noGrp="1"/>
          </p:cNvSpPr>
          <p:nvPr/>
        </p:nvSpPr>
        <p:spPr>
          <a:xfrm>
            <a:off x="1517650" y="5382451"/>
            <a:ext cx="9156700" cy="484948"/>
          </a:xfrm>
          <a:prstGeom prst="rect">
            <a:avLst/>
          </a:prstGeom>
          <a:noFill/>
        </p:spPr>
        <p:txBody>
          <a:bodyPr wrap="square" lIns="0" tIns="0" rIns="0" bIns="0" anchor="t">
            <a:normAutofit/>
          </a:bodyPr>
          <a:lstStyle/>
          <a:p>
            <a:pPr marL="0" indent="0" algn="ctr">
              <a:lnSpc>
                <a:spcPts val="1808"/>
              </a:lnSpc>
              <a:buNone/>
            </a:pPr>
            <a:r>
              <a:rPr sz="1291">
                <a:solidFill>
                  <a:srgbClr val="1E293B"/>
                </a:solidFill>
                <a:latin typeface="DM Sans"/>
                <a:ea typeface="DM Sans"/>
                <a:cs typeface="DM Sans"/>
              </a:rPr>
              <a:t>The clothes we wear, the food on the shelf, the power in the socket, the water in the tap, everything that moves and every hospital that stays open all run on rotating machinery.</a:t>
            </a:r>
            <a:endParaRPr sz="1291"/>
          </a:p>
        </p:txBody>
      </p:sp>
      <p:sp>
        <p:nvSpPr>
          <p:cNvPr id="5" name="Text 51">
            <a:extLst>
              <a:ext uri="{FF2B5EF4-FFF2-40B4-BE49-F238E27FC236}">
                <a16:creationId xmlns:a16="http://schemas.microsoft.com/office/drawing/2014/main" id="{359FF3EC-3DF8-BD44-0276-66A3BECC28EC}"/>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02</a:t>
            </a:r>
            <a:endParaRPr lang="en-US" sz="1200" dirty="0"/>
          </a:p>
        </p:txBody>
      </p:sp>
      <p:pic>
        <p:nvPicPr>
          <p:cNvPr id="7" name="ppt02_machines_everywhere" descr="new_ppt02_machines_everywhere.png"/>
          <p:cNvPicPr>
            <a:picLocks noChangeAspect="1"/>
          </p:cNvPicPr>
          <p:nvPr/>
        </p:nvPicPr>
        <p:blipFill>
          <a:blip r:embed="rId4"/>
          <a:stretch>
            <a:fillRect/>
          </a:stretch>
        </p:blipFill>
        <p:spPr>
          <a:xfrm>
            <a:off x="2637820" y="1783080"/>
            <a:ext cx="6885878" cy="3474720"/>
          </a:xfrm>
          <a:prstGeom prst="rect">
            <a:avLst/>
          </a:prstGeom>
        </p:spPr>
      </p:pic>
    </p:spTree>
    <p:extLst>
      <p:ext uri="{BB962C8B-B14F-4D97-AF65-F5344CB8AC3E}">
        <p14:creationId xmlns:p14="http://schemas.microsoft.com/office/powerpoint/2010/main" val="1775249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0BB646-7B66-410E-8250-64BD11AE6760}"/>
              </a:ext>
            </a:extLst>
          </p:cNvPr>
          <p:cNvSpPr>
            <a:spLocks noGrp="1"/>
          </p:cNvSpPr>
          <p:nvPr/>
        </p:nvSpPr>
        <p:spPr>
          <a:xfrm>
            <a:off x="812767" y="406383"/>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2ACCE707-8B76-4A8C-B499-783FC9E27976}"/>
              </a:ext>
            </a:extLst>
          </p:cNvPr>
          <p:cNvSpPr>
            <a:spLocks noGrp="1"/>
          </p:cNvSpPr>
          <p:nvPr/>
        </p:nvSpPr>
        <p:spPr>
          <a:xfrm>
            <a:off x="1190625" y="812766"/>
            <a:ext cx="9810750" cy="785002"/>
          </a:xfrm>
          <a:prstGeom prst="rect">
            <a:avLst/>
          </a:prstGeom>
          <a:noFill/>
        </p:spPr>
        <p:txBody>
          <a:bodyPr wrap="square" lIns="0" tIns="0" rIns="0" bIns="0" anchor="t">
            <a:normAutofit/>
          </a:bodyPr>
          <a:lstStyle/>
          <a:p>
            <a:pPr marL="0" indent="0" algn="ctr">
              <a:lnSpc>
                <a:spcPts val="3005"/>
              </a:lnSpc>
              <a:buNone/>
            </a:pPr>
            <a:r>
              <a:rPr sz="2732" b="1">
                <a:solidFill>
                  <a:srgbClr val="1007DC"/>
                </a:solidFill>
                <a:latin typeface="Poppins"/>
                <a:ea typeface="Poppins"/>
                <a:cs typeface="Poppins"/>
              </a:rPr>
              <a:t>What happens when a machine breaks down without warning?</a:t>
            </a:r>
            <a:endParaRPr sz="2732"/>
          </a:p>
        </p:txBody>
      </p:sp>
      <p:sp>
        <p:nvSpPr>
          <p:cNvPr id="5" name="Text 2">
            <a:extLst>
              <a:ext uri="{FF2B5EF4-FFF2-40B4-BE49-F238E27FC236}">
                <a16:creationId xmlns:a16="http://schemas.microsoft.com/office/drawing/2014/main" id="{C0755730-E18B-49EA-99B5-0408125D8AD8}"/>
              </a:ext>
            </a:extLst>
          </p:cNvPr>
          <p:cNvSpPr>
            <a:spLocks noGrp="1"/>
          </p:cNvSpPr>
          <p:nvPr/>
        </p:nvSpPr>
        <p:spPr>
          <a:xfrm>
            <a:off x="1517650" y="5389975"/>
            <a:ext cx="9156700" cy="477424"/>
          </a:xfrm>
          <a:prstGeom prst="rect">
            <a:avLst/>
          </a:prstGeom>
          <a:noFill/>
        </p:spPr>
        <p:txBody>
          <a:bodyPr wrap="square" lIns="0" tIns="0" rIns="0" bIns="0" anchor="t">
            <a:normAutofit/>
          </a:bodyPr>
          <a:lstStyle/>
          <a:p>
            <a:pPr marL="0" indent="0" algn="ctr">
              <a:lnSpc>
                <a:spcPts val="1783"/>
              </a:lnSpc>
              <a:buNone/>
            </a:pPr>
            <a:r>
              <a:rPr sz="1273">
                <a:solidFill>
                  <a:srgbClr val="1E293B"/>
                </a:solidFill>
                <a:latin typeface="DM Sans"/>
                <a:ea typeface="DM Sans"/>
                <a:cs typeface="DM Sans"/>
              </a:rPr>
              <a:t>One bearing gives way and the line stops. Production halts, deliveries are late, shelves empty, and the repair costs far more than it would have before the failure.</a:t>
            </a:r>
            <a:endParaRPr sz="1273"/>
          </a:p>
        </p:txBody>
      </p:sp>
      <p:sp>
        <p:nvSpPr>
          <p:cNvPr id="4" name="Text 51">
            <a:extLst>
              <a:ext uri="{FF2B5EF4-FFF2-40B4-BE49-F238E27FC236}">
                <a16:creationId xmlns:a16="http://schemas.microsoft.com/office/drawing/2014/main" id="{5C6C4545-37DE-2138-4414-D686386065EE}"/>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03</a:t>
            </a:r>
            <a:endParaRPr lang="en-US" sz="1200" dirty="0"/>
          </a:p>
        </p:txBody>
      </p:sp>
      <p:pic>
        <p:nvPicPr>
          <p:cNvPr id="6" name="ppt03_breakdown_chain" descr="new_ppt03_breakdown_chain.png"/>
          <p:cNvPicPr>
            <a:picLocks noChangeAspect="1"/>
          </p:cNvPicPr>
          <p:nvPr/>
        </p:nvPicPr>
        <p:blipFill>
          <a:blip r:embed="rId4"/>
          <a:stretch>
            <a:fillRect/>
          </a:stretch>
        </p:blipFill>
        <p:spPr>
          <a:xfrm>
            <a:off x="1280160" y="2456922"/>
            <a:ext cx="9601200" cy="2127035"/>
          </a:xfrm>
          <a:prstGeom prst="rect">
            <a:avLst/>
          </a:prstGeom>
        </p:spPr>
      </p:pic>
    </p:spTree>
    <p:extLst>
      <p:ext uri="{BB962C8B-B14F-4D97-AF65-F5344CB8AC3E}">
        <p14:creationId xmlns:p14="http://schemas.microsoft.com/office/powerpoint/2010/main" val="2137379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A477378-3149-49EC-A99B-67411849725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4" name="Text 2">
            <a:extLst>
              <a:ext uri="{FF2B5EF4-FFF2-40B4-BE49-F238E27FC236}">
                <a16:creationId xmlns:a16="http://schemas.microsoft.com/office/drawing/2014/main" id="{6D10224F-FFBB-4F84-ADD6-797D0361ED67}"/>
              </a:ext>
            </a:extLst>
          </p:cNvPr>
          <p:cNvSpPr>
            <a:spLocks noGrp="1"/>
          </p:cNvSpPr>
          <p:nvPr/>
        </p:nvSpPr>
        <p:spPr>
          <a:xfrm>
            <a:off x="911243" y="6245742"/>
            <a:ext cx="9601200" cy="231273"/>
          </a:xfrm>
          <a:prstGeom prst="rect">
            <a:avLst/>
          </a:prstGeom>
          <a:noFill/>
        </p:spPr>
        <p:txBody>
          <a:bodyPr wrap="square" lIns="0" tIns="0" rIns="0" bIns="0" anchor="t">
            <a:normAutofit fontScale="77500" lnSpcReduction="20000"/>
          </a:bodyPr>
          <a:lstStyle/>
          <a:p>
            <a:pPr marL="0" indent="0" algn="l">
              <a:lnSpc>
                <a:spcPts val="1960"/>
              </a:lnSpc>
              <a:buNone/>
            </a:pPr>
            <a:r>
              <a:rPr sz="1400">
                <a:solidFill>
                  <a:srgbClr val="64748B"/>
                </a:solidFill>
                <a:latin typeface="DM Sans"/>
                <a:ea typeface="DM Sans"/>
                <a:cs typeface="DM Sans"/>
              </a:rPr>
              <a:t>And a mechanic needs the evidence and the uncertainty behind each answer, not just a label.</a:t>
            </a:r>
            <a:endParaRPr sz="1400"/>
          </a:p>
        </p:txBody>
      </p:sp>
      <p:sp>
        <p:nvSpPr>
          <p:cNvPr id="5" name="Shape 3">
            <a:extLst>
              <a:ext uri="{FF2B5EF4-FFF2-40B4-BE49-F238E27FC236}">
                <a16:creationId xmlns:a16="http://schemas.microsoft.com/office/drawing/2014/main" id="{4D85D01D-4866-4A82-8F77-4A550BEC06F2}"/>
              </a:ext>
            </a:extLst>
          </p:cNvPr>
          <p:cNvSpPr>
            <a:spLocks noGrp="1"/>
          </p:cNvSpPr>
          <p:nvPr/>
        </p:nvSpPr>
        <p:spPr>
          <a:xfrm>
            <a:off x="812766" y="1480012"/>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6" name="Text 4">
            <a:extLst>
              <a:ext uri="{FF2B5EF4-FFF2-40B4-BE49-F238E27FC236}">
                <a16:creationId xmlns:a16="http://schemas.microsoft.com/office/drawing/2014/main" id="{86620699-106F-4094-B9C2-7F4E219D67F0}"/>
              </a:ext>
            </a:extLst>
          </p:cNvPr>
          <p:cNvSpPr>
            <a:spLocks noGrp="1"/>
          </p:cNvSpPr>
          <p:nvPr/>
        </p:nvSpPr>
        <p:spPr>
          <a:xfrm>
            <a:off x="1043416" y="1761511"/>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Q1</a:t>
            </a:r>
            <a:endParaRPr sz="2800"/>
          </a:p>
        </p:txBody>
      </p:sp>
      <p:sp>
        <p:nvSpPr>
          <p:cNvPr id="7" name="Text 5">
            <a:extLst>
              <a:ext uri="{FF2B5EF4-FFF2-40B4-BE49-F238E27FC236}">
                <a16:creationId xmlns:a16="http://schemas.microsoft.com/office/drawing/2014/main" id="{FA7F9CA5-65CB-416A-AB11-FF2617E88156}"/>
              </a:ext>
            </a:extLst>
          </p:cNvPr>
          <p:cNvSpPr>
            <a:spLocks noGrp="1"/>
          </p:cNvSpPr>
          <p:nvPr/>
        </p:nvSpPr>
        <p:spPr>
          <a:xfrm>
            <a:off x="1043416" y="2218662"/>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Is it healthy?</a:t>
            </a:r>
            <a:endParaRPr sz="1700"/>
          </a:p>
        </p:txBody>
      </p:sp>
      <p:sp>
        <p:nvSpPr>
          <p:cNvPr id="8" name="Text 6">
            <a:extLst>
              <a:ext uri="{FF2B5EF4-FFF2-40B4-BE49-F238E27FC236}">
                <a16:creationId xmlns:a16="http://schemas.microsoft.com/office/drawing/2014/main" id="{0869CD8C-1D2E-4DB0-BCB5-DCE319163A72}"/>
              </a:ext>
            </a:extLst>
          </p:cNvPr>
          <p:cNvSpPr>
            <a:spLocks noGrp="1"/>
          </p:cNvSpPr>
          <p:nvPr/>
        </p:nvSpPr>
        <p:spPr>
          <a:xfrm>
            <a:off x="1043416" y="2579241"/>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Only 49 healthy recordings exist, all from one folder, and healthy vibration changes with shaft speed.</a:t>
            </a:r>
            <a:endParaRPr sz="1250"/>
          </a:p>
        </p:txBody>
      </p:sp>
      <p:sp>
        <p:nvSpPr>
          <p:cNvPr id="9" name="Shape 7">
            <a:extLst>
              <a:ext uri="{FF2B5EF4-FFF2-40B4-BE49-F238E27FC236}">
                <a16:creationId xmlns:a16="http://schemas.microsoft.com/office/drawing/2014/main" id="{64D5C892-F3AD-4792-8FCB-3B2670F5074F}"/>
              </a:ext>
            </a:extLst>
          </p:cNvPr>
          <p:cNvSpPr>
            <a:spLocks noGrp="1"/>
          </p:cNvSpPr>
          <p:nvPr/>
        </p:nvSpPr>
        <p:spPr>
          <a:xfrm>
            <a:off x="812766" y="3429000"/>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10" name="Text 8">
            <a:extLst>
              <a:ext uri="{FF2B5EF4-FFF2-40B4-BE49-F238E27FC236}">
                <a16:creationId xmlns:a16="http://schemas.microsoft.com/office/drawing/2014/main" id="{EFF49FF1-B5A6-46BC-B7CC-1955A62CCB9F}"/>
              </a:ext>
            </a:extLst>
          </p:cNvPr>
          <p:cNvSpPr>
            <a:spLocks noGrp="1"/>
          </p:cNvSpPr>
          <p:nvPr/>
        </p:nvSpPr>
        <p:spPr>
          <a:xfrm>
            <a:off x="1043416" y="3710499"/>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Q2</a:t>
            </a:r>
            <a:endParaRPr sz="2800"/>
          </a:p>
        </p:txBody>
      </p:sp>
      <p:sp>
        <p:nvSpPr>
          <p:cNvPr id="11" name="Text 9">
            <a:extLst>
              <a:ext uri="{FF2B5EF4-FFF2-40B4-BE49-F238E27FC236}">
                <a16:creationId xmlns:a16="http://schemas.microsoft.com/office/drawing/2014/main" id="{17E86A10-0A93-4A5B-B9CD-DAFB33743ECF}"/>
              </a:ext>
            </a:extLst>
          </p:cNvPr>
          <p:cNvSpPr>
            <a:spLocks noGrp="1"/>
          </p:cNvSpPr>
          <p:nvPr/>
        </p:nvSpPr>
        <p:spPr>
          <a:xfrm>
            <a:off x="1043416" y="4167650"/>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Which known fault is it?</a:t>
            </a:r>
            <a:endParaRPr sz="1700"/>
          </a:p>
        </p:txBody>
      </p:sp>
      <p:sp>
        <p:nvSpPr>
          <p:cNvPr id="12" name="Text 10">
            <a:extLst>
              <a:ext uri="{FF2B5EF4-FFF2-40B4-BE49-F238E27FC236}">
                <a16:creationId xmlns:a16="http://schemas.microsoft.com/office/drawing/2014/main" id="{05D6C42C-0848-49F6-853D-9467352BAADC}"/>
              </a:ext>
            </a:extLst>
          </p:cNvPr>
          <p:cNvSpPr>
            <a:spLocks noGrp="1"/>
          </p:cNvSpPr>
          <p:nvPr/>
        </p:nvSpPr>
        <p:spPr>
          <a:xfrm>
            <a:off x="1043416" y="4528226"/>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Published scores are often inflated: windows of one recording end up in both training and testing.</a:t>
            </a:r>
            <a:endParaRPr lang="en-US" sz="1250">
              <a:solidFill>
                <a:srgbClr val="64748B"/>
              </a:solidFill>
              <a:latin typeface="DM Sans"/>
              <a:ea typeface="DM Sans"/>
              <a:cs typeface="DM Sans"/>
            </a:endParaRPr>
          </a:p>
        </p:txBody>
      </p:sp>
      <p:sp>
        <p:nvSpPr>
          <p:cNvPr id="13" name="Shape 11">
            <a:extLst>
              <a:ext uri="{FF2B5EF4-FFF2-40B4-BE49-F238E27FC236}">
                <a16:creationId xmlns:a16="http://schemas.microsoft.com/office/drawing/2014/main" id="{98565109-E107-4787-AAB9-1E75E7DEFE34}"/>
              </a:ext>
            </a:extLst>
          </p:cNvPr>
          <p:cNvSpPr>
            <a:spLocks noGrp="1"/>
          </p:cNvSpPr>
          <p:nvPr/>
        </p:nvSpPr>
        <p:spPr>
          <a:xfrm>
            <a:off x="5837938" y="1480012"/>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14" name="Text 12">
            <a:extLst>
              <a:ext uri="{FF2B5EF4-FFF2-40B4-BE49-F238E27FC236}">
                <a16:creationId xmlns:a16="http://schemas.microsoft.com/office/drawing/2014/main" id="{139D0FA8-79EE-4F39-B83B-0B3DDE001B10}"/>
              </a:ext>
            </a:extLst>
          </p:cNvPr>
          <p:cNvSpPr>
            <a:spLocks noGrp="1"/>
          </p:cNvSpPr>
          <p:nvPr/>
        </p:nvSpPr>
        <p:spPr>
          <a:xfrm>
            <a:off x="6068588" y="1761514"/>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Q3</a:t>
            </a:r>
            <a:endParaRPr sz="2800"/>
          </a:p>
        </p:txBody>
      </p:sp>
      <p:sp>
        <p:nvSpPr>
          <p:cNvPr id="15" name="Text 13">
            <a:extLst>
              <a:ext uri="{FF2B5EF4-FFF2-40B4-BE49-F238E27FC236}">
                <a16:creationId xmlns:a16="http://schemas.microsoft.com/office/drawing/2014/main" id="{7D75F182-9B54-46A0-AC0E-D6C903EFD905}"/>
              </a:ext>
            </a:extLst>
          </p:cNvPr>
          <p:cNvSpPr>
            <a:spLocks noGrp="1"/>
          </p:cNvSpPr>
          <p:nvPr/>
        </p:nvSpPr>
        <p:spPr>
          <a:xfrm>
            <a:off x="6068588" y="2218665"/>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Is it a fault never seen before?</a:t>
            </a:r>
            <a:endParaRPr sz="1700"/>
          </a:p>
        </p:txBody>
      </p:sp>
      <p:sp>
        <p:nvSpPr>
          <p:cNvPr id="16" name="Text 14">
            <a:extLst>
              <a:ext uri="{FF2B5EF4-FFF2-40B4-BE49-F238E27FC236}">
                <a16:creationId xmlns:a16="http://schemas.microsoft.com/office/drawing/2014/main" id="{700BA796-890E-4B12-B237-D26573A885B3}"/>
              </a:ext>
            </a:extLst>
          </p:cNvPr>
          <p:cNvSpPr>
            <a:spLocks noGrp="1"/>
          </p:cNvSpPr>
          <p:nvPr/>
        </p:nvSpPr>
        <p:spPr>
          <a:xfrm>
            <a:off x="6068588" y="2579241"/>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A closed-set classifier must pick a known label, so it can name an unseen fault wrongly, and confidently.</a:t>
            </a:r>
            <a:endParaRPr sz="1250" b="1">
              <a:solidFill>
                <a:schemeClr val="bg1"/>
              </a:solidFill>
              <a:highlight>
                <a:srgbClr val="0000FF"/>
              </a:highlight>
            </a:endParaRPr>
          </a:p>
        </p:txBody>
      </p:sp>
      <p:sp>
        <p:nvSpPr>
          <p:cNvPr id="28" name="Text 1">
            <a:extLst>
              <a:ext uri="{FF2B5EF4-FFF2-40B4-BE49-F238E27FC236}">
                <a16:creationId xmlns:a16="http://schemas.microsoft.com/office/drawing/2014/main" id="{E7ADB2E3-5421-57B3-7A05-15C5A0CB0CB2}"/>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The problem: three questions from one recording</a:t>
            </a:r>
            <a:endParaRPr sz="2900"/>
          </a:p>
        </p:txBody>
      </p:sp>
      <p:sp>
        <p:nvSpPr>
          <p:cNvPr id="17" name="Text 51">
            <a:extLst>
              <a:ext uri="{FF2B5EF4-FFF2-40B4-BE49-F238E27FC236}">
                <a16:creationId xmlns:a16="http://schemas.microsoft.com/office/drawing/2014/main" id="{3F4912F6-0097-8854-F063-F4F0D4B9BA48}"/>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04</a:t>
            </a:r>
            <a:endParaRPr lang="en-US" sz="1200" dirty="0"/>
          </a:p>
        </p:txBody>
      </p:sp>
      <p:pic>
        <p:nvPicPr>
          <p:cNvPr id="29" name="ppt04_three_questions" descr="new_ppt04_three_questions.png"/>
          <p:cNvPicPr>
            <a:picLocks noChangeAspect="1"/>
          </p:cNvPicPr>
          <p:nvPr/>
        </p:nvPicPr>
        <p:blipFill>
          <a:blip r:embed="rId4"/>
          <a:stretch>
            <a:fillRect/>
          </a:stretch>
        </p:blipFill>
        <p:spPr>
          <a:xfrm>
            <a:off x="5833872" y="3411435"/>
            <a:ext cx="4892040" cy="2641169"/>
          </a:xfrm>
          <a:prstGeom prst="rect">
            <a:avLst/>
          </a:prstGeom>
        </p:spPr>
      </p:pic>
    </p:spTree>
    <p:extLst>
      <p:ext uri="{BB962C8B-B14F-4D97-AF65-F5344CB8AC3E}">
        <p14:creationId xmlns:p14="http://schemas.microsoft.com/office/powerpoint/2010/main" val="118627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Introducing MachineSense</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05</a:t>
            </a:r>
            <a:endParaRPr lang="en-US" sz="1200" dirty="0"/>
          </a:p>
        </p:txBody>
      </p:sp>
      <p:pic>
        <p:nvPicPr>
          <p:cNvPr id="18" name="ppt05_at_a_glance" descr="new_ppt05_at_a_glance.png"/>
          <p:cNvPicPr>
            <a:picLocks noChangeAspect="1"/>
          </p:cNvPicPr>
          <p:nvPr/>
        </p:nvPicPr>
        <p:blipFill>
          <a:blip r:embed="rId6"/>
          <a:stretch>
            <a:fillRect/>
          </a:stretch>
        </p:blipFill>
        <p:spPr>
          <a:xfrm>
            <a:off x="813816" y="1812912"/>
            <a:ext cx="10561320" cy="3643655"/>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The data: one test rig, 1,951 recordings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06</a:t>
            </a:r>
            <a:endParaRPr lang="en-US" sz="1200" dirty="0"/>
          </a:p>
        </p:txBody>
      </p:sp>
      <p:sp>
        <p:nvSpPr>
          <p:cNvPr id="19" name="Rounded Rectangle 18"/>
          <p:cNvSpPr/>
          <p:nvPr/>
        </p:nvSpPr>
        <p:spPr>
          <a:xfrm>
            <a:off x="8522208" y="1481328"/>
            <a:ext cx="2852928" cy="10149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732520" y="1609344"/>
            <a:ext cx="2468880" cy="411480"/>
          </a:xfrm>
          <a:prstGeom prst="rect">
            <a:avLst/>
          </a:prstGeom>
          <a:noFill/>
        </p:spPr>
        <p:txBody>
          <a:bodyPr wrap="square" lIns="0" rIns="0" tIns="0" bIns="0" anchor="t">
            <a:spAutoFit/>
          </a:bodyPr>
          <a:lstStyle/>
          <a:p>
            <a:pPr algn="l"/>
            <a:r>
              <a:rPr sz="2400" b="1" i="0">
                <a:solidFill>
                  <a:srgbClr val="1007DC"/>
                </a:solidFill>
                <a:latin typeface="Poppins"/>
                <a:ea typeface="Poppins"/>
                <a:cs typeface="Poppins"/>
              </a:rPr>
              <a:t>1,951</a:t>
            </a:r>
          </a:p>
        </p:txBody>
      </p:sp>
      <p:sp>
        <p:nvSpPr>
          <p:cNvPr id="21" name="TextBox 20"/>
          <p:cNvSpPr txBox="1"/>
          <p:nvPr/>
        </p:nvSpPr>
        <p:spPr>
          <a:xfrm>
            <a:off x="8732520" y="2029968"/>
            <a:ext cx="2514600" cy="4114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recordings, 5 s each at 50 kHz</a:t>
            </a:r>
          </a:p>
        </p:txBody>
      </p:sp>
      <p:sp>
        <p:nvSpPr>
          <p:cNvPr id="22" name="Rounded Rectangle 21"/>
          <p:cNvSpPr/>
          <p:nvPr/>
        </p:nvSpPr>
        <p:spPr>
          <a:xfrm>
            <a:off x="8522208" y="2651760"/>
            <a:ext cx="2852928" cy="10149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732520" y="2779776"/>
            <a:ext cx="2468880" cy="411480"/>
          </a:xfrm>
          <a:prstGeom prst="rect">
            <a:avLst/>
          </a:prstGeom>
          <a:noFill/>
        </p:spPr>
        <p:txBody>
          <a:bodyPr wrap="square" lIns="0" rIns="0" tIns="0" bIns="0" anchor="t">
            <a:spAutoFit/>
          </a:bodyPr>
          <a:lstStyle/>
          <a:p>
            <a:pPr algn="l"/>
            <a:r>
              <a:rPr sz="2400" b="1" i="0">
                <a:solidFill>
                  <a:srgbClr val="1007DC"/>
                </a:solidFill>
                <a:latin typeface="Poppins"/>
                <a:ea typeface="Poppins"/>
                <a:cs typeface="Poppins"/>
              </a:rPr>
              <a:t>8</a:t>
            </a:r>
          </a:p>
        </p:txBody>
      </p:sp>
      <p:sp>
        <p:nvSpPr>
          <p:cNvPr id="24" name="TextBox 23"/>
          <p:cNvSpPr txBox="1"/>
          <p:nvPr/>
        </p:nvSpPr>
        <p:spPr>
          <a:xfrm>
            <a:off x="8732520" y="3200400"/>
            <a:ext cx="2514600" cy="4114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channels: tachometer, 2 × 3-axis accelerometers, microphone</a:t>
            </a:r>
          </a:p>
        </p:txBody>
      </p:sp>
      <p:sp>
        <p:nvSpPr>
          <p:cNvPr id="25" name="Rounded Rectangle 24"/>
          <p:cNvSpPr/>
          <p:nvPr/>
        </p:nvSpPr>
        <p:spPr>
          <a:xfrm>
            <a:off x="8522208" y="3822192"/>
            <a:ext cx="2852928" cy="10149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732520" y="3950208"/>
            <a:ext cx="2468880" cy="411480"/>
          </a:xfrm>
          <a:prstGeom prst="rect">
            <a:avLst/>
          </a:prstGeom>
          <a:noFill/>
        </p:spPr>
        <p:txBody>
          <a:bodyPr wrap="square" lIns="0" rIns="0" tIns="0" bIns="0" anchor="t">
            <a:spAutoFit/>
          </a:bodyPr>
          <a:lstStyle/>
          <a:p>
            <a:pPr algn="l"/>
            <a:r>
              <a:rPr sz="2400" b="1" i="0">
                <a:solidFill>
                  <a:srgbClr val="1007DC"/>
                </a:solidFill>
                <a:latin typeface="Poppins"/>
                <a:ea typeface="Poppins"/>
                <a:cs typeface="Poppins"/>
              </a:rPr>
              <a:t>10</a:t>
            </a:r>
          </a:p>
        </p:txBody>
      </p:sp>
      <p:sp>
        <p:nvSpPr>
          <p:cNvPr id="27" name="TextBox 26"/>
          <p:cNvSpPr txBox="1"/>
          <p:nvPr/>
        </p:nvSpPr>
        <p:spPr>
          <a:xfrm>
            <a:off x="8732520" y="4370832"/>
            <a:ext cx="2514600" cy="4114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conditions: normal and 9 induced faults</a:t>
            </a:r>
          </a:p>
        </p:txBody>
      </p:sp>
      <p:sp>
        <p:nvSpPr>
          <p:cNvPr id="28" name="Rounded Rectangle 27"/>
          <p:cNvSpPr/>
          <p:nvPr/>
        </p:nvSpPr>
        <p:spPr>
          <a:xfrm>
            <a:off x="8522208" y="4992624"/>
            <a:ext cx="2852928" cy="10149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732520" y="5120640"/>
            <a:ext cx="2468880" cy="411480"/>
          </a:xfrm>
          <a:prstGeom prst="rect">
            <a:avLst/>
          </a:prstGeom>
          <a:noFill/>
        </p:spPr>
        <p:txBody>
          <a:bodyPr wrap="square" lIns="0" rIns="0" tIns="0" bIns="0" anchor="t">
            <a:spAutoFit/>
          </a:bodyPr>
          <a:lstStyle/>
          <a:p>
            <a:pPr algn="l"/>
            <a:r>
              <a:rPr sz="2400" b="1" i="0">
                <a:solidFill>
                  <a:srgbClr val="1007DC"/>
                </a:solidFill>
                <a:latin typeface="Poppins"/>
                <a:ea typeface="Poppins"/>
                <a:cs typeface="Poppins"/>
              </a:rPr>
              <a:t>49</a:t>
            </a:r>
          </a:p>
        </p:txBody>
      </p:sp>
      <p:sp>
        <p:nvSpPr>
          <p:cNvPr id="30" name="TextBox 29"/>
          <p:cNvSpPr txBox="1"/>
          <p:nvPr/>
        </p:nvSpPr>
        <p:spPr>
          <a:xfrm>
            <a:off x="8732520" y="5541264"/>
            <a:ext cx="2514600" cy="4114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healthy recordings only, all in one folder (333 imbalance)</a:t>
            </a:r>
          </a:p>
        </p:txBody>
      </p:sp>
      <p:sp>
        <p:nvSpPr>
          <p:cNvPr id="31" name="TextBox 30"/>
          <p:cNvSpPr txBox="1"/>
          <p:nvPr/>
        </p:nvSpPr>
        <p:spPr>
          <a:xfrm>
            <a:off x="813816" y="6053328"/>
            <a:ext cx="7589520" cy="228600"/>
          </a:xfrm>
          <a:prstGeom prst="rect">
            <a:avLst/>
          </a:prstGeom>
          <a:noFill/>
        </p:spPr>
        <p:txBody>
          <a:bodyPr wrap="square" lIns="0" rIns="0" tIns="0" bIns="0" anchor="t">
            <a:spAutoFit/>
          </a:bodyPr>
          <a:lstStyle/>
          <a:p>
            <a:pPr algn="l"/>
            <a:r>
              <a:rPr sz="1100" b="0" i="0">
                <a:solidFill>
                  <a:srgbClr val="64748B"/>
                </a:solidFill>
                <a:latin typeface="DM Sans"/>
                <a:ea typeface="DM Sans"/>
                <a:cs typeface="DM Sans"/>
              </a:rPr>
              <a:t>Source: MAFAULDA, Federal University of Rio de Janeiro. Faults are deliberately induced on one bench-top rig.</a:t>
            </a:r>
          </a:p>
        </p:txBody>
      </p:sp>
      <p:pic>
        <p:nvPicPr>
          <p:cNvPr id="32" name="ppt06_rig_sensors" descr="new_ppt06_rig_sensors.png"/>
          <p:cNvPicPr>
            <a:picLocks noChangeAspect="1"/>
          </p:cNvPicPr>
          <p:nvPr/>
        </p:nvPicPr>
        <p:blipFill>
          <a:blip r:embed="rId6"/>
          <a:stretch>
            <a:fillRect/>
          </a:stretch>
        </p:blipFill>
        <p:spPr>
          <a:xfrm>
            <a:off x="813816" y="1526766"/>
            <a:ext cx="7498079" cy="4435402"/>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Data pipeline, part A: prepare the dataset once</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07</a:t>
            </a:r>
            <a:endParaRPr lang="en-US" sz="1200" dirty="0"/>
          </a:p>
        </p:txBody>
      </p:sp>
      <p:pic>
        <p:nvPicPr>
          <p:cNvPr id="18" name="ppt07a_prepare_dataset" descr="new_ppt07a_prepare_dataset.png"/>
          <p:cNvPicPr>
            <a:picLocks noChangeAspect="1"/>
          </p:cNvPicPr>
          <p:nvPr/>
        </p:nvPicPr>
        <p:blipFill>
          <a:blip r:embed="rId5"/>
          <a:stretch>
            <a:fillRect/>
          </a:stretch>
        </p:blipFill>
        <p:spPr>
          <a:xfrm>
            <a:off x="1169918" y="1463040"/>
            <a:ext cx="9849115" cy="4617720"/>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Data pipeline, part B: recording to model inputs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08</a:t>
            </a:r>
            <a:endParaRPr lang="en-US" sz="1200" dirty="0"/>
          </a:p>
        </p:txBody>
      </p:sp>
      <p:pic>
        <p:nvPicPr>
          <p:cNvPr id="18" name="ppt07b_recording_to_model_inputs" descr="new_ppt07b_recording_to_model_inputs.png"/>
          <p:cNvPicPr>
            <a:picLocks noChangeAspect="1"/>
          </p:cNvPicPr>
          <p:nvPr/>
        </p:nvPicPr>
        <p:blipFill>
          <a:blip r:embed="rId5"/>
          <a:stretch>
            <a:fillRect/>
          </a:stretch>
        </p:blipFill>
        <p:spPr>
          <a:xfrm>
            <a:off x="2142308" y="1417320"/>
            <a:ext cx="7904335" cy="4709160"/>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How the data is split</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09</a:t>
            </a:r>
            <a:endParaRPr lang="en-US" sz="1200" dirty="0"/>
          </a:p>
        </p:txBody>
      </p:sp>
      <p:pic>
        <p:nvPicPr>
          <p:cNvPr id="18" name="ppt08s_data_split" descr="new_ppt08s_data_split.png"/>
          <p:cNvPicPr>
            <a:picLocks noChangeAspect="1"/>
          </p:cNvPicPr>
          <p:nvPr/>
        </p:nvPicPr>
        <p:blipFill>
          <a:blip r:embed="rId5"/>
          <a:stretch>
            <a:fillRect/>
          </a:stretch>
        </p:blipFill>
        <p:spPr>
          <a:xfrm>
            <a:off x="1145480" y="1417320"/>
            <a:ext cx="9897991" cy="4709159"/>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Keeping the evaluation honest</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10</a:t>
            </a:r>
            <a:endParaRPr lang="en-US" sz="1200" dirty="0"/>
          </a:p>
        </p:txBody>
      </p:sp>
      <p:sp>
        <p:nvSpPr>
          <p:cNvPr id="18" name="Rounded Rectangle 17"/>
          <p:cNvSpPr/>
          <p:nvPr/>
        </p:nvSpPr>
        <p:spPr>
          <a:xfrm>
            <a:off x="813816" y="1481328"/>
            <a:ext cx="6172200" cy="452628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rotocol plot" descr="protocol.png"/>
          <p:cNvPicPr>
            <a:picLocks noChangeAspect="1"/>
          </p:cNvPicPr>
          <p:nvPr/>
        </p:nvPicPr>
        <p:blipFill>
          <a:blip r:embed="rId2"/>
          <a:stretch>
            <a:fillRect/>
          </a:stretch>
        </p:blipFill>
        <p:spPr>
          <a:xfrm>
            <a:off x="996696" y="1645920"/>
            <a:ext cx="5806440" cy="2732442"/>
          </a:xfrm>
          <a:prstGeom prst="rect">
            <a:avLst/>
          </a:prstGeom>
        </p:spPr>
      </p:pic>
      <p:sp>
        <p:nvSpPr>
          <p:cNvPr id="20" name="TextBox 19"/>
          <p:cNvSpPr txBox="1"/>
          <p:nvPr/>
        </p:nvSpPr>
        <p:spPr>
          <a:xfrm>
            <a:off x="996696" y="4462272"/>
            <a:ext cx="580644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1.000  →  0.984  →  0.878</a:t>
            </a:r>
          </a:p>
        </p:txBody>
      </p:sp>
      <p:sp>
        <p:nvSpPr>
          <p:cNvPr id="21" name="TextBox 20"/>
          <p:cNvSpPr txBox="1"/>
          <p:nvPr/>
        </p:nvSpPr>
        <p:spPr>
          <a:xfrm>
            <a:off x="996696" y="4937760"/>
            <a:ext cx="5806440" cy="91440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Same LightGBM, same training size. Only what is held out changes: random windows, whole recordings, whole source folders. Real output of notebook 05b, development data.</a:t>
            </a:r>
          </a:p>
        </p:txBody>
      </p:sp>
      <p:sp>
        <p:nvSpPr>
          <p:cNvPr id="22" name="Rounded Rectangle 21"/>
          <p:cNvSpPr/>
          <p:nvPr/>
        </p:nvSpPr>
        <p:spPr>
          <a:xfrm>
            <a:off x="7214616" y="1481328"/>
            <a:ext cx="4160520"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24927" y="1645920"/>
            <a:ext cx="457200" cy="41148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1</a:t>
            </a:r>
          </a:p>
        </p:txBody>
      </p:sp>
      <p:sp>
        <p:nvSpPr>
          <p:cNvPr id="24" name="TextBox 23"/>
          <p:cNvSpPr txBox="1"/>
          <p:nvPr/>
        </p:nvSpPr>
        <p:spPr>
          <a:xfrm>
            <a:off x="7863840" y="1664208"/>
            <a:ext cx="3383280" cy="36576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Split by recording, before windowing</a:t>
            </a:r>
          </a:p>
        </p:txBody>
      </p:sp>
      <p:sp>
        <p:nvSpPr>
          <p:cNvPr id="25" name="TextBox 24"/>
          <p:cNvSpPr txBox="1"/>
          <p:nvPr/>
        </p:nvSpPr>
        <p:spPr>
          <a:xfrm>
            <a:off x="7863840" y="2048256"/>
            <a:ext cx="3383280" cy="77724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Windows of one recording never cross the train and test line.</a:t>
            </a:r>
          </a:p>
        </p:txBody>
      </p:sp>
      <p:sp>
        <p:nvSpPr>
          <p:cNvPr id="26" name="Rounded Rectangle 25"/>
          <p:cNvSpPr/>
          <p:nvPr/>
        </p:nvSpPr>
        <p:spPr>
          <a:xfrm>
            <a:off x="7214616" y="3035808"/>
            <a:ext cx="4160520"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24927" y="3200400"/>
            <a:ext cx="457200" cy="41148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2</a:t>
            </a:r>
          </a:p>
        </p:txBody>
      </p:sp>
      <p:sp>
        <p:nvSpPr>
          <p:cNvPr id="28" name="TextBox 27"/>
          <p:cNvSpPr txBox="1"/>
          <p:nvPr/>
        </p:nvSpPr>
        <p:spPr>
          <a:xfrm>
            <a:off x="7863840" y="3218688"/>
            <a:ext cx="3383280" cy="36576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Folder-grouped development folds</a:t>
            </a:r>
          </a:p>
        </p:txBody>
      </p:sp>
      <p:sp>
        <p:nvSpPr>
          <p:cNvPr id="29" name="TextBox 28"/>
          <p:cNvSpPr txBox="1"/>
          <p:nvPr/>
        </p:nvSpPr>
        <p:spPr>
          <a:xfrm>
            <a:off x="7863840" y="3602736"/>
            <a:ext cx="3383280" cy="77724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804 development recordings in 3 folds; whole source folders are held out.</a:t>
            </a:r>
          </a:p>
        </p:txBody>
      </p:sp>
      <p:sp>
        <p:nvSpPr>
          <p:cNvPr id="30" name="Rounded Rectangle 29"/>
          <p:cNvSpPr/>
          <p:nvPr/>
        </p:nvSpPr>
        <p:spPr>
          <a:xfrm>
            <a:off x="7214616" y="4590288"/>
            <a:ext cx="4160520"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24927" y="4754880"/>
            <a:ext cx="457200" cy="41148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3</a:t>
            </a:r>
          </a:p>
        </p:txBody>
      </p:sp>
      <p:sp>
        <p:nvSpPr>
          <p:cNvPr id="32" name="TextBox 31"/>
          <p:cNvSpPr txBox="1"/>
          <p:nvPr/>
        </p:nvSpPr>
        <p:spPr>
          <a:xfrm>
            <a:off x="7863840" y="4773168"/>
            <a:ext cx="3383280" cy="36576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Sealed tests, opened once</a:t>
            </a:r>
          </a:p>
        </p:txBody>
      </p:sp>
      <p:sp>
        <p:nvSpPr>
          <p:cNvPr id="33" name="TextBox 32"/>
          <p:cNvSpPr txBox="1"/>
          <p:nvPr/>
        </p:nvSpPr>
        <p:spPr>
          <a:xfrm>
            <a:off x="7863840" y="5157216"/>
            <a:ext cx="3383280" cy="77724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Closed split 290, speed block 776, severity 370. One final run after models, thresholds and rule were frozen.</a:t>
            </a:r>
          </a:p>
        </p:txBody>
      </p:sp>
    </p:spTree>
    <p:extLst>
      <p:ext uri="{BB962C8B-B14F-4D97-AF65-F5344CB8AC3E}">
        <p14:creationId xmlns:p14="http://schemas.microsoft.com/office/powerpoint/2010/main" val="1499429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Diagnosis, part 1: from recording to features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11</a:t>
            </a:r>
            <a:endParaRPr lang="en-US" sz="1200" dirty="0"/>
          </a:p>
        </p:txBody>
      </p:sp>
      <p:pic>
        <p:nvPicPr>
          <p:cNvPr id="18" name="ppt09a_recording_preparation_features" descr="new_ppt09a_recording_preparation_features.png"/>
          <p:cNvPicPr>
            <a:picLocks noChangeAspect="1"/>
          </p:cNvPicPr>
          <p:nvPr/>
        </p:nvPicPr>
        <p:blipFill>
          <a:blip r:embed="rId5"/>
          <a:stretch>
            <a:fillRect/>
          </a:stretch>
        </p:blipFill>
        <p:spPr>
          <a:xfrm>
            <a:off x="1546253" y="1417320"/>
            <a:ext cx="9096445" cy="4709160"/>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Diagnosis, part 2: models, decision and outputs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12</a:t>
            </a:r>
            <a:endParaRPr lang="en-US" sz="1200" dirty="0"/>
          </a:p>
        </p:txBody>
      </p:sp>
      <p:sp>
        <p:nvSpPr>
          <p:cNvPr id="18" name="Rounded Rectangle 17"/>
          <p:cNvSpPr/>
          <p:nvPr/>
        </p:nvSpPr>
        <p:spPr>
          <a:xfrm>
            <a:off x="8275320" y="1481328"/>
            <a:ext cx="3099816"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76488" y="1627632"/>
            <a:ext cx="2743200" cy="320040"/>
          </a:xfrm>
          <a:prstGeom prst="rect">
            <a:avLst/>
          </a:prstGeom>
          <a:noFill/>
        </p:spPr>
        <p:txBody>
          <a:bodyPr wrap="square" lIns="0" rIns="0" tIns="0" bIns="0" anchor="t">
            <a:spAutoFit/>
          </a:bodyPr>
          <a:lstStyle/>
          <a:p>
            <a:pPr algn="l"/>
            <a:r>
              <a:rPr sz="1350" b="1" i="0">
                <a:solidFill>
                  <a:srgbClr val="1007DC"/>
                </a:solidFill>
                <a:latin typeface="Poppins"/>
                <a:ea typeface="Poppins"/>
                <a:cs typeface="Poppins"/>
              </a:rPr>
              <a:t>Q1  Is it healthy?</a:t>
            </a:r>
          </a:p>
        </p:txBody>
      </p:sp>
      <p:sp>
        <p:nvSpPr>
          <p:cNvPr id="20" name="TextBox 19"/>
          <p:cNvSpPr txBox="1"/>
          <p:nvPr/>
        </p:nvSpPr>
        <p:spPr>
          <a:xfrm>
            <a:off x="8476488" y="1984248"/>
            <a:ext cx="2724912" cy="8686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AE-6 + B1s, trained on healthy data only. They can add a caution, never overturn a verdict.</a:t>
            </a:r>
          </a:p>
        </p:txBody>
      </p:sp>
      <p:sp>
        <p:nvSpPr>
          <p:cNvPr id="21" name="Rounded Rectangle 20"/>
          <p:cNvSpPr/>
          <p:nvPr/>
        </p:nvSpPr>
        <p:spPr>
          <a:xfrm>
            <a:off x="8275320" y="3035808"/>
            <a:ext cx="3099816"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76488" y="3182112"/>
            <a:ext cx="2743200" cy="320040"/>
          </a:xfrm>
          <a:prstGeom prst="rect">
            <a:avLst/>
          </a:prstGeom>
          <a:noFill/>
        </p:spPr>
        <p:txBody>
          <a:bodyPr wrap="square" lIns="0" rIns="0" tIns="0" bIns="0" anchor="t">
            <a:spAutoFit/>
          </a:bodyPr>
          <a:lstStyle/>
          <a:p>
            <a:pPr algn="l"/>
            <a:r>
              <a:rPr sz="1350" b="1" i="0">
                <a:solidFill>
                  <a:srgbClr val="1007DC"/>
                </a:solidFill>
                <a:latin typeface="Poppins"/>
                <a:ea typeface="Poppins"/>
                <a:cs typeface="Poppins"/>
              </a:rPr>
              <a:t>Q2  Which known fault?</a:t>
            </a:r>
          </a:p>
        </p:txBody>
      </p:sp>
      <p:sp>
        <p:nvSpPr>
          <p:cNvPr id="23" name="TextBox 22"/>
          <p:cNvSpPr txBox="1"/>
          <p:nvPr/>
        </p:nvSpPr>
        <p:spPr>
          <a:xfrm>
            <a:off x="8476488" y="3538728"/>
            <a:ext cx="2724912" cy="8686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CNN-6 on the order spectrogram; logistic regression as a second opinion.</a:t>
            </a:r>
          </a:p>
        </p:txBody>
      </p:sp>
      <p:sp>
        <p:nvSpPr>
          <p:cNvPr id="24" name="Rounded Rectangle 23"/>
          <p:cNvSpPr/>
          <p:nvPr/>
        </p:nvSpPr>
        <p:spPr>
          <a:xfrm>
            <a:off x="8275320" y="4590288"/>
            <a:ext cx="3099816" cy="141732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76488" y="4736592"/>
            <a:ext cx="2743200" cy="320040"/>
          </a:xfrm>
          <a:prstGeom prst="rect">
            <a:avLst/>
          </a:prstGeom>
          <a:noFill/>
        </p:spPr>
        <p:txBody>
          <a:bodyPr wrap="square" lIns="0" rIns="0" tIns="0" bIns="0" anchor="t">
            <a:spAutoFit/>
          </a:bodyPr>
          <a:lstStyle/>
          <a:p>
            <a:pPr algn="l"/>
            <a:r>
              <a:rPr sz="1350" b="1" i="0">
                <a:solidFill>
                  <a:srgbClr val="1007DC"/>
                </a:solidFill>
                <a:latin typeface="Poppins"/>
                <a:ea typeface="Poppins"/>
                <a:cs typeface="Poppins"/>
              </a:rPr>
              <a:t>Q3  Is it unfamiliar?</a:t>
            </a:r>
          </a:p>
        </p:txBody>
      </p:sp>
      <p:sp>
        <p:nvSpPr>
          <p:cNvPr id="26" name="TextBox 25"/>
          <p:cNvSpPr txBox="1"/>
          <p:nvPr/>
        </p:nvSpPr>
        <p:spPr>
          <a:xfrm>
            <a:off x="8476488" y="5093208"/>
            <a:ext cx="2724912" cy="8686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MSP confidence + Mahalanobis familiarity. If either fails: further inspection.</a:t>
            </a:r>
          </a:p>
        </p:txBody>
      </p:sp>
      <p:pic>
        <p:nvPicPr>
          <p:cNvPr id="27" name="ppt09b_models_decision_outputs" descr="new_ppt09b_models_decision_outputs.png"/>
          <p:cNvPicPr>
            <a:picLocks noChangeAspect="1"/>
          </p:cNvPicPr>
          <p:nvPr/>
        </p:nvPicPr>
        <p:blipFill>
          <a:blip r:embed="rId5"/>
          <a:stretch>
            <a:fillRect/>
          </a:stretch>
        </p:blipFill>
        <p:spPr>
          <a:xfrm>
            <a:off x="813816" y="1549204"/>
            <a:ext cx="7315200" cy="4445390"/>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How explanations stay honest</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13</a:t>
            </a:r>
            <a:endParaRPr lang="en-US" sz="1200" dirty="0"/>
          </a:p>
        </p:txBody>
      </p:sp>
      <p:pic>
        <p:nvPicPr>
          <p:cNvPr id="18" name="ppt12s_explanation" descr="new_ppt12s_explanation.png"/>
          <p:cNvPicPr>
            <a:picLocks noChangeAspect="1"/>
          </p:cNvPicPr>
          <p:nvPr/>
        </p:nvPicPr>
        <p:blipFill>
          <a:blip r:embed="rId5"/>
          <a:stretch>
            <a:fillRect/>
          </a:stretch>
        </p:blipFill>
        <p:spPr>
          <a:xfrm>
            <a:off x="813816" y="1734783"/>
            <a:ext cx="10561320" cy="4074232"/>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The assistant: a ReAct agent with guardrails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14</a:t>
            </a:r>
            <a:endParaRPr lang="en-US" sz="1200" dirty="0"/>
          </a:p>
        </p:txBody>
      </p:sp>
      <p:pic>
        <p:nvPicPr>
          <p:cNvPr id="18" name="ppt13s_assistant_agent" descr="new_ppt13s_assistant_agent.png"/>
          <p:cNvPicPr>
            <a:picLocks noChangeAspect="1"/>
          </p:cNvPicPr>
          <p:nvPr/>
        </p:nvPicPr>
        <p:blipFill>
          <a:blip r:embed="rId5"/>
          <a:stretch>
            <a:fillRect/>
          </a:stretch>
        </p:blipFill>
        <p:spPr>
          <a:xfrm>
            <a:off x="980100" y="1417320"/>
            <a:ext cx="10228751" cy="4709160"/>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Why these models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15</a:t>
            </a:r>
            <a:endParaRPr lang="en-US" sz="1200" dirty="0"/>
          </a:p>
        </p:txBody>
      </p:sp>
      <p:sp>
        <p:nvSpPr>
          <p:cNvPr id="18" name="Rounded Rectangle 17"/>
          <p:cNvSpPr/>
          <p:nvPr/>
        </p:nvSpPr>
        <p:spPr>
          <a:xfrm>
            <a:off x="813816" y="148132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42416" y="166420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input</a:t>
            </a:r>
          </a:p>
        </p:txBody>
      </p:sp>
      <p:sp>
        <p:nvSpPr>
          <p:cNvPr id="20" name="TextBox 19"/>
          <p:cNvSpPr txBox="1"/>
          <p:nvPr/>
        </p:nvSpPr>
        <p:spPr>
          <a:xfrm>
            <a:off x="1042416" y="215798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Order spectrogram</a:t>
            </a:r>
          </a:p>
        </p:txBody>
      </p:sp>
      <p:sp>
        <p:nvSpPr>
          <p:cNvPr id="21" name="TextBox 20"/>
          <p:cNvSpPr txBox="1"/>
          <p:nvPr/>
        </p:nvSpPr>
        <p:spPr>
          <a:xfrm>
            <a:off x="1042416" y="250545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A fault stays at the same shaft order when speed changes. A plain spectrogram could not separate 0.5× from 1× at 12 Hz.</a:t>
            </a:r>
          </a:p>
        </p:txBody>
      </p:sp>
      <p:sp>
        <p:nvSpPr>
          <p:cNvPr id="22" name="Rounded Rectangle 21"/>
          <p:cNvSpPr/>
          <p:nvPr/>
        </p:nvSpPr>
        <p:spPr>
          <a:xfrm>
            <a:off x="4393692" y="148132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22292" y="166420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0.989</a:t>
            </a:r>
          </a:p>
        </p:txBody>
      </p:sp>
      <p:sp>
        <p:nvSpPr>
          <p:cNvPr id="24" name="TextBox 23"/>
          <p:cNvSpPr txBox="1"/>
          <p:nvPr/>
        </p:nvSpPr>
        <p:spPr>
          <a:xfrm>
            <a:off x="4622292" y="215798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CNN-6</a:t>
            </a:r>
          </a:p>
        </p:txBody>
      </p:sp>
      <p:sp>
        <p:nvSpPr>
          <p:cNvPr id="25" name="TextBox 24"/>
          <p:cNvSpPr txBox="1"/>
          <p:nvPr/>
        </p:nvSpPr>
        <p:spPr>
          <a:xfrm>
            <a:off x="4622292" y="250545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Mean development macro-F1 over 3 seeds. ResNet-18: 0.969 and about 10× slower on a CPU. CNN-7 with microphone: 0.982 and a shortcut risk.</a:t>
            </a:r>
          </a:p>
        </p:txBody>
      </p:sp>
      <p:sp>
        <p:nvSpPr>
          <p:cNvPr id="26" name="Rounded Rectangle 25"/>
          <p:cNvSpPr/>
          <p:nvPr/>
        </p:nvSpPr>
        <p:spPr>
          <a:xfrm>
            <a:off x="7973568" y="148132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02168" y="166420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healthy only</a:t>
            </a:r>
          </a:p>
        </p:txBody>
      </p:sp>
      <p:sp>
        <p:nvSpPr>
          <p:cNvPr id="28" name="TextBox 27"/>
          <p:cNvSpPr txBox="1"/>
          <p:nvPr/>
        </p:nvSpPr>
        <p:spPr>
          <a:xfrm>
            <a:off x="8202168" y="215798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AE-6 + B1s</a:t>
            </a:r>
          </a:p>
        </p:txBody>
      </p:sp>
      <p:sp>
        <p:nvSpPr>
          <p:cNvPr id="29" name="TextBox 28"/>
          <p:cNvSpPr txBox="1"/>
          <p:nvPr/>
        </p:nvSpPr>
        <p:spPr>
          <a:xfrm>
            <a:off x="8202168" y="250545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Need no fault examples, so the 49 against 333 imbalance does not matter. Similar AUROC, but they fail differently.</a:t>
            </a:r>
          </a:p>
        </p:txBody>
      </p:sp>
      <p:sp>
        <p:nvSpPr>
          <p:cNvPr id="30" name="Rounded Rectangle 29"/>
          <p:cNvSpPr/>
          <p:nvPr/>
        </p:nvSpPr>
        <p:spPr>
          <a:xfrm>
            <a:off x="813816" y="381304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42416" y="399592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 0.875</a:t>
            </a:r>
          </a:p>
        </p:txBody>
      </p:sp>
      <p:sp>
        <p:nvSpPr>
          <p:cNvPr id="32" name="TextBox 31"/>
          <p:cNvSpPr txBox="1"/>
          <p:nvPr/>
        </p:nvSpPr>
        <p:spPr>
          <a:xfrm>
            <a:off x="1042416" y="448970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MSP + Mahalanobis</a:t>
            </a:r>
          </a:p>
        </p:txBody>
      </p:sp>
      <p:sp>
        <p:nvSpPr>
          <p:cNvPr id="33" name="TextBox 32"/>
          <p:cNvSpPr txBox="1"/>
          <p:nvPr/>
        </p:nvSpPr>
        <p:spPr>
          <a:xfrm>
            <a:off x="1042416" y="483717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Highest deployable macro AUROC for unfamiliar faults. One shared covariance stays stable with few recordings per class.</a:t>
            </a:r>
          </a:p>
        </p:txBody>
      </p:sp>
      <p:sp>
        <p:nvSpPr>
          <p:cNvPr id="34" name="Rounded Rectangle 33"/>
          <p:cNvSpPr/>
          <p:nvPr/>
        </p:nvSpPr>
        <p:spPr>
          <a:xfrm>
            <a:off x="4393692" y="381304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622292" y="399592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frozen</a:t>
            </a:r>
          </a:p>
        </p:txBody>
      </p:sp>
      <p:sp>
        <p:nvSpPr>
          <p:cNvPr id="36" name="TextBox 35"/>
          <p:cNvSpPr txBox="1"/>
          <p:nvPr/>
        </p:nvSpPr>
        <p:spPr>
          <a:xfrm>
            <a:off x="4622292" y="448970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Fixed decision rule</a:t>
            </a:r>
          </a:p>
        </p:txBody>
      </p:sp>
      <p:sp>
        <p:nvSpPr>
          <p:cNvPr id="37" name="TextBox 36"/>
          <p:cNvSpPr txBox="1"/>
          <p:nvPr/>
        </p:nvSpPr>
        <p:spPr>
          <a:xfrm>
            <a:off x="4622292" y="483717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Easy to inspect and explain, frozen before the test. A learned combiner was worse on both criteria.</a:t>
            </a:r>
          </a:p>
        </p:txBody>
      </p:sp>
      <p:sp>
        <p:nvSpPr>
          <p:cNvPr id="38" name="Rounded Rectangle 37"/>
          <p:cNvSpPr/>
          <p:nvPr/>
        </p:nvSpPr>
        <p:spPr>
          <a:xfrm>
            <a:off x="7973568" y="3813048"/>
            <a:ext cx="3401568" cy="217627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02168" y="3995928"/>
            <a:ext cx="3017520" cy="457200"/>
          </a:xfrm>
          <a:prstGeom prst="rect">
            <a:avLst/>
          </a:prstGeom>
          <a:noFill/>
        </p:spPr>
        <p:txBody>
          <a:bodyPr wrap="square" lIns="0" rIns="0" tIns="0" bIns="0" anchor="t">
            <a:spAutoFit/>
          </a:bodyPr>
          <a:lstStyle/>
          <a:p>
            <a:pPr algn="l"/>
            <a:r>
              <a:rPr sz="2200" b="1" i="0">
                <a:solidFill>
                  <a:srgbClr val="1007DC"/>
                </a:solidFill>
                <a:latin typeface="Poppins"/>
                <a:ea typeface="Poppins"/>
                <a:cs typeface="Poppins"/>
              </a:rPr>
              <a:t>≈ 4 ms</a:t>
            </a:r>
          </a:p>
        </p:txBody>
      </p:sp>
      <p:sp>
        <p:nvSpPr>
          <p:cNvPr id="40" name="TextBox 39"/>
          <p:cNvSpPr txBox="1"/>
          <p:nvPr/>
        </p:nvSpPr>
        <p:spPr>
          <a:xfrm>
            <a:off x="8202168" y="4489704"/>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Small on purpose</a:t>
            </a:r>
          </a:p>
        </p:txBody>
      </p:sp>
      <p:sp>
        <p:nvSpPr>
          <p:cNvPr id="41" name="TextBox 40"/>
          <p:cNvSpPr txBox="1"/>
          <p:nvPr/>
        </p:nvSpPr>
        <p:spPr>
          <a:xfrm>
            <a:off x="8202168" y="4837176"/>
            <a:ext cx="2971800" cy="1097280"/>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CNN-6 has 0.6 M parameters and runs in about 4 ms per recording on a CPU, so it is cheap to retrain 81 times.</a:t>
            </a:r>
          </a:p>
        </p:txBody>
      </p:sp>
    </p:spTree>
    <p:extLst>
      <p:ext uri="{BB962C8B-B14F-4D97-AF65-F5344CB8AC3E}">
        <p14:creationId xmlns:p14="http://schemas.microsoft.com/office/powerpoint/2010/main" val="1499429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Tech stack: everything runs locally</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16</a:t>
            </a:r>
            <a:endParaRPr lang="en-US" sz="1200" dirty="0"/>
          </a:p>
        </p:txBody>
      </p:sp>
      <p:sp>
        <p:nvSpPr>
          <p:cNvPr id="18" name="Rounded Rectangle 17"/>
          <p:cNvSpPr/>
          <p:nvPr/>
        </p:nvSpPr>
        <p:spPr>
          <a:xfrm>
            <a:off x="813816" y="1481328"/>
            <a:ext cx="10561320" cy="7863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24128" y="1481328"/>
            <a:ext cx="2286000" cy="786384"/>
          </a:xfrm>
          <a:prstGeom prst="rect">
            <a:avLst/>
          </a:prstGeom>
          <a:noFill/>
        </p:spPr>
        <p:txBody>
          <a:bodyPr wrap="square" lIns="0" rIns="0" tIns="0" bIns="0" anchor="ctr">
            <a:spAutoFit/>
          </a:bodyPr>
          <a:lstStyle/>
          <a:p>
            <a:pPr algn="l"/>
            <a:r>
              <a:rPr sz="1400" b="1" i="0">
                <a:solidFill>
                  <a:srgbClr val="1007DC"/>
                </a:solidFill>
                <a:latin typeface="Poppins"/>
                <a:ea typeface="Poppins"/>
                <a:cs typeface="Poppins"/>
              </a:rPr>
              <a:t>Data and training</a:t>
            </a:r>
          </a:p>
        </p:txBody>
      </p:sp>
      <p:sp>
        <p:nvSpPr>
          <p:cNvPr id="20" name="Rounded Rectangle 19"/>
          <p:cNvSpPr/>
          <p:nvPr/>
        </p:nvSpPr>
        <p:spPr>
          <a:xfrm>
            <a:off x="3291840" y="1655064"/>
            <a:ext cx="1078992"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291840" y="1655064"/>
            <a:ext cx="1078992"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Python 3.12</a:t>
            </a:r>
          </a:p>
        </p:txBody>
      </p:sp>
      <p:sp>
        <p:nvSpPr>
          <p:cNvPr id="22" name="Rounded Rectangle 21"/>
          <p:cNvSpPr/>
          <p:nvPr/>
        </p:nvSpPr>
        <p:spPr>
          <a:xfrm>
            <a:off x="4507992" y="1655064"/>
            <a:ext cx="1737360"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07992" y="1655064"/>
            <a:ext cx="1737360"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PyTorch on Apple MPS</a:t>
            </a:r>
          </a:p>
        </p:txBody>
      </p:sp>
      <p:sp>
        <p:nvSpPr>
          <p:cNvPr id="24" name="Rounded Rectangle 23"/>
          <p:cNvSpPr/>
          <p:nvPr/>
        </p:nvSpPr>
        <p:spPr>
          <a:xfrm>
            <a:off x="6382512" y="1655064"/>
            <a:ext cx="1152144"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82512" y="1655064"/>
            <a:ext cx="1152144"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scikit-learn</a:t>
            </a:r>
          </a:p>
        </p:txBody>
      </p:sp>
      <p:sp>
        <p:nvSpPr>
          <p:cNvPr id="26" name="Rounded Rectangle 25"/>
          <p:cNvSpPr/>
          <p:nvPr/>
        </p:nvSpPr>
        <p:spPr>
          <a:xfrm>
            <a:off x="7671816" y="1655064"/>
            <a:ext cx="85953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71816" y="1655064"/>
            <a:ext cx="85953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LightGBM</a:t>
            </a:r>
          </a:p>
        </p:txBody>
      </p:sp>
      <p:sp>
        <p:nvSpPr>
          <p:cNvPr id="28" name="Rounded Rectangle 27"/>
          <p:cNvSpPr/>
          <p:nvPr/>
        </p:nvSpPr>
        <p:spPr>
          <a:xfrm>
            <a:off x="8668512" y="1655064"/>
            <a:ext cx="1371600"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68512" y="1655064"/>
            <a:ext cx="1371600"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MLflow tracking</a:t>
            </a:r>
          </a:p>
        </p:txBody>
      </p:sp>
      <p:sp>
        <p:nvSpPr>
          <p:cNvPr id="30" name="Rounded Rectangle 29"/>
          <p:cNvSpPr/>
          <p:nvPr/>
        </p:nvSpPr>
        <p:spPr>
          <a:xfrm>
            <a:off x="813816" y="2395728"/>
            <a:ext cx="10561320" cy="7863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4128" y="2395728"/>
            <a:ext cx="2286000" cy="786384"/>
          </a:xfrm>
          <a:prstGeom prst="rect">
            <a:avLst/>
          </a:prstGeom>
          <a:noFill/>
        </p:spPr>
        <p:txBody>
          <a:bodyPr wrap="square" lIns="0" rIns="0" tIns="0" bIns="0" anchor="ctr">
            <a:spAutoFit/>
          </a:bodyPr>
          <a:lstStyle/>
          <a:p>
            <a:pPr algn="l"/>
            <a:r>
              <a:rPr sz="1400" b="1" i="0">
                <a:solidFill>
                  <a:srgbClr val="1007DC"/>
                </a:solidFill>
                <a:latin typeface="Poppins"/>
                <a:ea typeface="Poppins"/>
                <a:cs typeface="Poppins"/>
              </a:rPr>
              <a:t>Inference</a:t>
            </a:r>
          </a:p>
        </p:txBody>
      </p:sp>
      <p:sp>
        <p:nvSpPr>
          <p:cNvPr id="32" name="Rounded Rectangle 31"/>
          <p:cNvSpPr/>
          <p:nvPr/>
        </p:nvSpPr>
        <p:spPr>
          <a:xfrm>
            <a:off x="3291840" y="2569464"/>
            <a:ext cx="85953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291840" y="2569464"/>
            <a:ext cx="85953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CPU only</a:t>
            </a:r>
          </a:p>
        </p:txBody>
      </p:sp>
      <p:sp>
        <p:nvSpPr>
          <p:cNvPr id="34" name="Rounded Rectangle 33"/>
          <p:cNvSpPr/>
          <p:nvPr/>
        </p:nvSpPr>
        <p:spPr>
          <a:xfrm>
            <a:off x="4288536" y="2569464"/>
            <a:ext cx="1664208"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288536" y="2569464"/>
            <a:ext cx="1664208"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Hashed model bundle</a:t>
            </a:r>
          </a:p>
        </p:txBody>
      </p:sp>
      <p:sp>
        <p:nvSpPr>
          <p:cNvPr id="36" name="Rounded Rectangle 35"/>
          <p:cNvSpPr/>
          <p:nvPr/>
        </p:nvSpPr>
        <p:spPr>
          <a:xfrm>
            <a:off x="6089903" y="2569464"/>
            <a:ext cx="195681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089903" y="2569464"/>
            <a:ext cx="195681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885 ms median diagnosis</a:t>
            </a:r>
          </a:p>
        </p:txBody>
      </p:sp>
      <p:sp>
        <p:nvSpPr>
          <p:cNvPr id="38" name="Rounded Rectangle 37"/>
          <p:cNvSpPr/>
          <p:nvPr/>
        </p:nvSpPr>
        <p:spPr>
          <a:xfrm>
            <a:off x="813816" y="3310128"/>
            <a:ext cx="10561320" cy="7863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4128" y="3310128"/>
            <a:ext cx="2286000" cy="786384"/>
          </a:xfrm>
          <a:prstGeom prst="rect">
            <a:avLst/>
          </a:prstGeom>
          <a:noFill/>
        </p:spPr>
        <p:txBody>
          <a:bodyPr wrap="square" lIns="0" rIns="0" tIns="0" bIns="0" anchor="ctr">
            <a:spAutoFit/>
          </a:bodyPr>
          <a:lstStyle/>
          <a:p>
            <a:pPr algn="l"/>
            <a:r>
              <a:rPr sz="1400" b="1" i="0">
                <a:solidFill>
                  <a:srgbClr val="1007DC"/>
                </a:solidFill>
                <a:latin typeface="Poppins"/>
                <a:ea typeface="Poppins"/>
                <a:cs typeface="Poppins"/>
              </a:rPr>
              <a:t>Backend</a:t>
            </a:r>
          </a:p>
        </p:txBody>
      </p:sp>
      <p:sp>
        <p:nvSpPr>
          <p:cNvPr id="40" name="Rounded Rectangle 39"/>
          <p:cNvSpPr/>
          <p:nvPr/>
        </p:nvSpPr>
        <p:spPr>
          <a:xfrm>
            <a:off x="3291840" y="3483864"/>
            <a:ext cx="786384"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291840" y="3483864"/>
            <a:ext cx="786384"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FastAPI</a:t>
            </a:r>
          </a:p>
        </p:txBody>
      </p:sp>
      <p:sp>
        <p:nvSpPr>
          <p:cNvPr id="42" name="Rounded Rectangle 41"/>
          <p:cNvSpPr/>
          <p:nvPr/>
        </p:nvSpPr>
        <p:spPr>
          <a:xfrm>
            <a:off x="4215384" y="3483864"/>
            <a:ext cx="1078992"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215384" y="3483864"/>
            <a:ext cx="1078992"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Pydantic v2</a:t>
            </a:r>
          </a:p>
        </p:txBody>
      </p:sp>
      <p:sp>
        <p:nvSpPr>
          <p:cNvPr id="44" name="Rounded Rectangle 43"/>
          <p:cNvSpPr/>
          <p:nvPr/>
        </p:nvSpPr>
        <p:spPr>
          <a:xfrm>
            <a:off x="5431536" y="3483864"/>
            <a:ext cx="1517904"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31536" y="3483864"/>
            <a:ext cx="1517904"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SQLite case store</a:t>
            </a:r>
          </a:p>
        </p:txBody>
      </p:sp>
      <p:sp>
        <p:nvSpPr>
          <p:cNvPr id="46" name="Rounded Rectangle 45"/>
          <p:cNvSpPr/>
          <p:nvPr/>
        </p:nvSpPr>
        <p:spPr>
          <a:xfrm>
            <a:off x="813816" y="4224528"/>
            <a:ext cx="10561320" cy="7863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24128" y="4224528"/>
            <a:ext cx="2286000" cy="786384"/>
          </a:xfrm>
          <a:prstGeom prst="rect">
            <a:avLst/>
          </a:prstGeom>
          <a:noFill/>
        </p:spPr>
        <p:txBody>
          <a:bodyPr wrap="square" lIns="0" rIns="0" tIns="0" bIns="0" anchor="ctr">
            <a:spAutoFit/>
          </a:bodyPr>
          <a:lstStyle/>
          <a:p>
            <a:pPr algn="l"/>
            <a:r>
              <a:rPr sz="1400" b="1" i="0">
                <a:solidFill>
                  <a:srgbClr val="1007DC"/>
                </a:solidFill>
                <a:latin typeface="Poppins"/>
                <a:ea typeface="Poppins"/>
                <a:cs typeface="Poppins"/>
              </a:rPr>
              <a:t>Frontend</a:t>
            </a:r>
          </a:p>
        </p:txBody>
      </p:sp>
      <p:sp>
        <p:nvSpPr>
          <p:cNvPr id="48" name="Rounded Rectangle 47"/>
          <p:cNvSpPr/>
          <p:nvPr/>
        </p:nvSpPr>
        <p:spPr>
          <a:xfrm>
            <a:off x="3291840" y="4398264"/>
            <a:ext cx="85953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3291840" y="4398264"/>
            <a:ext cx="85953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React 18</a:t>
            </a:r>
          </a:p>
        </p:txBody>
      </p:sp>
      <p:sp>
        <p:nvSpPr>
          <p:cNvPr id="50" name="Rounded Rectangle 49"/>
          <p:cNvSpPr/>
          <p:nvPr/>
        </p:nvSpPr>
        <p:spPr>
          <a:xfrm>
            <a:off x="4288536" y="4398264"/>
            <a:ext cx="566928"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4288536" y="4398264"/>
            <a:ext cx="566928"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Vite</a:t>
            </a:r>
          </a:p>
        </p:txBody>
      </p:sp>
      <p:sp>
        <p:nvSpPr>
          <p:cNvPr id="52" name="Rounded Rectangle 51"/>
          <p:cNvSpPr/>
          <p:nvPr/>
        </p:nvSpPr>
        <p:spPr>
          <a:xfrm>
            <a:off x="4992623" y="4398264"/>
            <a:ext cx="85953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992623" y="4398264"/>
            <a:ext cx="85953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Tailwind</a:t>
            </a:r>
          </a:p>
        </p:txBody>
      </p:sp>
      <p:sp>
        <p:nvSpPr>
          <p:cNvPr id="54" name="Rounded Rectangle 53"/>
          <p:cNvSpPr/>
          <p:nvPr/>
        </p:nvSpPr>
        <p:spPr>
          <a:xfrm>
            <a:off x="5989319" y="4398264"/>
            <a:ext cx="1371600"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989319" y="4398264"/>
            <a:ext cx="1371600"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three.js 3D rig</a:t>
            </a:r>
          </a:p>
        </p:txBody>
      </p:sp>
      <p:sp>
        <p:nvSpPr>
          <p:cNvPr id="56" name="Rounded Rectangle 55"/>
          <p:cNvSpPr/>
          <p:nvPr/>
        </p:nvSpPr>
        <p:spPr>
          <a:xfrm>
            <a:off x="813816" y="5138928"/>
            <a:ext cx="10561320" cy="786384"/>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24128" y="5138928"/>
            <a:ext cx="2286000" cy="786384"/>
          </a:xfrm>
          <a:prstGeom prst="rect">
            <a:avLst/>
          </a:prstGeom>
          <a:noFill/>
        </p:spPr>
        <p:txBody>
          <a:bodyPr wrap="square" lIns="0" rIns="0" tIns="0" bIns="0" anchor="ctr">
            <a:spAutoFit/>
          </a:bodyPr>
          <a:lstStyle/>
          <a:p>
            <a:pPr algn="l"/>
            <a:r>
              <a:rPr sz="1400" b="1" i="0">
                <a:solidFill>
                  <a:srgbClr val="1007DC"/>
                </a:solidFill>
                <a:latin typeface="Poppins"/>
                <a:ea typeface="Poppins"/>
                <a:cs typeface="Poppins"/>
              </a:rPr>
              <a:t>Assistant</a:t>
            </a:r>
          </a:p>
        </p:txBody>
      </p:sp>
      <p:sp>
        <p:nvSpPr>
          <p:cNvPr id="58" name="Rounded Rectangle 57"/>
          <p:cNvSpPr/>
          <p:nvPr/>
        </p:nvSpPr>
        <p:spPr>
          <a:xfrm>
            <a:off x="3291840" y="5312664"/>
            <a:ext cx="1664208"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3291840" y="5312664"/>
            <a:ext cx="1664208"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Gemma via LM Studio</a:t>
            </a:r>
          </a:p>
        </p:txBody>
      </p:sp>
      <p:sp>
        <p:nvSpPr>
          <p:cNvPr id="60" name="Rounded Rectangle 59"/>
          <p:cNvSpPr/>
          <p:nvPr/>
        </p:nvSpPr>
        <p:spPr>
          <a:xfrm>
            <a:off x="5093208" y="5312664"/>
            <a:ext cx="2176272"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5093208" y="5312664"/>
            <a:ext cx="2176272"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No data leaves the machine</a:t>
            </a:r>
          </a:p>
        </p:txBody>
      </p:sp>
      <p:sp>
        <p:nvSpPr>
          <p:cNvPr id="62" name="Rounded Rectangle 61"/>
          <p:cNvSpPr/>
          <p:nvPr/>
        </p:nvSpPr>
        <p:spPr>
          <a:xfrm>
            <a:off x="7406640" y="5312664"/>
            <a:ext cx="1517904"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406640" y="5312664"/>
            <a:ext cx="1517904"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6 read-only tools</a:t>
            </a:r>
          </a:p>
        </p:txBody>
      </p:sp>
      <p:sp>
        <p:nvSpPr>
          <p:cNvPr id="64" name="Rounded Rectangle 63"/>
          <p:cNvSpPr/>
          <p:nvPr/>
        </p:nvSpPr>
        <p:spPr>
          <a:xfrm>
            <a:off x="9061704" y="5312664"/>
            <a:ext cx="1956816" cy="438912"/>
          </a:xfrm>
          <a:prstGeom prst="roundRect">
            <a:avLst>
              <a:gd name="adj" fmla="val 50000"/>
            </a:avLst>
          </a:prstGeom>
          <a:solidFill>
            <a:srgbClr val="EE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061704" y="5312664"/>
            <a:ext cx="1956816" cy="438912"/>
          </a:xfrm>
          <a:prstGeom prst="rect">
            <a:avLst/>
          </a:prstGeom>
          <a:noFill/>
        </p:spPr>
        <p:txBody>
          <a:bodyPr wrap="square" lIns="0" rIns="0" tIns="0" bIns="0" anchor="ctr">
            <a:spAutoFit/>
          </a:bodyPr>
          <a:lstStyle/>
          <a:p>
            <a:pPr algn="ctr"/>
            <a:r>
              <a:rPr sz="1200" b="0" i="0">
                <a:solidFill>
                  <a:srgbClr val="1E293B"/>
                </a:solidFill>
                <a:latin typeface="DM Sans"/>
                <a:ea typeface="DM Sans"/>
                <a:cs typeface="DM Sans"/>
              </a:rPr>
              <a:t>Answers checked in code</a:t>
            </a:r>
          </a:p>
        </p:txBody>
      </p:sp>
    </p:spTree>
    <p:extLst>
      <p:ext uri="{BB962C8B-B14F-4D97-AF65-F5344CB8AC3E}">
        <p14:creationId xmlns:p14="http://schemas.microsoft.com/office/powerpoint/2010/main" val="1499429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07D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5A7A8-60E9-4934-A116-2E3451BA4D60}"/>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F5F3F0"/>
                </a:solidFill>
                <a:latin typeface="Poppins"/>
                <a:ea typeface="Poppins"/>
                <a:cs typeface="Poppins"/>
              </a:rPr>
              <a:t>MACHINESENSE</a:t>
            </a:r>
            <a:endParaRPr sz="1200"/>
          </a:p>
        </p:txBody>
      </p:sp>
      <p:sp>
        <p:nvSpPr>
          <p:cNvPr id="4" name="Text 2">
            <a:extLst>
              <a:ext uri="{FF2B5EF4-FFF2-40B4-BE49-F238E27FC236}">
                <a16:creationId xmlns:a16="http://schemas.microsoft.com/office/drawing/2014/main" id="{87B3BA63-0601-4848-B6C0-1DA63F7EF52B}"/>
              </a:ext>
            </a:extLst>
          </p:cNvPr>
          <p:cNvSpPr>
            <a:spLocks noGrp="1"/>
          </p:cNvSpPr>
          <p:nvPr/>
        </p:nvSpPr>
        <p:spPr>
          <a:xfrm>
            <a:off x="812767" y="2228949"/>
            <a:ext cx="9810750" cy="1310614"/>
          </a:xfrm>
          <a:prstGeom prst="rect">
            <a:avLst/>
          </a:prstGeom>
          <a:noFill/>
        </p:spPr>
        <p:txBody>
          <a:bodyPr wrap="square" lIns="0" tIns="0" rIns="0" bIns="0" anchor="t">
            <a:normAutofit/>
          </a:bodyPr>
          <a:lstStyle/>
          <a:p>
            <a:pPr marL="0" indent="0" algn="l">
              <a:lnSpc>
                <a:spcPts val="5060"/>
              </a:lnSpc>
              <a:buNone/>
            </a:pPr>
            <a:r>
              <a:rPr lang="en-US" sz="4600" b="1">
                <a:solidFill>
                  <a:srgbClr val="FFFFFF"/>
                </a:solidFill>
                <a:latin typeface="Poppins"/>
                <a:ea typeface="Poppins"/>
                <a:cs typeface="Poppins"/>
              </a:rPr>
              <a:t>Live demo</a:t>
            </a:r>
            <a:endParaRPr sz="4600"/>
          </a:p>
        </p:txBody>
      </p:sp>
      <p:sp>
        <p:nvSpPr>
          <p:cNvPr id="6" name="Text 4">
            <a:extLst>
              <a:ext uri="{FF2B5EF4-FFF2-40B4-BE49-F238E27FC236}">
                <a16:creationId xmlns:a16="http://schemas.microsoft.com/office/drawing/2014/main" id="{72151099-AA39-4DA7-A1C7-B6DBA4AA3721}"/>
              </a:ext>
            </a:extLst>
          </p:cNvPr>
          <p:cNvSpPr>
            <a:spLocks noGrp="1"/>
          </p:cNvSpPr>
          <p:nvPr/>
        </p:nvSpPr>
        <p:spPr>
          <a:xfrm>
            <a:off x="812767" y="3004013"/>
            <a:ext cx="4193925" cy="292050"/>
          </a:xfrm>
          <a:prstGeom prst="rect">
            <a:avLst/>
          </a:prstGeom>
          <a:noFill/>
        </p:spPr>
        <p:txBody>
          <a:bodyPr wrap="square" lIns="0" tIns="0" rIns="0" bIns="0" anchor="t">
            <a:normAutofit/>
          </a:bodyPr>
          <a:lstStyle/>
          <a:p>
            <a:pPr marL="0" indent="0" algn="l">
              <a:lnSpc>
                <a:spcPts val="2100"/>
              </a:lnSpc>
              <a:buNone/>
            </a:pPr>
            <a:r>
              <a:rPr sz="1500">
                <a:solidFill>
                  <a:srgbClr val="FFFFFF"/>
                </a:solidFill>
                <a:latin typeface="DM Sans"/>
                <a:ea typeface="DM Sans"/>
                <a:cs typeface="DM Sans"/>
              </a:rPr>
              <a:t>github.com/bhuveshsharma09/MachineSense</a:t>
            </a:r>
            <a:endParaRPr sz="1500"/>
          </a:p>
        </p:txBody>
      </p:sp>
      <p:sp>
        <p:nvSpPr>
          <p:cNvPr id="7" name="Text 5">
            <a:extLst>
              <a:ext uri="{FF2B5EF4-FFF2-40B4-BE49-F238E27FC236}">
                <a16:creationId xmlns:a16="http://schemas.microsoft.com/office/drawing/2014/main" id="{751D3950-770D-4E6F-A904-E8A6363A5A73}"/>
              </a:ext>
            </a:extLst>
          </p:cNvPr>
          <p:cNvSpPr>
            <a:spLocks noGrp="1"/>
          </p:cNvSpPr>
          <p:nvPr/>
        </p:nvSpPr>
        <p:spPr>
          <a:xfrm>
            <a:off x="812767" y="3328445"/>
            <a:ext cx="2295732" cy="292050"/>
          </a:xfrm>
          <a:prstGeom prst="rect">
            <a:avLst/>
          </a:prstGeom>
          <a:noFill/>
        </p:spPr>
        <p:txBody>
          <a:bodyPr wrap="square" lIns="0" tIns="0" rIns="0" bIns="0" anchor="t">
            <a:normAutofit/>
          </a:bodyPr>
          <a:lstStyle/>
          <a:p>
            <a:pPr marL="0" indent="0" algn="l">
              <a:lnSpc>
                <a:spcPts val="2100"/>
              </a:lnSpc>
              <a:buNone/>
            </a:pPr>
            <a:r>
              <a:rPr sz="1500">
                <a:solidFill>
                  <a:srgbClr val="F5F3F0"/>
                </a:solidFill>
                <a:latin typeface="DM Sans"/>
                <a:ea typeface="DM Sans"/>
                <a:cs typeface="DM Sans"/>
              </a:rPr>
              <a:t>Bhuvesh Kumar · NUS-ISS</a:t>
            </a:r>
            <a:endParaRPr sz="1500"/>
          </a:p>
        </p:txBody>
      </p:sp>
      <p:sp>
        <p:nvSpPr>
          <p:cNvPr id="3" name="Text 51">
            <a:extLst>
              <a:ext uri="{FF2B5EF4-FFF2-40B4-BE49-F238E27FC236}">
                <a16:creationId xmlns:a16="http://schemas.microsoft.com/office/drawing/2014/main" id="{DD889F0B-AEDA-2EB1-FDE9-8813BC8052C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chemeClr val="bg1"/>
                </a:solidFill>
                <a:latin typeface="DM Sans" pitchFamily="34" charset="0"/>
                <a:ea typeface="DM Sans" pitchFamily="34" charset="-122"/>
                <a:cs typeface="DM Sans" pitchFamily="34" charset="-120"/>
              </a:rPr>
              <a:t>17</a:t>
            </a:r>
            <a:endParaRPr lang="en-US" sz="1200" dirty="0">
              <a:solidFill>
                <a:schemeClr val="bg1"/>
              </a:solidFill>
            </a:endParaRPr>
          </a:p>
        </p:txBody>
      </p:sp>
      <p:pic>
        <p:nvPicPr>
          <p:cNvPr id="8" name="App home" descr="home.jpg"/>
          <p:cNvPicPr>
            <a:picLocks noChangeAspect="1"/>
          </p:cNvPicPr>
          <p:nvPr/>
        </p:nvPicPr>
        <p:blipFill>
          <a:blip r:embed="rId4"/>
          <a:stretch>
            <a:fillRect/>
          </a:stretch>
        </p:blipFill>
        <p:spPr>
          <a:xfrm>
            <a:off x="5265146" y="1318028"/>
            <a:ext cx="6109990" cy="3818744"/>
          </a:xfrm>
          <a:prstGeom prst="rect">
            <a:avLst/>
          </a:prstGeom>
        </p:spPr>
      </p:pic>
    </p:spTree>
    <p:extLst>
      <p:ext uri="{BB962C8B-B14F-4D97-AF65-F5344CB8AC3E}">
        <p14:creationId xmlns:p14="http://schemas.microsoft.com/office/powerpoint/2010/main" val="582944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What data each evaluation uses</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18</a:t>
            </a:r>
            <a:endParaRPr lang="en-US" sz="1200" dirty="0"/>
          </a:p>
        </p:txBody>
      </p:sp>
      <p:pic>
        <p:nvPicPr>
          <p:cNvPr id="18" name="ppt15s_eval_data" descr="new_ppt15s_eval_data.png"/>
          <p:cNvPicPr>
            <a:picLocks noChangeAspect="1"/>
          </p:cNvPicPr>
          <p:nvPr/>
        </p:nvPicPr>
        <p:blipFill>
          <a:blip r:embed="rId5"/>
          <a:stretch>
            <a:fillRect/>
          </a:stretch>
        </p:blipFill>
        <p:spPr>
          <a:xfrm>
            <a:off x="919574" y="1417320"/>
            <a:ext cx="10349802" cy="4709159"/>
          </a:xfrm>
          <a:prstGeom prst="rect">
            <a:avLst/>
          </a:prstGeom>
        </p:spPr>
      </p:pic>
    </p:spTree>
    <p:extLst>
      <p:ext uri="{BB962C8B-B14F-4D97-AF65-F5344CB8AC3E}">
        <p14:creationId xmlns:p14="http://schemas.microsoft.com/office/powerpoint/2010/main" val="1499429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Final evaluation: sealed tests, opened once</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19</a:t>
            </a:r>
            <a:endParaRPr lang="en-US" sz="1200" dirty="0"/>
          </a:p>
        </p:txBody>
      </p:sp>
      <p:sp>
        <p:nvSpPr>
          <p:cNvPr id="18" name="TextBox 17"/>
          <p:cNvSpPr txBox="1"/>
          <p:nvPr/>
        </p:nvSpPr>
        <p:spPr>
          <a:xfrm>
            <a:off x="813816" y="1353312"/>
            <a:ext cx="10515600" cy="274320"/>
          </a:xfrm>
          <a:prstGeom prst="rect">
            <a:avLst/>
          </a:prstGeom>
          <a:noFill/>
        </p:spPr>
        <p:txBody>
          <a:bodyPr wrap="square" lIns="0" rIns="0" tIns="0" bIns="0" anchor="t">
            <a:spAutoFit/>
          </a:bodyPr>
          <a:lstStyle/>
          <a:p>
            <a:pPr algn="l"/>
            <a:r>
              <a:rPr sz="1250" b="0" i="0">
                <a:solidFill>
                  <a:srgbClr val="64748B"/>
                </a:solidFill>
                <a:latin typeface="DM Sans"/>
                <a:ea typeface="DM Sans"/>
                <a:cs typeface="DM Sans"/>
              </a:rPr>
              <a:t>Frozen system, one run on 28 September 2026, one test rig. Reserved recordings only.</a:t>
            </a:r>
          </a:p>
        </p:txBody>
      </p:sp>
      <p:sp>
        <p:nvSpPr>
          <p:cNvPr id="19" name="Rounded Rectangle 18"/>
          <p:cNvSpPr/>
          <p:nvPr/>
        </p:nvSpPr>
        <p:spPr>
          <a:xfrm>
            <a:off x="813816" y="1783080"/>
            <a:ext cx="3401568" cy="425196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42416" y="1938528"/>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Q1  Is it healthy?</a:t>
            </a:r>
          </a:p>
        </p:txBody>
      </p:sp>
      <p:sp>
        <p:nvSpPr>
          <p:cNvPr id="21" name="TextBox 20"/>
          <p:cNvSpPr txBox="1"/>
          <p:nvPr/>
        </p:nvSpPr>
        <p:spPr>
          <a:xfrm>
            <a:off x="1042416" y="2331720"/>
            <a:ext cx="3017520" cy="685800"/>
          </a:xfrm>
          <a:prstGeom prst="rect">
            <a:avLst/>
          </a:prstGeom>
          <a:noFill/>
        </p:spPr>
        <p:txBody>
          <a:bodyPr wrap="square" lIns="0" rIns="0" tIns="0" bIns="0" anchor="t">
            <a:spAutoFit/>
          </a:bodyPr>
          <a:lstStyle/>
          <a:p>
            <a:pPr algn="l"/>
            <a:r>
              <a:rPr sz="3600" b="1" i="0">
                <a:solidFill>
                  <a:srgbClr val="1007DC"/>
                </a:solidFill>
                <a:latin typeface="Poppins"/>
                <a:ea typeface="Poppins"/>
                <a:cs typeface="Poppins"/>
              </a:rPr>
              <a:t>0</a:t>
            </a:r>
          </a:p>
        </p:txBody>
      </p:sp>
      <p:sp>
        <p:nvSpPr>
          <p:cNvPr id="22" name="TextBox 21"/>
          <p:cNvSpPr txBox="1"/>
          <p:nvPr/>
        </p:nvSpPr>
        <p:spPr>
          <a:xfrm>
            <a:off x="1042416" y="3035808"/>
            <a:ext cx="3017520" cy="320040"/>
          </a:xfrm>
          <a:prstGeom prst="rect">
            <a:avLst/>
          </a:prstGeom>
          <a:noFill/>
        </p:spPr>
        <p:txBody>
          <a:bodyPr wrap="square" lIns="0" rIns="0" tIns="0" bIns="0" anchor="t">
            <a:spAutoFit/>
          </a:bodyPr>
          <a:lstStyle/>
          <a:p>
            <a:pPr algn="l"/>
            <a:r>
              <a:rPr sz="1250" b="0" i="0">
                <a:solidFill>
                  <a:srgbClr val="1E293B"/>
                </a:solidFill>
                <a:latin typeface="DM Sans"/>
                <a:ea typeface="DM Sans"/>
                <a:cs typeface="DM Sans"/>
              </a:rPr>
              <a:t>faults called healthy</a:t>
            </a:r>
          </a:p>
        </p:txBody>
      </p:sp>
      <p:sp>
        <p:nvSpPr>
          <p:cNvPr id="23" name="TextBox 22"/>
          <p:cNvSpPr txBox="1"/>
          <p:nvPr/>
        </p:nvSpPr>
        <p:spPr>
          <a:xfrm>
            <a:off x="1042416" y="3520440"/>
            <a:ext cx="3017520" cy="1463040"/>
          </a:xfrm>
          <a:prstGeom prst="rect">
            <a:avLst/>
          </a:prstGeom>
          <a:noFill/>
        </p:spPr>
        <p:txBody>
          <a:bodyPr wrap="square" lIns="0" rIns="0" tIns="0" bIns="0" anchor="t">
            <a:spAutoFit/>
          </a:bodyPr>
          <a:lstStyle/>
          <a:p>
            <a:pPr algn="l" marL="182880" indent="-182880">
              <a:spcAft>
                <a:spcPts val="600"/>
              </a:spcAft>
              <a:buClr>
                <a:srgbClr val="1007DC"/>
              </a:buClr>
              <a:buFont typeface="Arial"/>
              <a:buChar char="•"/>
            </a:pPr>
            <a:r>
              <a:rPr sz="1250" b="1" i="0">
                <a:solidFill>
                  <a:srgbClr val="1E293B"/>
                </a:solidFill>
                <a:latin typeface="DM Sans"/>
                <a:ea typeface="DM Sans"/>
                <a:cs typeface="DM Sans"/>
              </a:rPr>
              <a:t>283 / 283</a:t>
            </a:r>
            <a:r>
              <a:rPr sz="1250" b="0" i="0">
                <a:solidFill>
                  <a:srgbClr val="64748B"/>
                </a:solidFill>
                <a:latin typeface="DM Sans"/>
                <a:ea typeface="DM Sans"/>
                <a:cs typeface="DM Sans"/>
              </a:rPr>
              <a:t> faults detected on the closed split</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5 of 7</a:t>
            </a:r>
            <a:r>
              <a:rPr sz="1250" b="0" i="0">
                <a:solidFill>
                  <a:srgbClr val="64748B"/>
                </a:solidFill>
                <a:latin typeface="DM Sans"/>
                <a:ea typeface="DM Sans"/>
                <a:cs typeface="DM Sans"/>
              </a:rPr>
              <a:t> healthy recordings sent to inspection</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19 of 20</a:t>
            </a:r>
            <a:r>
              <a:rPr sz="1250" b="0" i="0">
                <a:solidFill>
                  <a:srgbClr val="64748B"/>
                </a:solidFill>
                <a:latin typeface="DM Sans"/>
                <a:ea typeface="DM Sans"/>
                <a:cs typeface="DM Sans"/>
              </a:rPr>
              <a:t> on the unseen-speed block</a:t>
            </a:r>
          </a:p>
        </p:txBody>
      </p:sp>
      <p:sp>
        <p:nvSpPr>
          <p:cNvPr id="24" name="TextBox 23"/>
          <p:cNvSpPr txBox="1"/>
          <p:nvPr/>
        </p:nvSpPr>
        <p:spPr>
          <a:xfrm>
            <a:off x="1042416" y="5257800"/>
            <a:ext cx="3017520" cy="640080"/>
          </a:xfrm>
          <a:prstGeom prst="rect">
            <a:avLst/>
          </a:prstGeom>
          <a:noFill/>
        </p:spPr>
        <p:txBody>
          <a:bodyPr wrap="square" lIns="0" rIns="0" tIns="0" bIns="0" anchor="t">
            <a:spAutoFit/>
          </a:bodyPr>
          <a:lstStyle/>
          <a:p>
            <a:pPr algn="l"/>
            <a:r>
              <a:rPr sz="1150" b="1" i="0">
                <a:solidFill>
                  <a:srgbClr val="B45309"/>
                </a:solidFill>
                <a:latin typeface="DM Sans"/>
                <a:ea typeface="DM Sans"/>
                <a:cs typeface="DM Sans"/>
              </a:rPr>
              <a:t>Healthy calibration covered only 18 to 38 Hz.</a:t>
            </a:r>
          </a:p>
        </p:txBody>
      </p:sp>
      <p:sp>
        <p:nvSpPr>
          <p:cNvPr id="25" name="Rounded Rectangle 24"/>
          <p:cNvSpPr/>
          <p:nvPr/>
        </p:nvSpPr>
        <p:spPr>
          <a:xfrm>
            <a:off x="4393692" y="1783080"/>
            <a:ext cx="3401568" cy="425196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22292" y="1938528"/>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Q2  Which known fault?</a:t>
            </a:r>
          </a:p>
        </p:txBody>
      </p:sp>
      <p:sp>
        <p:nvSpPr>
          <p:cNvPr id="27" name="TextBox 26"/>
          <p:cNvSpPr txBox="1"/>
          <p:nvPr/>
        </p:nvSpPr>
        <p:spPr>
          <a:xfrm>
            <a:off x="4622292" y="2331720"/>
            <a:ext cx="3017520" cy="685800"/>
          </a:xfrm>
          <a:prstGeom prst="rect">
            <a:avLst/>
          </a:prstGeom>
          <a:noFill/>
        </p:spPr>
        <p:txBody>
          <a:bodyPr wrap="square" lIns="0" rIns="0" tIns="0" bIns="0" anchor="t">
            <a:spAutoFit/>
          </a:bodyPr>
          <a:lstStyle/>
          <a:p>
            <a:pPr algn="l"/>
            <a:r>
              <a:rPr sz="3600" b="1" i="0">
                <a:solidFill>
                  <a:srgbClr val="1007DC"/>
                </a:solidFill>
                <a:latin typeface="Poppins"/>
                <a:ea typeface="Poppins"/>
                <a:cs typeface="Poppins"/>
              </a:rPr>
              <a:t>0.916</a:t>
            </a:r>
          </a:p>
        </p:txBody>
      </p:sp>
      <p:sp>
        <p:nvSpPr>
          <p:cNvPr id="28" name="TextBox 27"/>
          <p:cNvSpPr txBox="1"/>
          <p:nvPr/>
        </p:nvSpPr>
        <p:spPr>
          <a:xfrm>
            <a:off x="4622292" y="3035808"/>
            <a:ext cx="3017520" cy="320040"/>
          </a:xfrm>
          <a:prstGeom prst="rect">
            <a:avLst/>
          </a:prstGeom>
          <a:noFill/>
        </p:spPr>
        <p:txBody>
          <a:bodyPr wrap="square" lIns="0" rIns="0" tIns="0" bIns="0" anchor="t">
            <a:spAutoFit/>
          </a:bodyPr>
          <a:lstStyle/>
          <a:p>
            <a:pPr algn="l"/>
            <a:r>
              <a:rPr sz="1250" b="0" i="0">
                <a:solidFill>
                  <a:srgbClr val="1E293B"/>
                </a:solidFill>
                <a:latin typeface="DM Sans"/>
                <a:ea typeface="DM Sans"/>
                <a:cs typeface="DM Sans"/>
              </a:rPr>
              <a:t>ten-class macro-F1, 290 recordings</a:t>
            </a:r>
          </a:p>
        </p:txBody>
      </p:sp>
      <p:sp>
        <p:nvSpPr>
          <p:cNvPr id="29" name="TextBox 28"/>
          <p:cNvSpPr txBox="1"/>
          <p:nvPr/>
        </p:nvSpPr>
        <p:spPr>
          <a:xfrm>
            <a:off x="4622292" y="3520440"/>
            <a:ext cx="3017520" cy="1463040"/>
          </a:xfrm>
          <a:prstGeom prst="rect">
            <a:avLst/>
          </a:prstGeom>
          <a:noFill/>
        </p:spPr>
        <p:txBody>
          <a:bodyPr wrap="square" lIns="0" rIns="0" tIns="0" bIns="0" anchor="t">
            <a:spAutoFit/>
          </a:bodyPr>
          <a:lstStyle/>
          <a:p>
            <a:pPr algn="l" marL="182880" indent="-182880">
              <a:spcAft>
                <a:spcPts val="600"/>
              </a:spcAft>
              <a:buClr>
                <a:srgbClr val="1007DC"/>
              </a:buClr>
              <a:buFont typeface="Arial"/>
              <a:buChar char="•"/>
            </a:pPr>
            <a:r>
              <a:rPr sz="1250" b="1" i="0">
                <a:solidFill>
                  <a:srgbClr val="1E293B"/>
                </a:solidFill>
                <a:latin typeface="DM Sans"/>
                <a:ea typeface="DM Sans"/>
                <a:cs typeface="DM Sans"/>
              </a:rPr>
              <a:t>0.845 to 0.972</a:t>
            </a:r>
            <a:r>
              <a:rPr sz="1250" b="0" i="0">
                <a:solidFill>
                  <a:srgbClr val="64748B"/>
                </a:solidFill>
                <a:latin typeface="DM Sans"/>
                <a:ea typeface="DM Sans"/>
                <a:cs typeface="DM Sans"/>
              </a:rPr>
              <a:t> 95 % interval</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0.901</a:t>
            </a:r>
            <a:r>
              <a:rPr sz="1250" b="0" i="0">
                <a:solidFill>
                  <a:srgbClr val="64748B"/>
                </a:solidFill>
                <a:latin typeface="DM Sans"/>
                <a:ea typeface="DM Sans"/>
                <a:cs typeface="DM Sans"/>
              </a:rPr>
              <a:t> at unseen speeds (≥ 40 Hz)</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0.747</a:t>
            </a:r>
            <a:r>
              <a:rPr sz="1250" b="0" i="0">
                <a:solidFill>
                  <a:srgbClr val="64748B"/>
                </a:solidFill>
                <a:latin typeface="DM Sans"/>
                <a:ea typeface="DM Sans"/>
                <a:cs typeface="DM Sans"/>
              </a:rPr>
              <a:t> at the largest unseen settings</a:t>
            </a:r>
          </a:p>
        </p:txBody>
      </p:sp>
      <p:sp>
        <p:nvSpPr>
          <p:cNvPr id="30" name="TextBox 29"/>
          <p:cNvSpPr txBox="1"/>
          <p:nvPr/>
        </p:nvSpPr>
        <p:spPr>
          <a:xfrm>
            <a:off x="4622292" y="5257800"/>
            <a:ext cx="3017520" cy="640080"/>
          </a:xfrm>
          <a:prstGeom prst="rect">
            <a:avLst/>
          </a:prstGeom>
          <a:noFill/>
        </p:spPr>
        <p:txBody>
          <a:bodyPr wrap="square" lIns="0" rIns="0" tIns="0" bIns="0" anchor="t">
            <a:spAutoFit/>
          </a:bodyPr>
          <a:lstStyle/>
          <a:p>
            <a:pPr algn="l"/>
            <a:r>
              <a:rPr sz="1150" b="1" i="0">
                <a:solidFill>
                  <a:srgbClr val="B45309"/>
                </a:solidFill>
                <a:latin typeface="DM Sans"/>
                <a:ea typeface="DM Sans"/>
                <a:cs typeface="DM Sans"/>
              </a:rPr>
              <a:t>Development folds gave 0.983 to 0.994.</a:t>
            </a:r>
          </a:p>
        </p:txBody>
      </p:sp>
      <p:sp>
        <p:nvSpPr>
          <p:cNvPr id="31" name="Rounded Rectangle 30"/>
          <p:cNvSpPr/>
          <p:nvPr/>
        </p:nvSpPr>
        <p:spPr>
          <a:xfrm>
            <a:off x="7973567" y="1783080"/>
            <a:ext cx="3401568" cy="425196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02167" y="1938528"/>
            <a:ext cx="3017520" cy="320040"/>
          </a:xfrm>
          <a:prstGeom prst="rect">
            <a:avLst/>
          </a:prstGeom>
          <a:noFill/>
        </p:spPr>
        <p:txBody>
          <a:bodyPr wrap="square" lIns="0" rIns="0" tIns="0" bIns="0" anchor="t">
            <a:spAutoFit/>
          </a:bodyPr>
          <a:lstStyle/>
          <a:p>
            <a:pPr algn="l"/>
            <a:r>
              <a:rPr sz="1350" b="1" i="0">
                <a:solidFill>
                  <a:srgbClr val="1E293B"/>
                </a:solidFill>
                <a:latin typeface="Poppins"/>
                <a:ea typeface="Poppins"/>
                <a:cs typeface="Poppins"/>
              </a:rPr>
              <a:t>Q3  Is it unfamiliar?</a:t>
            </a:r>
          </a:p>
        </p:txBody>
      </p:sp>
      <p:sp>
        <p:nvSpPr>
          <p:cNvPr id="33" name="TextBox 32"/>
          <p:cNvSpPr txBox="1"/>
          <p:nvPr/>
        </p:nvSpPr>
        <p:spPr>
          <a:xfrm>
            <a:off x="8202167" y="2331720"/>
            <a:ext cx="3017520" cy="685800"/>
          </a:xfrm>
          <a:prstGeom prst="rect">
            <a:avLst/>
          </a:prstGeom>
          <a:noFill/>
        </p:spPr>
        <p:txBody>
          <a:bodyPr wrap="square" lIns="0" rIns="0" tIns="0" bIns="0" anchor="t">
            <a:spAutoFit/>
          </a:bodyPr>
          <a:lstStyle/>
          <a:p>
            <a:pPr algn="l"/>
            <a:r>
              <a:rPr sz="3600" b="1" i="0">
                <a:solidFill>
                  <a:srgbClr val="1007DC"/>
                </a:solidFill>
                <a:latin typeface="Poppins"/>
                <a:ea typeface="Poppins"/>
                <a:cs typeface="Poppins"/>
              </a:rPr>
              <a:t>82.4 %</a:t>
            </a:r>
          </a:p>
        </p:txBody>
      </p:sp>
      <p:sp>
        <p:nvSpPr>
          <p:cNvPr id="34" name="TextBox 33"/>
          <p:cNvSpPr txBox="1"/>
          <p:nvPr/>
        </p:nvSpPr>
        <p:spPr>
          <a:xfrm>
            <a:off x="8202167" y="3035808"/>
            <a:ext cx="3017520" cy="320040"/>
          </a:xfrm>
          <a:prstGeom prst="rect">
            <a:avLst/>
          </a:prstGeom>
          <a:noFill/>
        </p:spPr>
        <p:txBody>
          <a:bodyPr wrap="square" lIns="0" rIns="0" tIns="0" bIns="0" anchor="t">
            <a:spAutoFit/>
          </a:bodyPr>
          <a:lstStyle/>
          <a:p>
            <a:pPr algn="l"/>
            <a:r>
              <a:rPr sz="1250" b="0" i="0">
                <a:solidFill>
                  <a:srgbClr val="1E293B"/>
                </a:solidFill>
                <a:latin typeface="DM Sans"/>
                <a:ea typeface="DM Sans"/>
                <a:cs typeface="DM Sans"/>
              </a:rPr>
              <a:t>of unfamiliar faults sent for inspection</a:t>
            </a:r>
          </a:p>
        </p:txBody>
      </p:sp>
      <p:sp>
        <p:nvSpPr>
          <p:cNvPr id="35" name="TextBox 34"/>
          <p:cNvSpPr txBox="1"/>
          <p:nvPr/>
        </p:nvSpPr>
        <p:spPr>
          <a:xfrm>
            <a:off x="8202167" y="3520440"/>
            <a:ext cx="3017520" cy="1463040"/>
          </a:xfrm>
          <a:prstGeom prst="rect">
            <a:avLst/>
          </a:prstGeom>
          <a:noFill/>
        </p:spPr>
        <p:txBody>
          <a:bodyPr wrap="square" lIns="0" rIns="0" tIns="0" bIns="0" anchor="t">
            <a:spAutoFit/>
          </a:bodyPr>
          <a:lstStyle/>
          <a:p>
            <a:pPr algn="l" marL="182880" indent="-182880">
              <a:spcAft>
                <a:spcPts val="600"/>
              </a:spcAft>
              <a:buClr>
                <a:srgbClr val="1007DC"/>
              </a:buClr>
              <a:buFont typeface="Arial"/>
              <a:buChar char="•"/>
            </a:pPr>
            <a:r>
              <a:rPr sz="1250" b="1" i="0">
                <a:solidFill>
                  <a:srgbClr val="1E293B"/>
                </a:solidFill>
                <a:latin typeface="DM Sans"/>
                <a:ea typeface="DM Sans"/>
                <a:cs typeface="DM Sans"/>
              </a:rPr>
              <a:t>925 / 1,123</a:t>
            </a:r>
            <a:r>
              <a:rPr sz="1250" b="0" i="0">
                <a:solidFill>
                  <a:srgbClr val="64748B"/>
                </a:solidFill>
                <a:latin typeface="DM Sans"/>
                <a:ea typeface="DM Sans"/>
                <a:cs typeface="DM Sans"/>
              </a:rPr>
              <a:t> hidden-fault recordings</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0.879</a:t>
            </a:r>
            <a:r>
              <a:rPr sz="1250" b="0" i="0">
                <a:solidFill>
                  <a:srgbClr val="64748B"/>
                </a:solidFill>
                <a:latin typeface="DM Sans"/>
                <a:ea typeface="DM Sans"/>
                <a:cs typeface="DM Sans"/>
              </a:rPr>
              <a:t> macro AUROC (Mahalanobis)</a:t>
            </a:r>
          </a:p>
          <a:p>
            <a:pPr algn="l" marL="182880" indent="-182880">
              <a:spcAft>
                <a:spcPts val="600"/>
              </a:spcAft>
              <a:buClr>
                <a:srgbClr val="1007DC"/>
              </a:buClr>
              <a:buFont typeface="Arial"/>
              <a:buChar char="•"/>
            </a:pPr>
            <a:r>
              <a:rPr sz="1250" b="1" i="0">
                <a:solidFill>
                  <a:srgbClr val="1E293B"/>
                </a:solidFill>
                <a:latin typeface="DM Sans"/>
                <a:ea typeface="DM Sans"/>
                <a:cs typeface="DM Sans"/>
              </a:rPr>
              <a:t>32.9 %</a:t>
            </a:r>
            <a:r>
              <a:rPr sz="1250" b="0" i="0">
                <a:solidFill>
                  <a:srgbClr val="64748B"/>
                </a:solidFill>
                <a:latin typeface="DM Sans"/>
                <a:ea typeface="DM Sans"/>
                <a:cs typeface="DM Sans"/>
              </a:rPr>
              <a:t> of known-side scorings also rejected</a:t>
            </a:r>
          </a:p>
        </p:txBody>
      </p:sp>
      <p:sp>
        <p:nvSpPr>
          <p:cNvPr id="36" name="TextBox 35"/>
          <p:cNvSpPr txBox="1"/>
          <p:nvPr/>
        </p:nvSpPr>
        <p:spPr>
          <a:xfrm>
            <a:off x="8202167" y="5257800"/>
            <a:ext cx="3017520" cy="640080"/>
          </a:xfrm>
          <a:prstGeom prst="rect">
            <a:avLst/>
          </a:prstGeom>
          <a:noFill/>
        </p:spPr>
        <p:txBody>
          <a:bodyPr wrap="square" lIns="0" rIns="0" tIns="0" bIns="0" anchor="t">
            <a:spAutoFit/>
          </a:bodyPr>
          <a:lstStyle/>
          <a:p>
            <a:pPr algn="l"/>
            <a:r>
              <a:rPr sz="1150" b="1" i="0">
                <a:solidFill>
                  <a:srgbClr val="B45309"/>
                </a:solidFill>
                <a:latin typeface="DM Sans"/>
                <a:ea typeface="DM Sans"/>
                <a:cs typeface="DM Sans"/>
              </a:rPr>
              <a:t>Rejection rose at unseen speeds and settings.</a:t>
            </a:r>
          </a:p>
        </p:txBody>
      </p:sp>
    </p:spTree>
    <p:extLst>
      <p:ext uri="{BB962C8B-B14F-4D97-AF65-F5344CB8AC3E}">
        <p14:creationId xmlns:p14="http://schemas.microsoft.com/office/powerpoint/2010/main" val="1499429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Unfamiliar faults: bearings caught, shaft faults harder</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20</a:t>
            </a:r>
            <a:endParaRPr lang="en-US" sz="1200" dirty="0"/>
          </a:p>
        </p:txBody>
      </p:sp>
      <p:sp>
        <p:nvSpPr>
          <p:cNvPr id="18" name="Rounded Rectangle 17"/>
          <p:cNvSpPr/>
          <p:nvPr/>
        </p:nvSpPr>
        <p:spPr>
          <a:xfrm>
            <a:off x="813816" y="1481328"/>
            <a:ext cx="6675120" cy="455371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9" name="Chart 18"/>
          <p:cNvGraphicFramePr>
            <a:graphicFrameLocks noGrp="1"/>
          </p:cNvGraphicFramePr>
          <p:nvPr/>
        </p:nvGraphicFramePr>
        <p:xfrm>
          <a:off x="960120" y="1572768"/>
          <a:ext cx="6400800" cy="4389120"/>
        </p:xfrm>
        <a:graphic>
          <a:graphicData uri="http://schemas.openxmlformats.org/drawingml/2006/chart">
            <c:chart xmlns:c="http://schemas.openxmlformats.org/drawingml/2006/chart" r:id="rId2"/>
          </a:graphicData>
        </a:graphic>
      </p:graphicFrame>
      <p:sp>
        <p:nvSpPr>
          <p:cNvPr id="20" name="Rounded Rectangle 19"/>
          <p:cNvSpPr/>
          <p:nvPr/>
        </p:nvSpPr>
        <p:spPr>
          <a:xfrm>
            <a:off x="7680960" y="1481328"/>
            <a:ext cx="3694176" cy="1033271"/>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82127" y="1609344"/>
            <a:ext cx="3337560" cy="274320"/>
          </a:xfrm>
          <a:prstGeom prst="rect">
            <a:avLst/>
          </a:prstGeom>
          <a:noFill/>
        </p:spPr>
        <p:txBody>
          <a:bodyPr wrap="square" lIns="0" rIns="0" tIns="0" bIns="0" anchor="t">
            <a:spAutoFit/>
          </a:bodyPr>
          <a:lstStyle/>
          <a:p>
            <a:pPr algn="l"/>
            <a:r>
              <a:rPr sz="1250" b="1" i="0">
                <a:solidFill>
                  <a:srgbClr val="1007DC"/>
                </a:solidFill>
                <a:latin typeface="Poppins"/>
                <a:ea typeface="Poppins"/>
                <a:cs typeface="Poppins"/>
              </a:rPr>
              <a:t>Bearing faults</a:t>
            </a:r>
          </a:p>
        </p:txBody>
      </p:sp>
      <p:sp>
        <p:nvSpPr>
          <p:cNvPr id="22" name="TextBox 21"/>
          <p:cNvSpPr txBox="1"/>
          <p:nvPr/>
        </p:nvSpPr>
        <p:spPr>
          <a:xfrm>
            <a:off x="7882127" y="1911095"/>
            <a:ext cx="3337560" cy="566928"/>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99 to 100 % sent for inspection: no known class looks like them.</a:t>
            </a:r>
          </a:p>
        </p:txBody>
      </p:sp>
      <p:sp>
        <p:nvSpPr>
          <p:cNvPr id="23" name="Rounded Rectangle 22"/>
          <p:cNvSpPr/>
          <p:nvPr/>
        </p:nvSpPr>
        <p:spPr>
          <a:xfrm>
            <a:off x="7680960" y="2651760"/>
            <a:ext cx="3694176" cy="1033271"/>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82127" y="2779776"/>
            <a:ext cx="3337560" cy="274320"/>
          </a:xfrm>
          <a:prstGeom prst="rect">
            <a:avLst/>
          </a:prstGeom>
          <a:noFill/>
        </p:spPr>
        <p:txBody>
          <a:bodyPr wrap="square" lIns="0" rIns="0" tIns="0" bIns="0" anchor="t">
            <a:spAutoFit/>
          </a:bodyPr>
          <a:lstStyle/>
          <a:p>
            <a:pPr algn="l"/>
            <a:r>
              <a:rPr sz="1250" b="1" i="0">
                <a:solidFill>
                  <a:srgbClr val="B45309"/>
                </a:solidFill>
                <a:latin typeface="Poppins"/>
                <a:ea typeface="Poppins"/>
                <a:cs typeface="Poppins"/>
              </a:rPr>
              <a:t>Imbalance and vertical misalignment</a:t>
            </a:r>
          </a:p>
        </p:txBody>
      </p:sp>
      <p:sp>
        <p:nvSpPr>
          <p:cNvPr id="25" name="TextBox 24"/>
          <p:cNvSpPr txBox="1"/>
          <p:nvPr/>
        </p:nvSpPr>
        <p:spPr>
          <a:xfrm>
            <a:off x="7882127" y="3081528"/>
            <a:ext cx="3337560" cy="566928"/>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Often given another known shaft-fault label (114 and 44 recordings).</a:t>
            </a:r>
          </a:p>
        </p:txBody>
      </p:sp>
      <p:sp>
        <p:nvSpPr>
          <p:cNvPr id="26" name="Rounded Rectangle 25"/>
          <p:cNvSpPr/>
          <p:nvPr/>
        </p:nvSpPr>
        <p:spPr>
          <a:xfrm>
            <a:off x="7680960" y="3822192"/>
            <a:ext cx="3694176" cy="1033271"/>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882127" y="3950208"/>
            <a:ext cx="3337560" cy="274320"/>
          </a:xfrm>
          <a:prstGeom prst="rect">
            <a:avLst/>
          </a:prstGeom>
          <a:noFill/>
        </p:spPr>
        <p:txBody>
          <a:bodyPr wrap="square" lIns="0" rIns="0" tIns="0" bIns="0" anchor="t">
            <a:spAutoFit/>
          </a:bodyPr>
          <a:lstStyle/>
          <a:p>
            <a:pPr algn="l"/>
            <a:r>
              <a:rPr sz="1250" b="1" i="0">
                <a:solidFill>
                  <a:srgbClr val="C2410C"/>
                </a:solidFill>
                <a:latin typeface="Poppins"/>
                <a:ea typeface="Poppins"/>
                <a:cs typeface="Poppins"/>
              </a:rPr>
              <a:t>Horizontal misalignment</a:t>
            </a:r>
          </a:p>
        </p:txBody>
      </p:sp>
      <p:sp>
        <p:nvSpPr>
          <p:cNvPr id="28" name="TextBox 27"/>
          <p:cNvSpPr txBox="1"/>
          <p:nvPr/>
        </p:nvSpPr>
        <p:spPr>
          <a:xfrm>
            <a:off x="7882127" y="4251960"/>
            <a:ext cx="3337560" cy="566928"/>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19 recordings called healthy: the most serious miss.</a:t>
            </a:r>
          </a:p>
        </p:txBody>
      </p:sp>
      <p:sp>
        <p:nvSpPr>
          <p:cNvPr id="29" name="Rounded Rectangle 28"/>
          <p:cNvSpPr/>
          <p:nvPr/>
        </p:nvSpPr>
        <p:spPr>
          <a:xfrm>
            <a:off x="7680960" y="4992624"/>
            <a:ext cx="3694176" cy="1033271"/>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82127" y="5120640"/>
            <a:ext cx="3337560" cy="274320"/>
          </a:xfrm>
          <a:prstGeom prst="rect">
            <a:avLst/>
          </a:prstGeom>
          <a:noFill/>
        </p:spPr>
        <p:txBody>
          <a:bodyPr wrap="square" lIns="0" rIns="0" tIns="0" bIns="0" anchor="t">
            <a:spAutoFit/>
          </a:bodyPr>
          <a:lstStyle/>
          <a:p>
            <a:pPr algn="l"/>
            <a:r>
              <a:rPr sz="1250" b="1" i="0">
                <a:solidFill>
                  <a:srgbClr val="1E293B"/>
                </a:solidFill>
                <a:latin typeface="Poppins"/>
                <a:ea typeface="Poppins"/>
                <a:cs typeface="Poppins"/>
              </a:rPr>
              <a:t>Why</a:t>
            </a:r>
          </a:p>
        </p:txBody>
      </p:sp>
      <p:sp>
        <p:nvSpPr>
          <p:cNvPr id="31" name="TextBox 30"/>
          <p:cNvSpPr txBox="1"/>
          <p:nvPr/>
        </p:nvSpPr>
        <p:spPr>
          <a:xfrm>
            <a:off x="7882127" y="5422392"/>
            <a:ext cx="3337560" cy="566928"/>
          </a:xfrm>
          <a:prstGeom prst="rect">
            <a:avLst/>
          </a:prstGeom>
          <a:noFill/>
        </p:spPr>
        <p:txBody>
          <a:bodyPr wrap="square" lIns="0" rIns="0" tIns="0" bIns="0" anchor="t">
            <a:spAutoFit/>
          </a:bodyPr>
          <a:lstStyle/>
          <a:p>
            <a:pPr algn="l"/>
            <a:r>
              <a:rPr sz="1150" b="0" i="0">
                <a:solidFill>
                  <a:srgbClr val="64748B"/>
                </a:solidFill>
                <a:latin typeface="DM Sans"/>
                <a:ea typeface="DM Sans"/>
                <a:cs typeface="DM Sans"/>
              </a:rPr>
              <a:t>In the CNN-6 feature space, an unseen shaft fault overlaps known shaft faults, so distance alone struggles.</a:t>
            </a:r>
          </a:p>
        </p:txBody>
      </p:sp>
    </p:spTree>
    <p:extLst>
      <p:ext uri="{BB962C8B-B14F-4D97-AF65-F5344CB8AC3E}">
        <p14:creationId xmlns:p14="http://schemas.microsoft.com/office/powerpoint/2010/main" val="1499429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Evaluating the investigation assistant</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21</a:t>
            </a:r>
            <a:endParaRPr lang="en-US" sz="1200" dirty="0"/>
          </a:p>
        </p:txBody>
      </p:sp>
      <p:sp>
        <p:nvSpPr>
          <p:cNvPr id="18" name="Rounded Rectangle 17"/>
          <p:cNvSpPr/>
          <p:nvPr/>
        </p:nvSpPr>
        <p:spPr>
          <a:xfrm>
            <a:off x="813816" y="1481328"/>
            <a:ext cx="5193792" cy="420624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88136" y="1664208"/>
            <a:ext cx="4663440" cy="365760"/>
          </a:xfrm>
          <a:prstGeom prst="rect">
            <a:avLst/>
          </a:prstGeom>
          <a:noFill/>
        </p:spPr>
        <p:txBody>
          <a:bodyPr wrap="square" lIns="0" rIns="0" tIns="0" bIns="0" anchor="t">
            <a:spAutoFit/>
          </a:bodyPr>
          <a:lstStyle/>
          <a:p>
            <a:pPr algn="l"/>
            <a:r>
              <a:rPr sz="1600" b="1" i="0">
                <a:solidFill>
                  <a:srgbClr val="1007DC"/>
                </a:solidFill>
                <a:latin typeface="Poppins"/>
                <a:ea typeface="Poppins"/>
                <a:cs typeface="Poppins"/>
              </a:rPr>
              <a:t>D7 pilot</a:t>
            </a:r>
          </a:p>
        </p:txBody>
      </p:sp>
      <p:sp>
        <p:nvSpPr>
          <p:cNvPr id="20" name="TextBox 19"/>
          <p:cNvSpPr txBox="1"/>
          <p:nvPr/>
        </p:nvSpPr>
        <p:spPr>
          <a:xfrm>
            <a:off x="1088136" y="2057400"/>
            <a:ext cx="4663440" cy="50292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225 answers: 15 cases × 5 questions × 3 arms, blind-scored</a:t>
            </a:r>
          </a:p>
        </p:txBody>
      </p:sp>
      <p:sp>
        <p:nvSpPr>
          <p:cNvPr id="21" name="TextBox 20"/>
          <p:cNvSpPr txBox="1"/>
          <p:nvPr/>
        </p:nvSpPr>
        <p:spPr>
          <a:xfrm>
            <a:off x="1088136" y="26974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0</a:t>
            </a:r>
          </a:p>
        </p:txBody>
      </p:sp>
      <p:sp>
        <p:nvSpPr>
          <p:cNvPr id="22" name="TextBox 21"/>
          <p:cNvSpPr txBox="1"/>
          <p:nvPr/>
        </p:nvSpPr>
        <p:spPr>
          <a:xfrm>
            <a:off x="2459736" y="26974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unsupported repair recommendations, in any arm</a:t>
            </a:r>
          </a:p>
        </p:txBody>
      </p:sp>
      <p:sp>
        <p:nvSpPr>
          <p:cNvPr id="23" name="TextBox 22"/>
          <p:cNvSpPr txBox="1"/>
          <p:nvPr/>
        </p:nvSpPr>
        <p:spPr>
          <a:xfrm>
            <a:off x="1088136" y="36118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31 %</a:t>
            </a:r>
          </a:p>
        </p:txBody>
      </p:sp>
      <p:sp>
        <p:nvSpPr>
          <p:cNvPr id="24" name="TextBox 23"/>
          <p:cNvSpPr txBox="1"/>
          <p:nvPr/>
        </p:nvSpPr>
        <p:spPr>
          <a:xfrm>
            <a:off x="2459736" y="36118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unnecessary refusals with the code review on (1 % without)</a:t>
            </a:r>
          </a:p>
        </p:txBody>
      </p:sp>
      <p:sp>
        <p:nvSpPr>
          <p:cNvPr id="25" name="TextBox 24"/>
          <p:cNvSpPr txBox="1"/>
          <p:nvPr/>
        </p:nvSpPr>
        <p:spPr>
          <a:xfrm>
            <a:off x="1088136" y="45262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15 / 15</a:t>
            </a:r>
          </a:p>
        </p:txBody>
      </p:sp>
      <p:sp>
        <p:nvSpPr>
          <p:cNvPr id="26" name="TextBox 25"/>
          <p:cNvSpPr txBox="1"/>
          <p:nvPr/>
        </p:nvSpPr>
        <p:spPr>
          <a:xfrm>
            <a:off x="2459736" y="45262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correct sensor named with the review on</a:t>
            </a:r>
          </a:p>
        </p:txBody>
      </p:sp>
      <p:sp>
        <p:nvSpPr>
          <p:cNvPr id="27" name="Rounded Rectangle 26"/>
          <p:cNvSpPr/>
          <p:nvPr/>
        </p:nvSpPr>
        <p:spPr>
          <a:xfrm>
            <a:off x="6181344" y="1481328"/>
            <a:ext cx="5193792" cy="4206240"/>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55664" y="1664208"/>
            <a:ext cx="4663440" cy="365760"/>
          </a:xfrm>
          <a:prstGeom prst="rect">
            <a:avLst/>
          </a:prstGeom>
          <a:noFill/>
        </p:spPr>
        <p:txBody>
          <a:bodyPr wrap="square" lIns="0" rIns="0" tIns="0" bIns="0" anchor="t">
            <a:spAutoFit/>
          </a:bodyPr>
          <a:lstStyle/>
          <a:p>
            <a:pPr algn="l"/>
            <a:r>
              <a:rPr sz="1600" b="1" i="0">
                <a:solidFill>
                  <a:srgbClr val="1007DC"/>
                </a:solidFill>
                <a:latin typeface="Poppins"/>
                <a:ea typeface="Poppins"/>
                <a:cs typeface="Poppins"/>
              </a:rPr>
              <a:t>App-9: conversation mode</a:t>
            </a:r>
          </a:p>
        </p:txBody>
      </p:sp>
      <p:sp>
        <p:nvSpPr>
          <p:cNvPr id="29" name="TextBox 28"/>
          <p:cNvSpPr txBox="1"/>
          <p:nvPr/>
        </p:nvSpPr>
        <p:spPr>
          <a:xfrm>
            <a:off x="6455664" y="2057400"/>
            <a:ext cx="4663440" cy="50292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72 answers: 6 scenarios × 6 questions, two modes</a:t>
            </a:r>
          </a:p>
        </p:txBody>
      </p:sp>
      <p:sp>
        <p:nvSpPr>
          <p:cNvPr id="30" name="TextBox 29"/>
          <p:cNvSpPr txBox="1"/>
          <p:nvPr/>
        </p:nvSpPr>
        <p:spPr>
          <a:xfrm>
            <a:off x="6455664" y="26974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69.4 %</a:t>
            </a:r>
          </a:p>
        </p:txBody>
      </p:sp>
      <p:sp>
        <p:nvSpPr>
          <p:cNvPr id="31" name="TextBox 30"/>
          <p:cNvSpPr txBox="1"/>
          <p:nvPr/>
        </p:nvSpPr>
        <p:spPr>
          <a:xfrm>
            <a:off x="7827264" y="26974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directly responsive (single question: 38.9 %)</a:t>
            </a:r>
          </a:p>
        </p:txBody>
      </p:sp>
      <p:sp>
        <p:nvSpPr>
          <p:cNvPr id="32" name="TextBox 31"/>
          <p:cNvSpPr txBox="1"/>
          <p:nvPr/>
        </p:nvSpPr>
        <p:spPr>
          <a:xfrm>
            <a:off x="6455664" y="36118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8.6 %</a:t>
            </a:r>
          </a:p>
        </p:txBody>
      </p:sp>
      <p:sp>
        <p:nvSpPr>
          <p:cNvPr id="33" name="TextBox 32"/>
          <p:cNvSpPr txBox="1"/>
          <p:nvPr/>
        </p:nvSpPr>
        <p:spPr>
          <a:xfrm>
            <a:off x="7827264" y="36118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provenance errors in reviewed drafts (was 25.9 %)</a:t>
            </a:r>
          </a:p>
        </p:txBody>
      </p:sp>
      <p:sp>
        <p:nvSpPr>
          <p:cNvPr id="34" name="TextBox 33"/>
          <p:cNvSpPr txBox="1"/>
          <p:nvPr/>
        </p:nvSpPr>
        <p:spPr>
          <a:xfrm>
            <a:off x="6455664" y="4526280"/>
            <a:ext cx="1371600" cy="548640"/>
          </a:xfrm>
          <a:prstGeom prst="rect">
            <a:avLst/>
          </a:prstGeom>
          <a:noFill/>
        </p:spPr>
        <p:txBody>
          <a:bodyPr wrap="square" lIns="0" rIns="0" tIns="0" bIns="0" anchor="ctr">
            <a:spAutoFit/>
          </a:bodyPr>
          <a:lstStyle/>
          <a:p>
            <a:pPr algn="l"/>
            <a:r>
              <a:rPr sz="2400" b="1" i="0">
                <a:solidFill>
                  <a:srgbClr val="1E293B"/>
                </a:solidFill>
                <a:latin typeface="Poppins"/>
                <a:ea typeface="Poppins"/>
                <a:cs typeface="Poppins"/>
              </a:rPr>
              <a:t>0</a:t>
            </a:r>
          </a:p>
        </p:txBody>
      </p:sp>
      <p:sp>
        <p:nvSpPr>
          <p:cNvPr id="35" name="TextBox 34"/>
          <p:cNvSpPr txBox="1"/>
          <p:nvPr/>
        </p:nvSpPr>
        <p:spPr>
          <a:xfrm>
            <a:off x="7827264" y="4526280"/>
            <a:ext cx="3337560" cy="548640"/>
          </a:xfrm>
          <a:prstGeom prst="rect">
            <a:avLst/>
          </a:prstGeom>
          <a:noFill/>
        </p:spPr>
        <p:txBody>
          <a:bodyPr wrap="square" lIns="0" rIns="0" tIns="0" bIns="0" anchor="ctr">
            <a:spAutoFit/>
          </a:bodyPr>
          <a:lstStyle/>
          <a:p>
            <a:pPr algn="l"/>
            <a:r>
              <a:rPr sz="1250" b="0" i="0">
                <a:solidFill>
                  <a:srgbClr val="64748B"/>
                </a:solidFill>
                <a:latin typeface="DM Sans"/>
                <a:ea typeface="DM Sans"/>
                <a:cs typeface="DM Sans"/>
              </a:rPr>
              <a:t>cross-case leaks and 0 repair advice shown</a:t>
            </a:r>
          </a:p>
        </p:txBody>
      </p:sp>
      <p:sp>
        <p:nvSpPr>
          <p:cNvPr id="36" name="TextBox 35"/>
          <p:cNvSpPr txBox="1"/>
          <p:nvPr/>
        </p:nvSpPr>
        <p:spPr>
          <a:xfrm>
            <a:off x="813816" y="5833872"/>
            <a:ext cx="10515600" cy="274320"/>
          </a:xfrm>
          <a:prstGeom prst="rect">
            <a:avLst/>
          </a:prstGeom>
          <a:noFill/>
        </p:spPr>
        <p:txBody>
          <a:bodyPr wrap="square" lIns="0" rIns="0" tIns="0" bIns="0" anchor="t">
            <a:spAutoFit/>
          </a:bodyPr>
          <a:lstStyle/>
          <a:p>
            <a:pPr algn="l"/>
            <a:r>
              <a:rPr sz="1200" b="1" i="0">
                <a:solidFill>
                  <a:srgbClr val="B45309"/>
                </a:solidFill>
                <a:latin typeface="DM Sans"/>
                <a:ea typeface="DM Sans"/>
                <a:cs typeface="DM Sans"/>
              </a:rPr>
              <a:t>Development cases, small samples, author-scored: read these as pilot results, not proof of safety.</a:t>
            </a:r>
          </a:p>
        </p:txBody>
      </p:sp>
    </p:spTree>
    <p:extLst>
      <p:ext uri="{BB962C8B-B14F-4D97-AF65-F5344CB8AC3E}">
        <p14:creationId xmlns:p14="http://schemas.microsoft.com/office/powerpoint/2010/main" val="1499429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Challenges along the way</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22</a:t>
            </a:r>
            <a:endParaRPr lang="en-US" sz="1200" dirty="0"/>
          </a:p>
        </p:txBody>
      </p:sp>
      <p:sp>
        <p:nvSpPr>
          <p:cNvPr id="18" name="Rounded Rectangle 17"/>
          <p:cNvSpPr/>
          <p:nvPr/>
        </p:nvSpPr>
        <p:spPr>
          <a:xfrm>
            <a:off x="813816" y="1481328"/>
            <a:ext cx="5193792" cy="2121408"/>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88136" y="1709928"/>
            <a:ext cx="1737360" cy="640080"/>
          </a:xfrm>
          <a:prstGeom prst="rect">
            <a:avLst/>
          </a:prstGeom>
          <a:noFill/>
        </p:spPr>
        <p:txBody>
          <a:bodyPr wrap="square" lIns="0" rIns="0" tIns="0" bIns="0" anchor="t">
            <a:spAutoFit/>
          </a:bodyPr>
          <a:lstStyle/>
          <a:p>
            <a:pPr algn="l"/>
            <a:r>
              <a:rPr sz="3000" b="1" i="0">
                <a:solidFill>
                  <a:srgbClr val="1007DC"/>
                </a:solidFill>
                <a:latin typeface="Poppins"/>
                <a:ea typeface="Poppins"/>
                <a:cs typeface="Poppins"/>
              </a:rPr>
              <a:t>99.3 %</a:t>
            </a:r>
          </a:p>
        </p:txBody>
      </p:sp>
      <p:sp>
        <p:nvSpPr>
          <p:cNvPr id="20" name="TextBox 19"/>
          <p:cNvSpPr txBox="1"/>
          <p:nvPr/>
        </p:nvSpPr>
        <p:spPr>
          <a:xfrm>
            <a:off x="2825496" y="1773936"/>
            <a:ext cx="2971800" cy="548640"/>
          </a:xfrm>
          <a:prstGeom prst="rect">
            <a:avLst/>
          </a:prstGeom>
          <a:noFill/>
        </p:spPr>
        <p:txBody>
          <a:bodyPr wrap="square" lIns="0" rIns="0" tIns="0" bIns="0" anchor="t">
            <a:spAutoFit/>
          </a:bodyPr>
          <a:lstStyle/>
          <a:p>
            <a:pPr algn="l"/>
            <a:r>
              <a:rPr sz="1400" b="1" i="0">
                <a:solidFill>
                  <a:srgbClr val="1E293B"/>
                </a:solidFill>
                <a:latin typeface="Poppins"/>
                <a:ea typeface="Poppins"/>
                <a:cs typeface="Poppins"/>
              </a:rPr>
              <a:t>A shortcut in the microphone</a:t>
            </a:r>
          </a:p>
        </p:txBody>
      </p:sp>
      <p:sp>
        <p:nvSpPr>
          <p:cNvPr id="21" name="TextBox 20"/>
          <p:cNvSpPr txBox="1"/>
          <p:nvPr/>
        </p:nvSpPr>
        <p:spPr>
          <a:xfrm>
            <a:off x="1088136" y="2468880"/>
            <a:ext cx="4663440" cy="105156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Microphone bursts in 168 files were linked to two classes: a simple classifier on them reached 99.3 % precision. The audit found them before any training.</a:t>
            </a:r>
          </a:p>
        </p:txBody>
      </p:sp>
      <p:sp>
        <p:nvSpPr>
          <p:cNvPr id="22" name="Rounded Rectangle 21"/>
          <p:cNvSpPr/>
          <p:nvPr/>
        </p:nvSpPr>
        <p:spPr>
          <a:xfrm>
            <a:off x="6181344" y="1481328"/>
            <a:ext cx="5193792" cy="2121408"/>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55664" y="1709928"/>
            <a:ext cx="1737360" cy="640080"/>
          </a:xfrm>
          <a:prstGeom prst="rect">
            <a:avLst/>
          </a:prstGeom>
          <a:noFill/>
        </p:spPr>
        <p:txBody>
          <a:bodyPr wrap="square" lIns="0" rIns="0" tIns="0" bIns="0" anchor="t">
            <a:spAutoFit/>
          </a:bodyPr>
          <a:lstStyle/>
          <a:p>
            <a:pPr algn="l"/>
            <a:r>
              <a:rPr sz="3000" b="1" i="0">
                <a:solidFill>
                  <a:srgbClr val="1007DC"/>
                </a:solidFill>
                <a:latin typeface="Poppins"/>
                <a:ea typeface="Poppins"/>
                <a:cs typeface="Poppins"/>
              </a:rPr>
              <a:t>1.000</a:t>
            </a:r>
          </a:p>
        </p:txBody>
      </p:sp>
      <p:sp>
        <p:nvSpPr>
          <p:cNvPr id="24" name="TextBox 23"/>
          <p:cNvSpPr txBox="1"/>
          <p:nvPr/>
        </p:nvSpPr>
        <p:spPr>
          <a:xfrm>
            <a:off x="8193024" y="1773936"/>
            <a:ext cx="2971800" cy="548640"/>
          </a:xfrm>
          <a:prstGeom prst="rect">
            <a:avLst/>
          </a:prstGeom>
          <a:noFill/>
        </p:spPr>
        <p:txBody>
          <a:bodyPr wrap="square" lIns="0" rIns="0" tIns="0" bIns="0" anchor="t">
            <a:spAutoFit/>
          </a:bodyPr>
          <a:lstStyle/>
          <a:p>
            <a:pPr algn="l"/>
            <a:r>
              <a:rPr sz="1400" b="1" i="0">
                <a:solidFill>
                  <a:srgbClr val="1E293B"/>
                </a:solidFill>
                <a:latin typeface="Poppins"/>
                <a:ea typeface="Poppins"/>
                <a:cs typeface="Poppins"/>
              </a:rPr>
              <a:t>A perfect score that was wrong</a:t>
            </a:r>
          </a:p>
        </p:txBody>
      </p:sp>
      <p:sp>
        <p:nvSpPr>
          <p:cNvPr id="25" name="TextBox 24"/>
          <p:cNvSpPr txBox="1"/>
          <p:nvPr/>
        </p:nvSpPr>
        <p:spPr>
          <a:xfrm>
            <a:off x="6455664" y="2468880"/>
            <a:ext cx="4663440" cy="105156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Random window splits scored 1.000 because pieces of one recording sat on both sides. Folder-grouped folds gave 0.878.</a:t>
            </a:r>
          </a:p>
        </p:txBody>
      </p:sp>
      <p:sp>
        <p:nvSpPr>
          <p:cNvPr id="26" name="Rounded Rectangle 25"/>
          <p:cNvSpPr/>
          <p:nvPr/>
        </p:nvSpPr>
        <p:spPr>
          <a:xfrm>
            <a:off x="813816" y="3767328"/>
            <a:ext cx="5193792" cy="2121408"/>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8136" y="3995928"/>
            <a:ext cx="1737360" cy="640080"/>
          </a:xfrm>
          <a:prstGeom prst="rect">
            <a:avLst/>
          </a:prstGeom>
          <a:noFill/>
        </p:spPr>
        <p:txBody>
          <a:bodyPr wrap="square" lIns="0" rIns="0" tIns="0" bIns="0" anchor="t">
            <a:spAutoFit/>
          </a:bodyPr>
          <a:lstStyle/>
          <a:p>
            <a:pPr algn="l"/>
            <a:r>
              <a:rPr sz="3000" b="1" i="0">
                <a:solidFill>
                  <a:srgbClr val="1007DC"/>
                </a:solidFill>
                <a:latin typeface="Poppins"/>
                <a:ea typeface="Poppins"/>
                <a:cs typeface="Poppins"/>
              </a:rPr>
              <a:t>78 %</a:t>
            </a:r>
          </a:p>
        </p:txBody>
      </p:sp>
      <p:sp>
        <p:nvSpPr>
          <p:cNvPr id="28" name="TextBox 27"/>
          <p:cNvSpPr txBox="1"/>
          <p:nvPr/>
        </p:nvSpPr>
        <p:spPr>
          <a:xfrm>
            <a:off x="2825496" y="4059936"/>
            <a:ext cx="2971800" cy="548640"/>
          </a:xfrm>
          <a:prstGeom prst="rect">
            <a:avLst/>
          </a:prstGeom>
          <a:noFill/>
        </p:spPr>
        <p:txBody>
          <a:bodyPr wrap="square" lIns="0" rIns="0" tIns="0" bIns="0" anchor="t">
            <a:spAutoFit/>
          </a:bodyPr>
          <a:lstStyle/>
          <a:p>
            <a:pPr algn="l"/>
            <a:r>
              <a:rPr sz="1400" b="1" i="0">
                <a:solidFill>
                  <a:srgbClr val="1E293B"/>
                </a:solidFill>
                <a:latin typeface="Poppins"/>
                <a:ea typeface="Poppins"/>
                <a:cs typeface="Poppins"/>
              </a:rPr>
              <a:t>Healthy rejections follow speed</a:t>
            </a:r>
          </a:p>
        </p:txBody>
      </p:sp>
      <p:sp>
        <p:nvSpPr>
          <p:cNvPr id="29" name="TextBox 28"/>
          <p:cNvSpPr txBox="1"/>
          <p:nvPr/>
        </p:nvSpPr>
        <p:spPr>
          <a:xfrm>
            <a:off x="1088136" y="4754880"/>
            <a:ext cx="4663440" cy="105156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Healthy recordings below the calibrated speed range were not called plain healthy in 78 % of runs. The gap was data coverage, not the model.</a:t>
            </a:r>
          </a:p>
        </p:txBody>
      </p:sp>
      <p:sp>
        <p:nvSpPr>
          <p:cNvPr id="30" name="Rounded Rectangle 29"/>
          <p:cNvSpPr/>
          <p:nvPr/>
        </p:nvSpPr>
        <p:spPr>
          <a:xfrm>
            <a:off x="6181344" y="3767328"/>
            <a:ext cx="5193792" cy="2121408"/>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55664" y="3995928"/>
            <a:ext cx="1737360" cy="640080"/>
          </a:xfrm>
          <a:prstGeom prst="rect">
            <a:avLst/>
          </a:prstGeom>
          <a:noFill/>
        </p:spPr>
        <p:txBody>
          <a:bodyPr wrap="square" lIns="0" rIns="0" tIns="0" bIns="0" anchor="t">
            <a:spAutoFit/>
          </a:bodyPr>
          <a:lstStyle/>
          <a:p>
            <a:pPr algn="l"/>
            <a:r>
              <a:rPr sz="3000" b="1" i="0">
                <a:solidFill>
                  <a:srgbClr val="1007DC"/>
                </a:solidFill>
                <a:latin typeface="Poppins"/>
                <a:ea typeface="Poppins"/>
                <a:cs typeface="Poppins"/>
              </a:rPr>
              <a:t>1</a:t>
            </a:r>
          </a:p>
        </p:txBody>
      </p:sp>
      <p:sp>
        <p:nvSpPr>
          <p:cNvPr id="32" name="TextBox 31"/>
          <p:cNvSpPr txBox="1"/>
          <p:nvPr/>
        </p:nvSpPr>
        <p:spPr>
          <a:xfrm>
            <a:off x="8193024" y="4059936"/>
            <a:ext cx="2971800" cy="548640"/>
          </a:xfrm>
          <a:prstGeom prst="rect">
            <a:avLst/>
          </a:prstGeom>
          <a:noFill/>
        </p:spPr>
        <p:txBody>
          <a:bodyPr wrap="square" lIns="0" rIns="0" tIns="0" bIns="0" anchor="t">
            <a:spAutoFit/>
          </a:bodyPr>
          <a:lstStyle/>
          <a:p>
            <a:pPr algn="l"/>
            <a:r>
              <a:rPr sz="1400" b="1" i="0">
                <a:solidFill>
                  <a:srgbClr val="1E293B"/>
                </a:solidFill>
                <a:latin typeface="Poppins"/>
                <a:ea typeface="Poppins"/>
                <a:cs typeface="Poppins"/>
              </a:rPr>
              <a:t>improvement cleared its bar</a:t>
            </a:r>
          </a:p>
        </p:txBody>
      </p:sp>
      <p:sp>
        <p:nvSpPr>
          <p:cNvPr id="33" name="TextBox 32"/>
          <p:cNvSpPr txBox="1"/>
          <p:nvPr/>
        </p:nvSpPr>
        <p:spPr>
          <a:xfrm>
            <a:off x="6455664" y="4754880"/>
            <a:ext cx="4663440" cy="1051560"/>
          </a:xfrm>
          <a:prstGeom prst="rect">
            <a:avLst/>
          </a:prstGeom>
          <a:noFill/>
        </p:spPr>
        <p:txBody>
          <a:bodyPr wrap="square" lIns="0" rIns="0" tIns="0" bIns="0" anchor="t">
            <a:spAutoFit/>
          </a:bodyPr>
          <a:lstStyle/>
          <a:p>
            <a:pPr algn="l"/>
            <a:r>
              <a:rPr sz="1200" b="0" i="0">
                <a:solidFill>
                  <a:srgbClr val="64748B"/>
                </a:solidFill>
                <a:latin typeface="DM Sans"/>
                <a:ea typeface="DM Sans"/>
                <a:cs typeface="DM Sans"/>
              </a:rPr>
              <a:t>Of the research stages declared in advance, only E1 (specialist autoencoders) passed: +10.1 points unknown recall on 3 seeds. Not deployed: found after the freeze.</a:t>
            </a:r>
          </a:p>
        </p:txBody>
      </p:sp>
    </p:spTree>
    <p:extLst>
      <p:ext uri="{BB962C8B-B14F-4D97-AF65-F5344CB8AC3E}">
        <p14:creationId xmlns:p14="http://schemas.microsoft.com/office/powerpoint/2010/main" val="1499429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10515600"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Limitations and what comes next</a:t>
            </a:r>
            <a:endParaRPr sz="2900"/>
          </a:p>
        </p:txBody>
      </p:sp>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23</a:t>
            </a:r>
            <a:endParaRPr lang="en-US" sz="1200" dirty="0"/>
          </a:p>
        </p:txBody>
      </p:sp>
      <p:sp>
        <p:nvSpPr>
          <p:cNvPr id="18" name="Rounded Rectangle 17"/>
          <p:cNvSpPr/>
          <p:nvPr/>
        </p:nvSpPr>
        <p:spPr>
          <a:xfrm>
            <a:off x="813816" y="1481328"/>
            <a:ext cx="5193792" cy="455371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88136" y="1691640"/>
            <a:ext cx="4572000" cy="411480"/>
          </a:xfrm>
          <a:prstGeom prst="rect">
            <a:avLst/>
          </a:prstGeom>
          <a:noFill/>
        </p:spPr>
        <p:txBody>
          <a:bodyPr wrap="square" lIns="0" rIns="0" tIns="0" bIns="0" anchor="t">
            <a:spAutoFit/>
          </a:bodyPr>
          <a:lstStyle/>
          <a:p>
            <a:pPr algn="l"/>
            <a:r>
              <a:rPr sz="1800" b="1" i="0">
                <a:solidFill>
                  <a:srgbClr val="B45309"/>
                </a:solidFill>
                <a:latin typeface="Poppins"/>
                <a:ea typeface="Poppins"/>
                <a:cs typeface="Poppins"/>
              </a:rPr>
              <a:t>Limitations</a:t>
            </a:r>
          </a:p>
        </p:txBody>
      </p:sp>
      <p:sp>
        <p:nvSpPr>
          <p:cNvPr id="20" name="TextBox 19"/>
          <p:cNvSpPr txBox="1"/>
          <p:nvPr/>
        </p:nvSpPr>
        <p:spPr>
          <a:xfrm>
            <a:off x="1088136" y="2286000"/>
            <a:ext cx="4617720" cy="3566160"/>
          </a:xfrm>
          <a:prstGeom prst="rect">
            <a:avLst/>
          </a:prstGeom>
          <a:noFill/>
        </p:spPr>
        <p:txBody>
          <a:bodyPr wrap="square" lIns="0" rIns="0" tIns="0" bIns="0" anchor="t">
            <a:spAutoFit/>
          </a:bodyPr>
          <a:lstStyle/>
          <a:p>
            <a:pPr algn="l" marL="182880" indent="-182880">
              <a:spcAft>
                <a:spcPts val="1600"/>
              </a:spcAft>
              <a:buClr>
                <a:srgbClr val="1007DC"/>
              </a:buClr>
              <a:buFont typeface="Arial"/>
              <a:buChar char="•"/>
            </a:pPr>
            <a:r>
              <a:rPr sz="1450" b="0" i="0">
                <a:solidFill>
                  <a:srgbClr val="1E293B"/>
                </a:solidFill>
                <a:latin typeface="DM Sans"/>
                <a:ea typeface="DM Sans"/>
                <a:cs typeface="DM Sans"/>
              </a:rPr>
              <a:t>One rig with induced faults: no claim about other machines</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49 healthy recordings from one folder: healthy false-alarm rates are uncertain</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Folder grouping is only a proxy for recording sessions</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The sealed tests are now spent: new ideas need new held-out data</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The assistant pilot is small and scored by its author</a:t>
            </a:r>
          </a:p>
        </p:txBody>
      </p:sp>
      <p:sp>
        <p:nvSpPr>
          <p:cNvPr id="21" name="Rounded Rectangle 20"/>
          <p:cNvSpPr/>
          <p:nvPr/>
        </p:nvSpPr>
        <p:spPr>
          <a:xfrm>
            <a:off x="6181344" y="1481328"/>
            <a:ext cx="5193792" cy="455371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55664" y="1691640"/>
            <a:ext cx="4572000" cy="411480"/>
          </a:xfrm>
          <a:prstGeom prst="rect">
            <a:avLst/>
          </a:prstGeom>
          <a:noFill/>
        </p:spPr>
        <p:txBody>
          <a:bodyPr wrap="square" lIns="0" rIns="0" tIns="0" bIns="0" anchor="t">
            <a:spAutoFit/>
          </a:bodyPr>
          <a:lstStyle/>
          <a:p>
            <a:pPr algn="l"/>
            <a:r>
              <a:rPr sz="1800" b="1" i="0">
                <a:solidFill>
                  <a:srgbClr val="1007DC"/>
                </a:solidFill>
                <a:latin typeface="Poppins"/>
                <a:ea typeface="Poppins"/>
                <a:cs typeface="Poppins"/>
              </a:rPr>
              <a:t>What comes next</a:t>
            </a:r>
          </a:p>
        </p:txBody>
      </p:sp>
      <p:sp>
        <p:nvSpPr>
          <p:cNvPr id="23" name="TextBox 22"/>
          <p:cNvSpPr txBox="1"/>
          <p:nvPr/>
        </p:nvSpPr>
        <p:spPr>
          <a:xfrm>
            <a:off x="6455664" y="2286000"/>
            <a:ext cx="4617720" cy="3566160"/>
          </a:xfrm>
          <a:prstGeom prst="rect">
            <a:avLst/>
          </a:prstGeom>
          <a:noFill/>
        </p:spPr>
        <p:txBody>
          <a:bodyPr wrap="square" lIns="0" rIns="0" tIns="0" bIns="0" anchor="t">
            <a:spAutoFit/>
          </a:bodyPr>
          <a:lstStyle/>
          <a:p>
            <a:pPr algn="l" marL="182880" indent="-182880">
              <a:spcAft>
                <a:spcPts val="1600"/>
              </a:spcAft>
              <a:buClr>
                <a:srgbClr val="1007DC"/>
              </a:buClr>
              <a:buFont typeface="Arial"/>
              <a:buChar char="•"/>
            </a:pPr>
            <a:r>
              <a:rPr sz="1450" b="0" i="0">
                <a:solidFill>
                  <a:srgbClr val="1E293B"/>
                </a:solidFill>
                <a:latin typeface="DM Sans"/>
                <a:ea typeface="DM Sans"/>
                <a:cs typeface="DM Sans"/>
              </a:rPr>
              <a:t>Test E1 on a new held-out set</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Collect healthy recordings across speeds and sessions</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Evaluate the fine-tuned ResNet-18 on all nine hidden faults</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Relax over-strict assistant checks; use an independent scorer</a:t>
            </a:r>
          </a:p>
          <a:p>
            <a:pPr algn="l" marL="182880" indent="-182880">
              <a:spcAft>
                <a:spcPts val="1600"/>
              </a:spcAft>
              <a:buClr>
                <a:srgbClr val="1007DC"/>
              </a:buClr>
              <a:buFont typeface="Arial"/>
              <a:buChar char="•"/>
            </a:pPr>
            <a:r>
              <a:rPr sz="1450" b="0" i="0">
                <a:solidFill>
                  <a:srgbClr val="1E293B"/>
                </a:solidFill>
                <a:latin typeface="DM Sans"/>
                <a:ea typeface="DM Sans"/>
                <a:cs typeface="DM Sans"/>
              </a:rPr>
              <a:t>Test on a second rig before claiming transfer</a:t>
            </a:r>
          </a:p>
        </p:txBody>
      </p:sp>
    </p:spTree>
    <p:extLst>
      <p:ext uri="{BB962C8B-B14F-4D97-AF65-F5344CB8AC3E}">
        <p14:creationId xmlns:p14="http://schemas.microsoft.com/office/powerpoint/2010/main" val="1499429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007DC"/>
        </a:solidFill>
        <a:effectLst/>
      </p:bgPr>
    </p:bg>
    <p:spTree>
      <p:nvGrpSpPr>
        <p:cNvPr id="1" name="">
          <a:extLst>
            <a:ext uri="{FF2B5EF4-FFF2-40B4-BE49-F238E27FC236}">
              <a16:creationId xmlns:a16="http://schemas.microsoft.com/office/drawing/2014/main" id="{66CEE3A6-D428-B37F-ADF1-B6B0AAA5D0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7CC743-3C21-9ABA-4BF7-4C289123A1DA}"/>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F5F3F0"/>
                </a:solidFill>
                <a:latin typeface="Poppins"/>
                <a:ea typeface="Poppins"/>
                <a:cs typeface="Poppins"/>
              </a:rPr>
              <a:t>MACHINESENSE</a:t>
            </a:r>
            <a:endParaRPr sz="1200"/>
          </a:p>
        </p:txBody>
      </p:sp>
      <p:sp>
        <p:nvSpPr>
          <p:cNvPr id="4" name="Text 2">
            <a:extLst>
              <a:ext uri="{FF2B5EF4-FFF2-40B4-BE49-F238E27FC236}">
                <a16:creationId xmlns:a16="http://schemas.microsoft.com/office/drawing/2014/main" id="{36924F09-51BD-56C5-50A2-C1FC7617A0E7}"/>
              </a:ext>
            </a:extLst>
          </p:cNvPr>
          <p:cNvSpPr>
            <a:spLocks noGrp="1"/>
          </p:cNvSpPr>
          <p:nvPr/>
        </p:nvSpPr>
        <p:spPr>
          <a:xfrm>
            <a:off x="812767" y="2228949"/>
            <a:ext cx="9810750" cy="1310614"/>
          </a:xfrm>
          <a:prstGeom prst="rect">
            <a:avLst/>
          </a:prstGeom>
          <a:noFill/>
        </p:spPr>
        <p:txBody>
          <a:bodyPr wrap="square" lIns="0" tIns="0" rIns="0" bIns="0" anchor="t">
            <a:normAutofit/>
          </a:bodyPr>
          <a:lstStyle/>
          <a:p>
            <a:pPr marL="0" indent="0" algn="l">
              <a:lnSpc>
                <a:spcPts val="5060"/>
              </a:lnSpc>
              <a:buNone/>
            </a:pPr>
            <a:r>
              <a:rPr sz="4600" b="1">
                <a:solidFill>
                  <a:srgbClr val="FFFFFF"/>
                </a:solidFill>
                <a:latin typeface="Poppins"/>
                <a:ea typeface="Poppins"/>
                <a:cs typeface="Poppins"/>
              </a:rPr>
              <a:t>Say what the evidence supports, and no more</a:t>
            </a:r>
            <a:endParaRPr sz="4600"/>
          </a:p>
        </p:txBody>
      </p:sp>
      <p:sp>
        <p:nvSpPr>
          <p:cNvPr id="5" name="Text 3">
            <a:extLst>
              <a:ext uri="{FF2B5EF4-FFF2-40B4-BE49-F238E27FC236}">
                <a16:creationId xmlns:a16="http://schemas.microsoft.com/office/drawing/2014/main" id="{EDF126FA-1B8A-2BF5-A577-E6B652DD94A2}"/>
              </a:ext>
            </a:extLst>
          </p:cNvPr>
          <p:cNvSpPr>
            <a:spLocks noGrp="1"/>
          </p:cNvSpPr>
          <p:nvPr/>
        </p:nvSpPr>
        <p:spPr>
          <a:xfrm>
            <a:off x="812767" y="3621300"/>
            <a:ext cx="9156700" cy="672968"/>
          </a:xfrm>
          <a:prstGeom prst="rect">
            <a:avLst/>
          </a:prstGeom>
          <a:noFill/>
        </p:spPr>
        <p:txBody>
          <a:bodyPr wrap="square" lIns="0" tIns="0" rIns="0" bIns="0" anchor="t">
            <a:normAutofit/>
          </a:bodyPr>
          <a:lstStyle/>
          <a:p>
            <a:pPr marL="0" indent="0" algn="l">
              <a:lnSpc>
                <a:spcPts val="2550"/>
              </a:lnSpc>
              <a:buNone/>
            </a:pPr>
            <a:r>
              <a:rPr sz="1700">
                <a:solidFill>
                  <a:srgbClr val="F5F3F0"/>
                </a:solidFill>
                <a:latin typeface="DM Sans"/>
                <a:ea typeface="DM Sans"/>
                <a:cs typeface="DM Sans"/>
              </a:rPr>
              <a:t>Three questions from one recording, 0.916 macro-F1 on sealed tests, 82 % of unfamiliar faults sent for inspection, and every verdict shown with its evidence and its limits.</a:t>
            </a:r>
            <a:endParaRPr sz="1700"/>
          </a:p>
        </p:txBody>
      </p:sp>
      <p:sp>
        <p:nvSpPr>
          <p:cNvPr id="6" name="Text 4">
            <a:extLst>
              <a:ext uri="{FF2B5EF4-FFF2-40B4-BE49-F238E27FC236}">
                <a16:creationId xmlns:a16="http://schemas.microsoft.com/office/drawing/2014/main" id="{F0E5BE94-0574-91CE-CBDA-6EE4FE0AA8BD}"/>
              </a:ext>
            </a:extLst>
          </p:cNvPr>
          <p:cNvSpPr>
            <a:spLocks noGrp="1"/>
          </p:cNvSpPr>
          <p:nvPr/>
        </p:nvSpPr>
        <p:spPr>
          <a:xfrm>
            <a:off x="812767" y="4618782"/>
            <a:ext cx="4193925" cy="292050"/>
          </a:xfrm>
          <a:prstGeom prst="rect">
            <a:avLst/>
          </a:prstGeom>
          <a:noFill/>
        </p:spPr>
        <p:txBody>
          <a:bodyPr wrap="square" lIns="0" tIns="0" rIns="0" bIns="0" anchor="t">
            <a:normAutofit/>
          </a:bodyPr>
          <a:lstStyle/>
          <a:p>
            <a:pPr marL="0" indent="0" algn="l">
              <a:lnSpc>
                <a:spcPts val="2100"/>
              </a:lnSpc>
              <a:buNone/>
            </a:pPr>
            <a:r>
              <a:rPr sz="1500">
                <a:solidFill>
                  <a:srgbClr val="FFFFFF"/>
                </a:solidFill>
                <a:latin typeface="DM Sans"/>
                <a:ea typeface="DM Sans"/>
                <a:cs typeface="DM Sans"/>
              </a:rPr>
              <a:t>github.com/bhuveshsharma09/MachineSense</a:t>
            </a:r>
            <a:endParaRPr sz="1500"/>
          </a:p>
        </p:txBody>
      </p:sp>
      <p:sp>
        <p:nvSpPr>
          <p:cNvPr id="7" name="Text 5">
            <a:extLst>
              <a:ext uri="{FF2B5EF4-FFF2-40B4-BE49-F238E27FC236}">
                <a16:creationId xmlns:a16="http://schemas.microsoft.com/office/drawing/2014/main" id="{4F7BE199-5251-4AF2-7692-94AB6CC2E3F3}"/>
              </a:ext>
            </a:extLst>
          </p:cNvPr>
          <p:cNvSpPr>
            <a:spLocks noGrp="1"/>
          </p:cNvSpPr>
          <p:nvPr/>
        </p:nvSpPr>
        <p:spPr>
          <a:xfrm>
            <a:off x="812767" y="4939678"/>
            <a:ext cx="2295732" cy="292050"/>
          </a:xfrm>
          <a:prstGeom prst="rect">
            <a:avLst/>
          </a:prstGeom>
          <a:noFill/>
        </p:spPr>
        <p:txBody>
          <a:bodyPr wrap="square" lIns="0" tIns="0" rIns="0" bIns="0" anchor="t">
            <a:normAutofit/>
          </a:bodyPr>
          <a:lstStyle/>
          <a:p>
            <a:pPr marL="0" indent="0" algn="l">
              <a:lnSpc>
                <a:spcPts val="2100"/>
              </a:lnSpc>
              <a:buNone/>
            </a:pPr>
            <a:r>
              <a:rPr sz="1500">
                <a:solidFill>
                  <a:srgbClr val="F5F3F0"/>
                </a:solidFill>
                <a:latin typeface="DM Sans"/>
                <a:ea typeface="DM Sans"/>
                <a:cs typeface="DM Sans"/>
              </a:rPr>
              <a:t>Bhuvesh Kumar · NUS-ISS</a:t>
            </a:r>
            <a:endParaRPr sz="1500"/>
          </a:p>
        </p:txBody>
      </p:sp>
      <p:sp>
        <p:nvSpPr>
          <p:cNvPr id="3" name="Text 51">
            <a:extLst>
              <a:ext uri="{FF2B5EF4-FFF2-40B4-BE49-F238E27FC236}">
                <a16:creationId xmlns:a16="http://schemas.microsoft.com/office/drawing/2014/main" id="{EC71E0DB-AF14-BDE7-B4BA-22F0BD87270F}"/>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chemeClr val="bg1"/>
                </a:solidFill>
                <a:latin typeface="DM Sans" pitchFamily="34" charset="0"/>
                <a:ea typeface="DM Sans" pitchFamily="34" charset="-122"/>
                <a:cs typeface="DM Sans" pitchFamily="34" charset="-120"/>
              </a:rPr>
              <a:t>24</a:t>
            </a:r>
            <a:endParaRPr lang="en-US" sz="1200" dirty="0">
              <a:solidFill>
                <a:schemeClr val="bg1"/>
              </a:solidFill>
            </a:endParaRPr>
          </a:p>
        </p:txBody>
      </p:sp>
    </p:spTree>
    <p:extLst>
      <p:ext uri="{BB962C8B-B14F-4D97-AF65-F5344CB8AC3E}">
        <p14:creationId xmlns:p14="http://schemas.microsoft.com/office/powerpoint/2010/main" val="4292881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2950</TotalTime>
  <Words>3985</Words>
  <Application>Microsoft Macintosh PowerPoint</Application>
  <DocSecurity>0</DocSecurity>
  <PresentationFormat>Widescreen</PresentationFormat>
  <Paragraphs>421</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DM Sans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Eight attempts, one confirmed gain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Kumar Bhuvesh</cp:lastModifiedBy>
  <cp:revision>42</cp:revision>
  <dcterms:created xsi:type="dcterms:W3CDTF">2026-10-01T14:12:05Z</dcterms:created>
  <dcterms:modified xsi:type="dcterms:W3CDTF">2026-10-05T04:42:39Z</dcterms:modified>
</cp:coreProperties>
</file>